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3.xml.rels" ContentType="application/vnd.openxmlformats-package.relationships+xml"/>
  <Override PartName="/ppt/notesSlides/_rels/notesSlide1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300" r:id="rId4"/>
    <p:sldId id="301" r:id="rId5"/>
    <p:sldId id="302" r:id="rId6"/>
    <p:sldId id="303" r:id="rId7"/>
    <p:sldId id="304" r:id="rId8"/>
    <p:sldId id="305" r:id="rId9"/>
    <p:sldId id="306" r:id="rId10"/>
    <p:sldId id="307" r:id="rId11"/>
    <p:sldId id="308" r:id="rId12"/>
    <p:sldId id="309" r:id="rIdUpdated22"/>
    <p:sldId id="310" r:id="rIdUpdated23"/>
    <p:sldId id="311" r:id="rIdUpdated24"/>
    <p:sldId id="312" r:id="rIdUpdated25"/>
    <p:sldId id="313" r:id="rId13"/>
    <p:sldId id="314" r:id="rId14"/>
    <p:sldId id="315" r:id="rId15"/>
    <p:sldId id="316" r:id="rId16"/>
    <p:sldId id="317" r:id="rId17"/>
    <p:sldId id="318" r:id="rId18"/>
    <p:sldId id="319" r:id="rId19"/>
    <p:sldId id="320" r:id="rId20"/>
    <p:sldId id="321" r:id="rIdUpdated26"/>
    <p:sldId id="322" r:id="rIdUpdated27"/>
    <p:sldId id="323" r:id="rIdUpdated28"/>
    <p:sldId id="324" r:id="rId21"/>
    <p:sldId id="325" r:id="rId22"/>
    <p:sldId id="326" r:id="rId23"/>
    <p:sldId id="327" r:id="rIdUpdated29"/>
    <p:sldId id="328" r:id="rId24"/>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 Id="rIdUpdated22" Type="http://schemas.openxmlformats.org/officeDocument/2006/relationships/slide" Target="slides/slide22.xml"/><Relationship Id="rIdUpdated23" Type="http://schemas.openxmlformats.org/officeDocument/2006/relationships/slide" Target="slides/slide23.xml"/><Relationship Id="rIdUpdated24" Type="http://schemas.openxmlformats.org/officeDocument/2006/relationships/slide" Target="slides/slide24.xml"/><Relationship Id="rIdUpdated25" Type="http://schemas.openxmlformats.org/officeDocument/2006/relationships/slide" Target="slides/slide25.xml"/><Relationship Id="rIdUpdated26" Type="http://schemas.openxmlformats.org/officeDocument/2006/relationships/slide" Target="slides/slide26.xml"/><Relationship Id="rIdUpdated27" Type="http://schemas.openxmlformats.org/officeDocument/2006/relationships/slide" Target="slides/slide27.xml"/><Relationship Id="rIdUpdated28" Type="http://schemas.openxmlformats.org/officeDocument/2006/relationships/slide" Target="slides/slide28.xml"/><Relationship Id="rIdUpdated29" Type="http://schemas.openxmlformats.org/officeDocument/2006/relationships/slide" Target="slides/slide29.xml"/></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fr-FR" sz="4400" strike="noStrike" u="none">
                <a:solidFill>
                  <a:srgbClr val="000000"/>
                </a:solidFill>
                <a:effectLst/>
                <a:uFillTx/>
                <a:latin typeface="Arial"/>
              </a:rPr>
              <a:t>Cliquez pour déplacer la diapo</a:t>
            </a:r>
            <a:endParaRPr b="0" lang="fr-FR" sz="4400" strike="noStrike" u="none">
              <a:solidFill>
                <a:srgbClr val="000000"/>
              </a:solidFill>
              <a:effectLst/>
              <a:uFillTx/>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fr-FR" sz="2000" strike="noStrike" u="none">
                <a:solidFill>
                  <a:srgbClr val="000000"/>
                </a:solidFill>
                <a:effectLst/>
                <a:uFillTx/>
                <a:latin typeface="Arial"/>
              </a:rPr>
              <a:t>Cli</a:t>
            </a:r>
            <a:r>
              <a:rPr b="0" lang="fr-FR" sz="2000" strike="noStrike" u="none">
                <a:solidFill>
                  <a:srgbClr val="000000"/>
                </a:solidFill>
                <a:effectLst/>
                <a:uFillTx/>
                <a:latin typeface="Arial"/>
              </a:rPr>
              <a:t>qu</a:t>
            </a:r>
            <a:r>
              <a:rPr b="0" lang="fr-FR" sz="2000" strike="noStrike" u="none">
                <a:solidFill>
                  <a:srgbClr val="000000"/>
                </a:solidFill>
                <a:effectLst/>
                <a:uFillTx/>
                <a:latin typeface="Arial"/>
              </a:rPr>
              <a:t>ez </a:t>
            </a:r>
            <a:r>
              <a:rPr b="0" lang="fr-FR" sz="2000" strike="noStrike" u="none">
                <a:solidFill>
                  <a:srgbClr val="000000"/>
                </a:solidFill>
                <a:effectLst/>
                <a:uFillTx/>
                <a:latin typeface="Arial"/>
              </a:rPr>
              <a:t>po</a:t>
            </a:r>
            <a:r>
              <a:rPr b="0" lang="fr-FR" sz="2000" strike="noStrike" u="none">
                <a:solidFill>
                  <a:srgbClr val="000000"/>
                </a:solidFill>
                <a:effectLst/>
                <a:uFillTx/>
                <a:latin typeface="Arial"/>
              </a:rPr>
              <a:t>ur </a:t>
            </a:r>
            <a:r>
              <a:rPr b="0" lang="fr-FR" sz="2000" strike="noStrike" u="none">
                <a:solidFill>
                  <a:srgbClr val="000000"/>
                </a:solidFill>
                <a:effectLst/>
                <a:uFillTx/>
                <a:latin typeface="Arial"/>
              </a:rPr>
              <a:t>m</a:t>
            </a:r>
            <a:r>
              <a:rPr b="0" lang="fr-FR" sz="2000" strike="noStrike" u="none">
                <a:solidFill>
                  <a:srgbClr val="000000"/>
                </a:solidFill>
                <a:effectLst/>
                <a:uFillTx/>
                <a:latin typeface="Arial"/>
              </a:rPr>
              <a:t>od</a:t>
            </a:r>
            <a:r>
              <a:rPr b="0" lang="fr-FR" sz="2000" strike="noStrike" u="none">
                <a:solidFill>
                  <a:srgbClr val="000000"/>
                </a:solidFill>
                <a:effectLst/>
                <a:uFillTx/>
                <a:latin typeface="Arial"/>
              </a:rPr>
              <a:t>ifi</a:t>
            </a:r>
            <a:r>
              <a:rPr b="0" lang="fr-FR" sz="2000" strike="noStrike" u="none">
                <a:solidFill>
                  <a:srgbClr val="000000"/>
                </a:solidFill>
                <a:effectLst/>
                <a:uFillTx/>
                <a:latin typeface="Arial"/>
              </a:rPr>
              <a:t>er </a:t>
            </a:r>
            <a:r>
              <a:rPr b="0" lang="fr-FR" sz="2000" strike="noStrike" u="none">
                <a:solidFill>
                  <a:srgbClr val="000000"/>
                </a:solidFill>
                <a:effectLst/>
                <a:uFillTx/>
                <a:latin typeface="Arial"/>
              </a:rPr>
              <a:t>le </a:t>
            </a:r>
            <a:r>
              <a:rPr b="0" lang="fr-FR" sz="2000" strike="noStrike" u="none">
                <a:solidFill>
                  <a:srgbClr val="000000"/>
                </a:solidFill>
                <a:effectLst/>
                <a:uFillTx/>
                <a:latin typeface="Arial"/>
              </a:rPr>
              <a:t>for</a:t>
            </a:r>
            <a:r>
              <a:rPr b="0" lang="fr-FR" sz="2000" strike="noStrike" u="none">
                <a:solidFill>
                  <a:srgbClr val="000000"/>
                </a:solidFill>
                <a:effectLst/>
                <a:uFillTx/>
                <a:latin typeface="Arial"/>
              </a:rPr>
              <a:t>m</a:t>
            </a:r>
            <a:r>
              <a:rPr b="0" lang="fr-FR" sz="2000" strike="noStrike" u="none">
                <a:solidFill>
                  <a:srgbClr val="000000"/>
                </a:solidFill>
                <a:effectLst/>
                <a:uFillTx/>
                <a:latin typeface="Arial"/>
              </a:rPr>
              <a:t>at </a:t>
            </a:r>
            <a:r>
              <a:rPr b="0" lang="fr-FR" sz="2000" strike="noStrike" u="none">
                <a:solidFill>
                  <a:srgbClr val="000000"/>
                </a:solidFill>
                <a:effectLst/>
                <a:uFillTx/>
                <a:latin typeface="Arial"/>
              </a:rPr>
              <a:t>de</a:t>
            </a:r>
            <a:r>
              <a:rPr b="0" lang="fr-FR" sz="2000" strike="noStrike" u="none">
                <a:solidFill>
                  <a:srgbClr val="000000"/>
                </a:solidFill>
                <a:effectLst/>
                <a:uFillTx/>
                <a:latin typeface="Arial"/>
              </a:rPr>
              <a:t>s </a:t>
            </a:r>
            <a:r>
              <a:rPr b="0" lang="fr-FR" sz="2000" strike="noStrike" u="none">
                <a:solidFill>
                  <a:srgbClr val="000000"/>
                </a:solidFill>
                <a:effectLst/>
                <a:uFillTx/>
                <a:latin typeface="Arial"/>
              </a:rPr>
              <a:t>no</a:t>
            </a:r>
            <a:r>
              <a:rPr b="0" lang="fr-FR" sz="2000" strike="noStrike" u="none">
                <a:solidFill>
                  <a:srgbClr val="000000"/>
                </a:solidFill>
                <a:effectLst/>
                <a:uFillTx/>
                <a:latin typeface="Arial"/>
              </a:rPr>
              <a:t>te</a:t>
            </a:r>
            <a:r>
              <a:rPr b="0" lang="fr-FR" sz="2000" strike="noStrike" u="none">
                <a:solidFill>
                  <a:srgbClr val="000000"/>
                </a:solidFill>
                <a:effectLst/>
                <a:uFillTx/>
                <a:latin typeface="Arial"/>
              </a:rPr>
              <a:t>s</a:t>
            </a:r>
            <a:endParaRPr b="0" lang="fr-FR" sz="2000" strike="noStrike" u="non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trike="noStrike" u="none">
                <a:solidFill>
                  <a:srgbClr val="000000"/>
                </a:solidFill>
                <a:effectLst/>
                <a:uFillTx/>
                <a:latin typeface="Times New Roman"/>
              </a:rPr>
              <a:t>&lt;en-tête&gt;</a:t>
            </a:r>
            <a:endParaRPr b="0" lang="fr-FR" sz="1400" strike="noStrike" u="non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fr-FR" sz="1400" strike="noStrike" u="none">
                <a:solidFill>
                  <a:srgbClr val="000000"/>
                </a:solidFill>
                <a:effectLst/>
                <a:uFillTx/>
                <a:latin typeface="Times New Roman"/>
              </a:defRPr>
            </a:lvl1pPr>
          </a:lstStyle>
          <a:p>
            <a:pPr indent="0" algn="r">
              <a:buNone/>
            </a:pPr>
            <a:r>
              <a:rPr b="0" lang="fr-FR" sz="1400" strike="noStrike" u="none">
                <a:solidFill>
                  <a:srgbClr val="000000"/>
                </a:solidFill>
                <a:effectLst/>
                <a:uFillTx/>
                <a:latin typeface="Times New Roman"/>
              </a:rPr>
              <a:t>&lt;date/heure&gt;</a:t>
            </a:r>
            <a:endParaRPr b="0" lang="fr-FR" sz="1400" strike="noStrike" u="non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fr-FR" sz="1400" strike="noStrike" u="none">
                <a:solidFill>
                  <a:srgbClr val="000000"/>
                </a:solidFill>
                <a:effectLst/>
                <a:uFillTx/>
                <a:latin typeface="Times New Roman"/>
              </a:defRPr>
            </a:lvl1pPr>
          </a:lstStyle>
          <a:p>
            <a:pPr indent="0">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trike="noStrike" u="none">
                <a:solidFill>
                  <a:srgbClr val="000000"/>
                </a:solidFill>
                <a:effectLst/>
                <a:uFillTx/>
                <a:latin typeface="Times New Roman"/>
              </a:defRPr>
            </a:lvl1pPr>
          </a:lstStyle>
          <a:p>
            <a:pPr indent="0" algn="r">
              <a:buNone/>
            </a:pPr>
            <a:fld id="{C4FFCFD4-EC0D-4C29-8990-86B22F5CF73E}" type="slidenum">
              <a:rPr b="0" lang="fr-FR" sz="1400" strike="noStrike" u="none">
                <a:solidFill>
                  <a:srgbClr val="000000"/>
                </a:solidFill>
                <a:effectLst/>
                <a:uFillTx/>
                <a:latin typeface="Times New Roman"/>
              </a:rPr>
              <a:t>&lt;numéro&gt;</a:t>
            </a:fld>
            <a:endParaRPr b="0" lang="fr-FR"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This presentation explains how the iGate fork works and how it connects to Graywolf. It covers the overall changes relative to the CA2RXU base, then the RXT and native-frame changes through commit 2cebfe6. Devices already deployed are not assumed to run that same revision. The question of the RX_rate, RelRate and DrpRate spike is deferred to a separate task.</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The CA2RXU base already provides LoRa, APRS-IS iGate operation, digipeating, TNC interfaces and the WebUI. Those functions should not be attributed to the fork. The fork history includes work on RXT, the JSON reception stream, telemetry activity rates, regional aliases, learned return paths, local replies, authenticated remote control and native radio transport. These additions extend several existing processing paths rather than replace the whole firmware. Consult git log and the relevant modules when attributing a particular fix.</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A tracker creates APRS content. A digipeater retransmits a reception after applying path rules. An iGate connects radio and APRS-IS. Graywolf stores and presents receptions, positions and measurements. One board can combine several roles depending on its configuration. RXT does not require Internet access at every relay: measurements travel over RF to the receiver that exports them.</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In SOURCE&gt;DEST,PATH:INFORMATION, &gt; ends the source and the first colon ends the header. The first information byte usually identifies the APRS data type, for example &gt; for status. The TNC2 header is textual, but the information field may contain binary bytes, especially Mic-E. A displayable line therefore does not always faithfully represent every byte. The JSON stream uses Base64 as its authoritative copy.</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The textual model can retain an opaque suffix after the hyphen, such as -GS, or a number above 15. Preserving a reception does not mean every protocol and function will subsequently accept that identity. Graywolf checks exact representability when it outputs AX.25. In the iGate, encodeAddressAX25 in src/kiss_utils.cpp uses toInt and does not provide that same strict validation. Avoid relying on its KISS output to preserve extended identities. APRS-IS admission and relay rules are also distinct from JSON preservation.</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Direct TNC2 carries text records over a serial port or TCP connection. KISS carries binary AX.25 frames. Selecting TNC2 avoids AX.25 conversion when the radio and application already exchange text. In the iGate, tnc.kissProtocol selects the mode for serial and TCP. The TNC server port is defined as 8001 in src/tnc_utils.cpp. Graywolf refuses identities that cannot be represented exactly in AX.25 during conversion. Do not extend that guarantee to the iGate’s historical KISS encoder.</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In the LoRa_APRS_iGate.cpp main loop, receivePacket reads the radio and produces the packet and a copy for the JSON producer. Local context is captured before another radio operation can change the measurements. Accepted packets then reach the APRS-IS and digi functions when enabled. RXT hops are decoded for JSON, the Web dashboard and TNC outputs. MQTT and the SD log follow their own conditions. Non-empty CRC-valid payloads rejected by syntax or application policy can still be preserved by the JSON path in normal operation, outside ecoMode.</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In this September example, the measurements carried by SOMTNX describe its reception of CAVECR. They do not describe TSRXBX receiving SOMTNX. The latter is the final receiver’s local measurement. Combining the path, relay tuples and local measurement allows the application to describe several directed RF links. A link without measurements must not receive an invented quality value. These example names do not establish the current site inventory.</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RSSI gives a signal level and SNR the signal-to-noise ratio measured by the receiver. FO is the observed frequency offset, which alone cannot assign all error to one oscillator. TTH runs from reception completion to relay transmission completion. In the code it includes queue dwell time, CAD/DIFS/backoff channel waiting and calculated airtime for the transmitted frame. It is therefore not just processor execution time. RXT values are quantized: current SNR is -24 to +20 dB in 0.5 dB steps, RSSI is -130 to -41 dBm, FO is nonlinear and TTH is exponential and scaled by the LoRa profile.</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A used callsign in the path identifies the declared passage through that relay, but does not automatically supply measurements. The decoder reports hops without data as NA. The used portion ends at the last path entry marked *. The code accepts both multiple-star paths and the convention in which only the last used relay carries a star. Entries after that last * are not presented as completed hops.</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These values come from Jon’s example in the original PowerPoint. They are not new measurements made for this update. The ≥ sign before +12 dB reflects the encoding range at the time. The current code extends SNR to +20 dB, and the same character must not be interpreted using the old scale. The 594 ms TTH is that relay’s delay for that packet, not a network average.</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RXT carries measurements attached to one specific reception. Station telemetry aggregates voltages and activity counters. In telemetry_utils.cpp the rates use the counters and actual elapsed time, in packets per hour. RX_rate counts accepted receptions after blacklist filtering, RelRate counts packets accepted into the digi queue, and DrpRate counts application-rule rejections. These sets are not a delivery balance: RX_rate = RelRate + DrpRate is not a code invariant. The rate spike reported by Jon is not analyzed here.</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The September screenshot illustrates channel names and units. By itself it does not establish current firmware behavior. Activity channels are published as RX_rate, RelRate and DrpRate with pkt/h units. The code resets counters when generating a report and caps each rate at 8280. These rates currently accompany encoded voltage telemetry when at least one voltage channel is selected and weather telemetry is inactive. Relay rate counts acceptance into the queue, not confirmed radio transmission or recipient delivery.</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The endpoints are /api/v1/aprs/stream for NDJSON streaming and /api/v1/aprs/events for recent events. rx records contain packet.raw_tnc2_base64 and information.raw_base64. Text projections are included only when valid UTF-8 without control characters. Local measurements, radio parameters and RXT hops are separate from the packet. The cursor combines a boot identifier and sequence. The RAM queue retains ten events. The protocol reports gap when the requested cursor can no longer be satisfied, for example after a restart or loss of retained history. This is bounded replay, not unlimited archival storage.</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According to the local Graywolf guide and implementation, each JSON/RXT source is consumed independently. Graywolf preserves bytes, then derives a TNC2 packet when the envelope can be parsed. It decodes recognized APRS information and also retains receptions it cannot interpret. Remote RXT links come from the declared measurements. The final local link runs from the last used relay, or the source for direct reception, to the receiver. No local TTH is invented. Map drawing requires known positions. Green and orange express observation age, not RF quality.</a:t>
            </a:r>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Graywolf’s TNC2 page configures TCP and serial connections and persists the settings. A receive connection does not authorize transmission. TX requires a transport, an exact source identity, an authorized channel and a byte limit. Queue acceptance does not prove RF transmission or delivery. The iGate must also enable LoRa TX and use TNC2 mode. It calls trim() on incoming text: Graywolf’s guarantee about bytes written to the port does not prove that leading or trailing whitespace survives the firmware.</a:t>
            </a:r>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Two processing paths cooperate. Messages, retries and beacons can leave Graywolf over TNC2 to a radio. Receptions and measurements arrive over JSON/RXT. JSON ingress alone does not authorize transmission. The word native can be ambiguous: direct TNC2 is a textual interface between software and a TNC, whereas the native LoRa frame is a binary radio format. Neither requires the other. The firmware can accept TNC2 and transmit text or native frames depending on lora.txFormat.</a:t>
            </a:r>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The Graywolf guides describe September observations of Mic-E and extended identities. The additional 28 September validation describes delivery to a T-Deck through two physical relays isolated by radio profiles, followed by an ACK received directly by the iGate. Route learning used a synthetic packet, which limits the conclusion. The 13 October trials captured retransmitted RF bytes and validated native RXT identity with colliding fingerprints, including a queued packet. These results establish neither site coverage nor every possible radio profile and path. See the specific reports referenced on the slide.</a:t>
            </a:r>
          </a:p>
        </p:txBody>
      </p:sp>
    </p:spTree>
  </p:cSld>
  <p:clrMapOvr>
    <a:masterClrMapping/>
  </p:clrMapOvr>
</p:notes>
</file>

<file path=ppt/notesSlides/notesSlide1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The profile comes from Jon’s account retained in the September PowerPoint. It supplies context for the example, not the current configuration of each device. Airtime and TTH encoding depend on LoRa settings. Comparing SF7 and SF12 durations without accounting for the profile cannot isolate a code effect. Published corpus compression gains are calculations for those corpora and profiles, not measurements of capacity or coverage on Jon’s network.</a:t>
            </a:r>
          </a:p>
        </p:txBody>
      </p:sp>
    </p:spTree>
  </p:cSld>
  <p:clrMapOvr>
    <a:masterClrMapping/>
  </p:clrMapOvr>
</p:notes>
</file>

<file path=ppt/notesSlides/notesSlide2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Native reception requires the matching codec. Firmware without support may ignore the frames, and some older fork builds handled them imperfectly as text. Text mode with a hidden extension preserves the APRS packet for readers that stop at zero, but their relays lose the hidden measurements. Text v2 fingerprints can remain ambiguous. A residual v1 trailer is not automatically translated into v2. Learned return routing supplies a route for one iGate, but does not coordinate multiple iGates independently transmitting the same downlink. These limits explain why an implemented option and a successful test do not guarantee every deployment.</a:t>
            </a:r>
          </a:p>
        </p:txBody>
      </p:sp>
    </p:spTree>
  </p:cSld>
  <p:clrMapOvr>
    <a:masterClrMapping/>
  </p:clrMapOvr>
</p:notes>
</file>

<file path=ppt/notesSlides/notesSlide2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The repository files cited on the slides are reading references. Test reports describe observations whose setups and limits must be respected. Earlier NOTE_TECHNIQUE_RXT and REPONSE_JON drafts are not used as independent evidence. The associated Graywolf checkout was read to explain its own guarantees separately from the iGate firmware’s guarantees. This document is not accompanied by publication or deployment.</a:t>
            </a:r>
          </a:p>
        </p:txBody>
      </p:sp>
    </p:spTree>
  </p:cSld>
  <p:clrMapOvr>
    <a:masterClrMapping/>
  </p:clrMapOvr>
</p:notes>
</file>

<file path=ppt/notesSlides/notesSlide2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Text v2 adds an I character ahead of the four measurements. It fingerprints the callsign actually written into the path, uppercase, with suffix and without the star: 32-bit FNV-1a, modulo 89, plus 33. It is neither a globally unique identifier nor a central registry. The decoder compares fingerprints with used relays and their order. Order can resolve a collision when enough tuples establish it. If tuples are missing and several owners remain possible, identity_status is unresolved. A path cannot recover a callsign that no relay wrote into it. The firmware retains at most three tuples and adds no RXT to APRS messages, ACKs or REJs, including encapsulated ones.</a:t>
            </a:r>
          </a:p>
        </p:txBody>
      </p:sp>
    </p:spTree>
  </p:cSld>
  <p:clrMapOvr>
    <a:masterClrMapping/>
  </p:clrMapOvr>
</p:notes>
</file>

<file path=ppt/notesSlides/notesSlide2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Bytes 3C FF 01 identify LoRa text transport. A packet with recognized RXT is followed by 00, marker 01 and tuple characters without braces. toExtensionPayload performs the separation. fromExtensionPayload checks the extension against the path before reconstructing the internal trailer representation. C-string readers stop at zero and process only the original packet. This prevents those iGates from forwarding appended RXT in the APRS information field to APRS-IS. Compatibility depends on this reading behavior and is not guaranteed for every third-party firmware. In the internal text representation, recognizing a comment that resembles a trailer still carries a collision risk. Native RXT remains separate.</a:t>
            </a:r>
          </a:p>
        </p:txBody>
      </p:sp>
    </p:spTree>
  </p:cSld>
  <p:clrMapOvr>
    <a:masterClrMapping/>
  </p:clrMapOvr>
</p:notes>
</file>

<file path=ppt/notesSlides/notesSlide2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Native frame draft 0 carries the same TNC2 content compactly. Common addresses use short coding, unusual forms can remain textual, supported positions use binary coding, and remaining text can use Huffman coding when shorter. The encoder decodes its own result to verify exact reconstruction. A layout that cannot be reproduced by specialized coding uses the raw information field. If the complete frame cannot be encoded, transmission falls back to text. Messages and Mic-E can therefore travel in a native envelope with raw information, without specialized semantic compression. Mode 2 sends two copies for coexistence trials. This experimental format does not itself increase transmit power or receiver sensitivity.</a:t>
            </a:r>
          </a:p>
        </p:txBody>
      </p:sp>
    </p:spTree>
  </p:cSld>
  <p:clrMapOvr>
    <a:masterClrMapping/>
  </p:clrMapOvr>
</p:notes>
</file>

<file path=ppt/notesSlides/notesSlide2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Native RXT contains a path-position mask and four measurement bytes per selected position. It does not need the text fingerprint to identify an owner. Since fix 2cebfe6, the TNC2 packet and indexed context remain separate during reception and queueing. remapRxt follows full callsigns when path rewriting removes an alias. A removed path entry loses its measurement. Repeated callsigns can be associated by occurrence only when their occurrence count is unchanged. The v2 tuples derived for logs do not replace native context. A later text output nevertheless returns to fingerprint-based attribution. The 13 October trials use F4MLV-18 and F6DEV-10, both fingerprint C, with only one measurement, then check RF retransmission and queued delay.</a:t>
            </a:r>
          </a:p>
        </p:txBody>
      </p:sp>
    </p:spTree>
  </p:cSld>
  <p:clrMapOvr>
    <a:masterClrMapping/>
  </p:clrMapOvr>
</p:notes>
</file>

<file path=ppt/notesSlides/notesSlide2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Learning uses an actual LoRa reception, before local replies. The used path is reversed after excluding aliases and Internet elements. SOURCE&gt;A,B*,WIDE2-1 teaches return path B,A. The first copy retained in the local window supplies the route. This favors the first arrival, not necessarily the strongest signal. A route expires with rememberStationTime and disappears on restart. Without a valid route, APRS-IS downlink messages are not transmitted and do not fall back to beacon.path. Distinguish this from local RF replies to queries, which may have a beacon.path fallback.</a:t>
            </a:r>
          </a:p>
        </p:txBody>
      </p:sp>
    </p:spTree>
  </p:cSld>
  <p:clrMapOvr>
    <a:masterClrMapping/>
  </p:clrMapOvr>
</p:notes>
</file>

<file path=ppt/notesSlides/notesSlide2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Local packet_dedup uses a default 25-second window, with separate claims for relaying and route learning. Its key includes the APRS destination for Mic-E, where the destination carries position data. It does not replace APRS-IS deduplication or coordinate iGates. Local processing can send another ACK for a repeated copy to recover from a lost ACK, while avoiding another response or execution. The September fixes preserve reply-ack and make the addressed identity send the reply. Regional aliases are configurable and bounded, and the code guards against returning through its own relay. Size limits are checked before transmission: no room for RXT means relaying without a new tuple, while an oversized APRS packet is refused without truncation.</a:t>
            </a:r>
          </a:p>
        </p:txBody>
      </p:sp>
    </p:spTree>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Remote control is distinct from ordinary APRS traffic and APRS-IS connection authentication. remote_auth checks the configured controller identity and an HMAC-SHA256 tag over data binding the controller, target, counter and command. A persisted counter window rejects commands already consumed. The mechanism requires a configured secret. The tag does not encrypt the command and does not authenticate every received packet. The 28 September RF validation documents acceptance of EM=OFF and rejection of its relayed duplicate without a second execution.</a:t>
            </a:r>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en-US"/>
              <a:t>Start in the LoRa_APRS_iGate.cpp main loop to follow call order instead of reading modules in isolation. For reception, follow receivePacket, captureRxtRxContext, the APRS-IS and digi consumers, getDecodedRxtMetrics, then recordRx and TNC outputs. For relaying, follow generateDigipeatedPacket, addToOutputPacketBuffer, processOutputPacketBuffer and sendNewPacket. rxt_protocol.cpp handles text transport and fingerprint attribution. native_aprs.cpp handles the codec and indexed association. Then consult host tests and RF reports to distinguish function guarantees from hardware observations.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WideMaster">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lgn="ctr">
              <a:lnSpc>
                <a:spcPct val="100000"/>
              </a:lnSpc>
              <a:buNone/>
              <a:tabLst>
                <a:tab algn="l" pos="0"/>
              </a:tabLst>
            </a:pPr>
            <a:r>
              <a:rPr b="0" lang="fr-FR" sz="4400" strike="noStrike" u="none">
                <a:solidFill>
                  <a:srgbClr val="000000"/>
                </a:solidFill>
                <a:effectLst/>
                <a:uFillTx/>
                <a:latin typeface="Arial"/>
              </a:rPr>
              <a:t>C</a:t>
            </a:r>
            <a:r>
              <a:rPr b="0" lang="fr-FR" sz="4400" strike="noStrike" u="none">
                <a:solidFill>
                  <a:srgbClr val="000000"/>
                </a:solidFill>
                <a:effectLst/>
                <a:uFillTx/>
                <a:latin typeface="Arial"/>
              </a:rPr>
              <a:t>li</a:t>
            </a:r>
            <a:r>
              <a:rPr b="0" lang="fr-FR" sz="4400" strike="noStrike" u="none">
                <a:solidFill>
                  <a:srgbClr val="000000"/>
                </a:solidFill>
                <a:effectLst/>
                <a:uFillTx/>
                <a:latin typeface="Arial"/>
              </a:rPr>
              <a:t>q</a:t>
            </a:r>
            <a:r>
              <a:rPr b="0" lang="fr-FR" sz="4400" strike="noStrike" u="none">
                <a:solidFill>
                  <a:srgbClr val="000000"/>
                </a:solidFill>
                <a:effectLst/>
                <a:uFillTx/>
                <a:latin typeface="Arial"/>
              </a:rPr>
              <a:t>u</a:t>
            </a:r>
            <a:r>
              <a:rPr b="0" lang="fr-FR" sz="4400" strike="noStrike" u="none">
                <a:solidFill>
                  <a:srgbClr val="000000"/>
                </a:solidFill>
                <a:effectLst/>
                <a:uFillTx/>
                <a:latin typeface="Arial"/>
              </a:rPr>
              <a:t>e</a:t>
            </a:r>
            <a:r>
              <a:rPr b="0" lang="fr-FR" sz="4400" strike="noStrike" u="none">
                <a:solidFill>
                  <a:srgbClr val="000000"/>
                </a:solidFill>
                <a:effectLst/>
                <a:uFillTx/>
                <a:latin typeface="Arial"/>
              </a:rPr>
              <a:t>z </a:t>
            </a:r>
            <a:r>
              <a:rPr b="0" lang="fr-FR" sz="4400" strike="noStrike" u="none">
                <a:solidFill>
                  <a:srgbClr val="000000"/>
                </a:solidFill>
                <a:effectLst/>
                <a:uFillTx/>
                <a:latin typeface="Arial"/>
              </a:rPr>
              <a:t>p</a:t>
            </a:r>
            <a:r>
              <a:rPr b="0" lang="fr-FR" sz="4400" strike="noStrike" u="none">
                <a:solidFill>
                  <a:srgbClr val="000000"/>
                </a:solidFill>
                <a:effectLst/>
                <a:uFillTx/>
                <a:latin typeface="Arial"/>
              </a:rPr>
              <a:t>o</a:t>
            </a:r>
            <a:r>
              <a:rPr b="0" lang="fr-FR" sz="4400" strike="noStrike" u="none">
                <a:solidFill>
                  <a:srgbClr val="000000"/>
                </a:solidFill>
                <a:effectLst/>
                <a:uFillTx/>
                <a:latin typeface="Arial"/>
              </a:rPr>
              <a:t>u</a:t>
            </a:r>
            <a:r>
              <a:rPr b="0" lang="fr-FR" sz="4400" strike="noStrike" u="none">
                <a:solidFill>
                  <a:srgbClr val="000000"/>
                </a:solidFill>
                <a:effectLst/>
                <a:uFillTx/>
                <a:latin typeface="Arial"/>
              </a:rPr>
              <a:t>r </a:t>
            </a:r>
            <a:r>
              <a:rPr b="0" lang="fr-FR" sz="4400" strike="noStrike" u="none">
                <a:solidFill>
                  <a:srgbClr val="000000"/>
                </a:solidFill>
                <a:effectLst/>
                <a:uFillTx/>
                <a:latin typeface="Arial"/>
              </a:rPr>
              <a:t>é</a:t>
            </a:r>
            <a:r>
              <a:rPr b="0" lang="fr-FR" sz="4400" strike="noStrike" u="none">
                <a:solidFill>
                  <a:srgbClr val="000000"/>
                </a:solidFill>
                <a:effectLst/>
                <a:uFillTx/>
                <a:latin typeface="Arial"/>
              </a:rPr>
              <a:t>d</a:t>
            </a:r>
            <a:r>
              <a:rPr b="0" lang="fr-FR" sz="4400" strike="noStrike" u="none">
                <a:solidFill>
                  <a:srgbClr val="000000"/>
                </a:solidFill>
                <a:effectLst/>
                <a:uFillTx/>
                <a:latin typeface="Arial"/>
              </a:rPr>
              <a:t>it</a:t>
            </a:r>
            <a:r>
              <a:rPr b="0" lang="fr-FR" sz="4400" strike="noStrike" u="none">
                <a:solidFill>
                  <a:srgbClr val="000000"/>
                </a:solidFill>
                <a:effectLst/>
                <a:uFillTx/>
                <a:latin typeface="Arial"/>
              </a:rPr>
              <a:t>e</a:t>
            </a:r>
            <a:r>
              <a:rPr b="0" lang="fr-FR" sz="4400" strike="noStrike" u="none">
                <a:solidFill>
                  <a:srgbClr val="000000"/>
                </a:solidFill>
                <a:effectLst/>
                <a:uFillTx/>
                <a:latin typeface="Arial"/>
              </a:rPr>
              <a:t>r </a:t>
            </a:r>
            <a:r>
              <a:rPr b="0" lang="fr-FR" sz="4400" strike="noStrike" u="none">
                <a:solidFill>
                  <a:srgbClr val="000000"/>
                </a:solidFill>
                <a:effectLst/>
                <a:uFillTx/>
                <a:latin typeface="Arial"/>
              </a:rPr>
              <a:t>l</a:t>
            </a:r>
            <a:r>
              <a:rPr b="0" lang="fr-FR" sz="4400" strike="noStrike" u="none">
                <a:solidFill>
                  <a:srgbClr val="000000"/>
                </a:solidFill>
                <a:effectLst/>
                <a:uFillTx/>
                <a:latin typeface="Arial"/>
              </a:rPr>
              <a:t>e </a:t>
            </a:r>
            <a:r>
              <a:rPr b="0" lang="fr-FR" sz="4400" strike="noStrike" u="none">
                <a:solidFill>
                  <a:srgbClr val="000000"/>
                </a:solidFill>
                <a:effectLst/>
                <a:uFillTx/>
                <a:latin typeface="Arial"/>
              </a:rPr>
              <a:t>f</a:t>
            </a:r>
            <a:r>
              <a:rPr b="0" lang="fr-FR" sz="4400" strike="noStrike" u="none">
                <a:solidFill>
                  <a:srgbClr val="000000"/>
                </a:solidFill>
                <a:effectLst/>
                <a:uFillTx/>
                <a:latin typeface="Arial"/>
              </a:rPr>
              <a:t>o</a:t>
            </a:r>
            <a:r>
              <a:rPr b="0" lang="fr-FR" sz="4400" strike="noStrike" u="none">
                <a:solidFill>
                  <a:srgbClr val="000000"/>
                </a:solidFill>
                <a:effectLst/>
                <a:uFillTx/>
                <a:latin typeface="Arial"/>
              </a:rPr>
              <a:t>r</a:t>
            </a:r>
            <a:r>
              <a:rPr b="0" lang="fr-FR" sz="4400" strike="noStrike" u="none">
                <a:solidFill>
                  <a:srgbClr val="000000"/>
                </a:solidFill>
                <a:effectLst/>
                <a:uFillTx/>
                <a:latin typeface="Arial"/>
              </a:rPr>
              <a:t>m</a:t>
            </a:r>
            <a:r>
              <a:rPr b="0" lang="fr-FR" sz="4400" strike="noStrike" u="none">
                <a:solidFill>
                  <a:srgbClr val="000000"/>
                </a:solidFill>
                <a:effectLst/>
                <a:uFillTx/>
                <a:latin typeface="Arial"/>
              </a:rPr>
              <a:t>a</a:t>
            </a:r>
            <a:r>
              <a:rPr b="0" lang="fr-FR" sz="4400" strike="noStrike" u="none">
                <a:solidFill>
                  <a:srgbClr val="000000"/>
                </a:solidFill>
                <a:effectLst/>
                <a:uFillTx/>
                <a:latin typeface="Arial"/>
              </a:rPr>
              <a:t>t </a:t>
            </a:r>
            <a:r>
              <a:rPr b="0" lang="fr-FR" sz="4400" strike="noStrike" u="none">
                <a:solidFill>
                  <a:srgbClr val="000000"/>
                </a:solidFill>
                <a:effectLst/>
                <a:uFillTx/>
                <a:latin typeface="Arial"/>
              </a:rPr>
              <a:t>d</a:t>
            </a:r>
            <a:r>
              <a:rPr b="0" lang="fr-FR" sz="4400" strike="noStrike" u="none">
                <a:solidFill>
                  <a:srgbClr val="000000"/>
                </a:solidFill>
                <a:effectLst/>
                <a:uFillTx/>
                <a:latin typeface="Arial"/>
              </a:rPr>
              <a:t>u </a:t>
            </a:r>
            <a:r>
              <a:rPr b="0" lang="fr-FR" sz="4400" strike="noStrike" u="none">
                <a:solidFill>
                  <a:srgbClr val="000000"/>
                </a:solidFill>
                <a:effectLst/>
                <a:uFillTx/>
                <a:latin typeface="Arial"/>
              </a:rPr>
              <a:t>t</a:t>
            </a:r>
            <a:r>
              <a:rPr b="0" lang="fr-FR" sz="4400" strike="noStrike" u="none">
                <a:solidFill>
                  <a:srgbClr val="000000"/>
                </a:solidFill>
                <a:effectLst/>
                <a:uFillTx/>
                <a:latin typeface="Arial"/>
              </a:rPr>
              <a:t>e</a:t>
            </a:r>
            <a:r>
              <a:rPr b="0" lang="fr-FR" sz="4400" strike="noStrike" u="none">
                <a:solidFill>
                  <a:srgbClr val="000000"/>
                </a:solidFill>
                <a:effectLst/>
                <a:uFillTx/>
                <a:latin typeface="Arial"/>
              </a:rPr>
              <a:t>x</a:t>
            </a:r>
            <a:r>
              <a:rPr b="0" lang="fr-FR" sz="4400" strike="noStrike" u="none">
                <a:solidFill>
                  <a:srgbClr val="000000"/>
                </a:solidFill>
                <a:effectLst/>
                <a:uFillTx/>
                <a:latin typeface="Arial"/>
              </a:rPr>
              <a:t>t</a:t>
            </a:r>
            <a:r>
              <a:rPr b="0" lang="fr-FR" sz="4400" strike="noStrike" u="none">
                <a:solidFill>
                  <a:srgbClr val="000000"/>
                </a:solidFill>
                <a:effectLst/>
                <a:uFillTx/>
                <a:latin typeface="Arial"/>
              </a:rPr>
              <a:t>e</a:t>
            </a:r>
            <a:r>
              <a:rPr b="0" lang="fr-FR" sz="4400" strike="noStrike" u="none">
                <a:solidFill>
                  <a:srgbClr val="000000"/>
                </a:solidFill>
                <a:effectLst/>
                <a:uFillTx/>
                <a:latin typeface="Arial"/>
              </a:rPr>
              <a:t>-</a:t>
            </a:r>
            <a:r>
              <a:rPr b="0" lang="fr-FR" sz="4400" strike="noStrike" u="none">
                <a:solidFill>
                  <a:srgbClr val="000000"/>
                </a:solidFill>
                <a:effectLst/>
                <a:uFillTx/>
                <a:latin typeface="Arial"/>
              </a:rPr>
              <a:t>ti</a:t>
            </a:r>
            <a:r>
              <a:rPr b="0" lang="fr-FR" sz="4400" strike="noStrike" u="none">
                <a:solidFill>
                  <a:srgbClr val="000000"/>
                </a:solidFill>
                <a:effectLst/>
                <a:uFillTx/>
                <a:latin typeface="Arial"/>
              </a:rPr>
              <a:t>t</a:t>
            </a:r>
            <a:r>
              <a:rPr b="0" lang="fr-FR" sz="4400" strike="noStrike" u="none">
                <a:solidFill>
                  <a:srgbClr val="000000"/>
                </a:solidFill>
                <a:effectLst/>
                <a:uFillTx/>
                <a:latin typeface="Arial"/>
              </a:rPr>
              <a:t>r</a:t>
            </a:r>
            <a:r>
              <a:rPr b="0" lang="fr-FR" sz="4400" strike="noStrike" u="none">
                <a:solidFill>
                  <a:srgbClr val="000000"/>
                </a:solidFill>
                <a:effectLst/>
                <a:uFillTx/>
                <a:latin typeface="Arial"/>
              </a:rPr>
              <a:t>e</a:t>
            </a:r>
            <a:endParaRPr b="0" lang="fr-FR" sz="4400" strike="noStrike" u="none">
              <a:solidFill>
                <a:srgbClr val="000000"/>
              </a:solidFill>
              <a:effectLst/>
              <a:uFillTx/>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fr-FR" sz="3200" strike="noStrike" u="none">
                <a:solidFill>
                  <a:srgbClr val="000000"/>
                </a:solidFill>
                <a:effectLst/>
                <a:uFillTx/>
                <a:latin typeface="Arial"/>
              </a:rPr>
              <a:t>Cliquez pour éditer le format du plan de texte</a:t>
            </a:r>
            <a:endParaRPr b="0" lang="fr-FR"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fr-FR" sz="2800" strike="noStrike" u="none">
                <a:solidFill>
                  <a:srgbClr val="000000"/>
                </a:solidFill>
                <a:effectLst/>
                <a:uFillTx/>
                <a:latin typeface="Arial"/>
              </a:rPr>
              <a:t>Second niveau de plan</a:t>
            </a:r>
            <a:endParaRPr b="0" lang="fr-FR"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fr-FR" sz="2400" strike="noStrike" u="none">
                <a:solidFill>
                  <a:srgbClr val="000000"/>
                </a:solidFill>
                <a:effectLst/>
                <a:uFillTx/>
                <a:latin typeface="Arial"/>
              </a:rPr>
              <a:t>Troisième niveau de plan</a:t>
            </a:r>
            <a:endParaRPr b="0" lang="fr-FR"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fr-FR" sz="2000" strike="noStrike" u="none">
                <a:solidFill>
                  <a:srgbClr val="000000"/>
                </a:solidFill>
                <a:effectLst/>
                <a:uFillTx/>
                <a:latin typeface="Arial"/>
              </a:rPr>
              <a:t>Quatrième niveau de plan</a:t>
            </a:r>
            <a:endParaRPr b="0" lang="fr-FR"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Cinquième niveau de plan</a:t>
            </a:r>
            <a:endParaRPr b="0" lang="fr-FR"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Sixième niveau de plan</a:t>
            </a:r>
            <a:endParaRPr b="0" lang="fr-FR"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Septième niveau de plan</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tandar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561600"/>
            <a:ext cx="9070920" cy="274680"/>
          </a:xfrm>
          <a:prstGeom prst="rect">
            <a:avLst/>
          </a:prstGeom>
          <a:noFill/>
          <a:ln w="0">
            <a:noFill/>
          </a:ln>
        </p:spPr>
        <p:txBody>
          <a:bodyPr lIns="0" rIns="0" tIns="0" bIns="0" anchor="ctr">
            <a:spAutoFit/>
          </a:bodyPr>
          <a:p>
            <a:pPr indent="0">
              <a:lnSpc>
                <a:spcPct val="100000"/>
              </a:lnSpc>
              <a:buNone/>
              <a:tabLst>
                <a:tab algn="l" pos="0"/>
              </a:tabLst>
            </a:pPr>
            <a:r>
              <a:rPr b="0" lang="fr-FR" sz="1800" strike="noStrike" u="none">
                <a:solidFill>
                  <a:srgbClr val="000000"/>
                </a:solidFill>
                <a:effectLst/>
                <a:uFillTx/>
                <a:latin typeface="Arial"/>
              </a:rPr>
              <a:t>Cliquez pour éditer le format du texte-titre</a:t>
            </a:r>
            <a:endParaRPr b="0" lang="fr-FR" sz="1800" strike="noStrike" u="none">
              <a:solidFill>
                <a:srgbClr val="000000"/>
              </a:solidFill>
              <a:effectLst/>
              <a:uFillTx/>
              <a:latin typeface="Arial"/>
            </a:endParaRPr>
          </a:p>
        </p:txBody>
      </p:sp>
      <p:sp>
        <p:nvSpPr>
          <p:cNvPr id="3"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fr-FR" sz="3200" strike="noStrike" u="none">
                <a:solidFill>
                  <a:srgbClr val="000000"/>
                </a:solidFill>
                <a:effectLst/>
                <a:uFillTx/>
                <a:latin typeface="Arial"/>
              </a:rPr>
              <a:t>Cliquez pour éditer le format du plan de texte</a:t>
            </a:r>
            <a:endParaRPr b="0" lang="fr-FR"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fr-FR" sz="2800" strike="noStrike" u="none">
                <a:solidFill>
                  <a:srgbClr val="000000"/>
                </a:solidFill>
                <a:effectLst/>
                <a:uFillTx/>
                <a:latin typeface="Arial"/>
              </a:rPr>
              <a:t>Second niveau de plan</a:t>
            </a:r>
            <a:endParaRPr b="0" lang="fr-FR"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fr-FR" sz="2400" strike="noStrike" u="none">
                <a:solidFill>
                  <a:srgbClr val="000000"/>
                </a:solidFill>
                <a:effectLst/>
                <a:uFillTx/>
                <a:latin typeface="Arial"/>
              </a:rPr>
              <a:t>Troisième niveau de plan</a:t>
            </a:r>
            <a:endParaRPr b="0" lang="fr-FR"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fr-FR" sz="2000" strike="noStrike" u="none">
                <a:solidFill>
                  <a:srgbClr val="000000"/>
                </a:solidFill>
                <a:effectLst/>
                <a:uFillTx/>
                <a:latin typeface="Arial"/>
              </a:rPr>
              <a:t>Quatrième niveau de plan</a:t>
            </a:r>
            <a:endParaRPr b="0" lang="fr-FR"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Cinquième niveau de plan</a:t>
            </a:r>
            <a:endParaRPr b="0" lang="fr-FR"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Sixième niveau de plan</a:t>
            </a:r>
            <a:endParaRPr b="0" lang="fr-FR"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Septième niveau de plan</a:t>
            </a:r>
            <a:endParaRPr b="0" lang="fr-FR"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0"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1"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2"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01</a:t>
            </a:r>
            <a:endParaRPr b="0" lang="fr-FR" sz="1200" strike="noStrike" u="none">
              <a:solidFill>
                <a:srgbClr val="ffffff"/>
              </a:solidFill>
              <a:effectLst/>
              <a:uFillTx/>
              <a:latin typeface="Arial"/>
            </a:endParaRPr>
          </a:p>
        </p:txBody>
      </p:sp>
      <p:sp>
        <p:nvSpPr>
          <p:cNvPr id="13"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Understanding the LoRa APRS project</a:t>
            </a:r>
            <a:endParaRPr b="0" lang="fr-FR" sz="3200" strike="noStrike" u="none">
              <a:solidFill>
                <a:srgbClr val="ffffff"/>
              </a:solidFill>
              <a:effectLst/>
              <a:uFillTx/>
              <a:latin typeface="Arial"/>
            </a:endParaRPr>
          </a:p>
        </p:txBody>
      </p:sp>
      <p:sp>
        <p:nvSpPr>
          <p:cNvPr id="14" name=""/>
          <p:cNvSpPr/>
          <p:nvPr/>
        </p:nvSpPr>
        <p:spPr>
          <a:xfrm>
            <a:off x="324000" y="882000"/>
            <a:ext cx="9323280" cy="7909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Extended TNC2, RXT, station telemetry and Graywolf</a:t>
            </a:r>
            <a:endParaRPr b="0" lang="fr-FR" sz="2000" strike="noStrike" u="none">
              <a:solidFill>
                <a:srgbClr val="ffffff"/>
              </a:solidFill>
              <a:effectLst/>
              <a:uFillTx/>
              <a:latin typeface="Arial"/>
            </a:endParaRPr>
          </a:p>
        </p:txBody>
      </p:sp>
      <p:sp>
        <p:nvSpPr>
          <p:cNvPr id="15"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English edition, 15 October 2026. iGate rxt code: 2cebfe6</a:t>
            </a:r>
            <a:endParaRPr b="0" lang="fr-FR" sz="1000" strike="noStrike" u="none">
              <a:solidFill>
                <a:srgbClr val="ffffff"/>
              </a:solidFill>
              <a:effectLst/>
              <a:uFillTx/>
              <a:latin typeface="Arial"/>
            </a:endParaRPr>
          </a:p>
        </p:txBody>
      </p:sp>
      <p:sp>
        <p:nvSpPr>
          <p:cNvPr id="16" name=""/>
          <p:cNvSpPr/>
          <p:nvPr/>
        </p:nvSpPr>
        <p:spPr>
          <a:xfrm>
            <a:off x="324000" y="2448000"/>
            <a:ext cx="9395280" cy="27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7" name=""/>
          <p:cNvSpPr/>
          <p:nvPr/>
        </p:nvSpPr>
        <p:spPr>
          <a:xfrm>
            <a:off x="612000" y="2803320"/>
            <a:ext cx="8711280" cy="1335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400" strike="noStrike" u="none">
                <a:solidFill>
                  <a:srgbClr val="f5f8fc"/>
                </a:solidFill>
                <a:effectLst/>
                <a:uFillTx/>
                <a:latin typeface="DejaVu Sans"/>
                <a:ea typeface="DejaVu Sans"/>
              </a:rPr>
              <a:t>From a radio packet</a:t>
            </a:r>
            <a:endParaRPr b="0" lang="fr-FR" sz="3400" strike="noStrike" u="none">
              <a:solidFill>
                <a:srgbClr val="ffffff"/>
              </a:solidFill>
              <a:effectLst/>
              <a:uFillTx/>
              <a:latin typeface="Arial"/>
            </a:endParaRPr>
          </a:p>
          <a:p>
            <a:pPr>
              <a:lnSpc>
                <a:spcPct val="115000"/>
              </a:lnSpc>
              <a:spcAft>
                <a:spcPts val="709"/>
              </a:spcAft>
            </a:pPr>
            <a:r>
              <a:rPr b="1" lang="en-US" sz="3400" strike="noStrike" u="none">
                <a:solidFill>
                  <a:srgbClr val="f5f8fc"/>
                </a:solidFill>
                <a:effectLst/>
                <a:uFillTx/>
                <a:latin typeface="DejaVu Sans"/>
                <a:ea typeface="DejaVu Sans"/>
              </a:rPr>
              <a:t>to useful information for operators</a:t>
            </a:r>
            <a:endParaRPr b="0" lang="fr-FR" sz="3400" strike="noStrike" u="none">
              <a:solidFill>
                <a:srgbClr val="ffffff"/>
              </a:solidFill>
              <a:effectLst/>
              <a:uFillTx/>
              <a:latin typeface="Arial"/>
            </a:endParaRPr>
          </a:p>
        </p:txBody>
      </p:sp>
      <p:sp>
        <p:nvSpPr>
          <p:cNvPr id="18" name=""/>
          <p:cNvSpPr/>
          <p:nvPr/>
        </p:nvSpPr>
        <p:spPr>
          <a:xfrm>
            <a:off x="540000" y="4320000"/>
            <a:ext cx="8639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How the CA2RXU firmware has evolved</a:t>
            </a:r>
            <a:endParaRPr b="0" lang="fr-FR"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9"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0"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1"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02</a:t>
            </a:r>
            <a:endParaRPr b="0" lang="fr-FR" sz="1200" strike="noStrike" u="none">
              <a:solidFill>
                <a:srgbClr val="ffffff"/>
              </a:solidFill>
              <a:effectLst/>
              <a:uFillTx/>
              <a:latin typeface="Arial"/>
            </a:endParaRPr>
          </a:p>
        </p:txBody>
      </p:sp>
      <p:sp>
        <p:nvSpPr>
          <p:cNvPr id="22"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The CA2RXU base and the fork</a:t>
            </a:r>
            <a:endParaRPr b="0" lang="fr-FR" sz="3200" strike="noStrike" u="none">
              <a:solidFill>
                <a:srgbClr val="ffffff"/>
              </a:solidFill>
              <a:effectLst/>
              <a:uFillTx/>
              <a:latin typeface="Arial"/>
            </a:endParaRPr>
          </a:p>
        </p:txBody>
      </p:sp>
      <p:sp>
        <p:nvSpPr>
          <p:cNvPr id="23"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The fork builds on Ricardo Guzman’s firmware.</a:t>
            </a:r>
            <a:endParaRPr b="0" lang="fr-FR" sz="2000" strike="noStrike" u="none">
              <a:solidFill>
                <a:srgbClr val="ffffff"/>
              </a:solidFill>
              <a:effectLst/>
              <a:uFillTx/>
              <a:latin typeface="Arial"/>
            </a:endParaRPr>
          </a:p>
        </p:txBody>
      </p:sp>
      <p:sp>
        <p:nvSpPr>
          <p:cNvPr id="24"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rxt Git history; src/LoRa_APRS_iGate.cpp; docs/RXT.md</a:t>
            </a:r>
            <a:endParaRPr b="0" lang="fr-FR" sz="1000" strike="noStrike" u="none">
              <a:solidFill>
                <a:srgbClr val="ffffff"/>
              </a:solidFill>
              <a:effectLst/>
              <a:uFillTx/>
              <a:latin typeface="Arial"/>
            </a:endParaRPr>
          </a:p>
        </p:txBody>
      </p:sp>
      <p:sp>
        <p:nvSpPr>
          <p:cNvPr id="25" name=""/>
          <p:cNvSpPr/>
          <p:nvPr/>
        </p:nvSpPr>
        <p:spPr>
          <a:xfrm>
            <a:off x="324000" y="1332000"/>
            <a:ext cx="6047280" cy="320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6" name=""/>
          <p:cNvSpPr/>
          <p:nvPr/>
        </p:nvSpPr>
        <p:spPr>
          <a:xfrm>
            <a:off x="576000" y="1620000"/>
            <a:ext cx="5507280" cy="1414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600" strike="noStrike" u="none">
                <a:solidFill>
                  <a:srgbClr val="f5f8fc"/>
                </a:solidFill>
                <a:effectLst/>
                <a:uFillTx/>
                <a:latin typeface="DejaVu Sans"/>
                <a:ea typeface="DejaVu Sans"/>
              </a:rPr>
              <a:t>The base provides LoRa radio, APRS relaying and Internet gating.</a:t>
            </a:r>
            <a:endParaRPr b="0" lang="fr-FR" sz="2600" strike="noStrike" u="none">
              <a:solidFill>
                <a:srgbClr val="ffffff"/>
              </a:solidFill>
              <a:effectLst/>
              <a:uFillTx/>
              <a:latin typeface="Arial"/>
            </a:endParaRPr>
          </a:p>
        </p:txBody>
      </p:sp>
      <p:sp>
        <p:nvSpPr>
          <p:cNvPr id="27" name=""/>
          <p:cNvSpPr/>
          <p:nvPr/>
        </p:nvSpPr>
        <p:spPr>
          <a:xfrm>
            <a:off x="576000" y="3240000"/>
            <a:ext cx="5507280" cy="82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The fork adds RXT and the JSON stream.</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It extends routing and message replies.</a:t>
            </a:r>
            <a:endParaRPr b="0" lang="fr-FR" sz="1700" strike="noStrike" u="none">
              <a:solidFill>
                <a:srgbClr val="ffffff"/>
              </a:solidFill>
              <a:effectLst/>
              <a:uFillTx/>
              <a:latin typeface="Arial"/>
            </a:endParaRPr>
          </a:p>
        </p:txBody>
      </p:sp>
      <p:sp>
        <p:nvSpPr>
          <p:cNvPr id="28" name=""/>
          <p:cNvSpPr/>
          <p:nvPr/>
        </p:nvSpPr>
        <p:spPr>
          <a:xfrm>
            <a:off x="6552000" y="1332000"/>
            <a:ext cx="3167280" cy="320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9" name=""/>
          <p:cNvSpPr/>
          <p:nvPr/>
        </p:nvSpPr>
        <p:spPr>
          <a:xfrm>
            <a:off x="6804000" y="1584000"/>
            <a:ext cx="259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OPERATOR USE</a:t>
            </a:r>
            <a:endParaRPr b="0" lang="fr-FR" sz="2200" strike="noStrike" u="none">
              <a:solidFill>
                <a:srgbClr val="ffffff"/>
              </a:solidFill>
              <a:effectLst/>
              <a:uFillTx/>
              <a:latin typeface="Arial"/>
            </a:endParaRPr>
          </a:p>
        </p:txBody>
      </p:sp>
      <p:sp>
        <p:nvSpPr>
          <p:cNvPr id="30" name=""/>
          <p:cNvSpPr/>
          <p:nvPr/>
        </p:nvSpPr>
        <p:spPr>
          <a:xfrm>
            <a:off x="6804000" y="2016000"/>
            <a:ext cx="2591280" cy="223164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en-US" sz="2100" strike="noStrike" u="none">
                <a:solidFill>
                  <a:srgbClr val="f5f8fc"/>
                </a:solidFill>
                <a:effectLst/>
                <a:uFillTx/>
                <a:latin typeface="DejaVu Sans"/>
                <a:ea typeface="DejaVu Sans"/>
              </a:rPr>
              <a:t>RF links</a:t>
            </a:r>
            <a:endParaRPr b="0" lang="fr-FR" sz="2100" strike="noStrike" u="none">
              <a:solidFill>
                <a:srgbClr val="ffffff"/>
              </a:solidFill>
              <a:effectLst/>
              <a:uFillTx/>
              <a:latin typeface="Arial"/>
            </a:endParaRPr>
          </a:p>
          <a:p>
            <a:pPr>
              <a:lnSpc>
                <a:spcPct val="115000"/>
              </a:lnSpc>
              <a:spcAft>
                <a:spcPts val="794"/>
              </a:spcAft>
            </a:pPr>
            <a:r>
              <a:rPr b="0" lang="en-US" sz="2100" strike="noStrike" u="none">
                <a:solidFill>
                  <a:srgbClr val="f5f8fc"/>
                </a:solidFill>
                <a:effectLst/>
                <a:uFillTx/>
                <a:latin typeface="DejaVu Sans"/>
                <a:ea typeface="DejaVu Sans"/>
              </a:rPr>
              <a:t>Identities</a:t>
            </a:r>
            <a:endParaRPr b="0" lang="fr-FR" sz="2100" strike="noStrike" u="none">
              <a:solidFill>
                <a:srgbClr val="ffffff"/>
              </a:solidFill>
              <a:effectLst/>
              <a:uFillTx/>
              <a:latin typeface="Arial"/>
            </a:endParaRPr>
          </a:p>
          <a:p>
            <a:pPr>
              <a:lnSpc>
                <a:spcPct val="115000"/>
              </a:lnSpc>
              <a:spcAft>
                <a:spcPts val="794"/>
              </a:spcAft>
            </a:pPr>
            <a:r>
              <a:rPr b="0" lang="en-US" sz="2100" strike="noStrike" u="none">
                <a:solidFill>
                  <a:srgbClr val="f5f8fc"/>
                </a:solidFill>
                <a:effectLst/>
                <a:uFillTx/>
                <a:latin typeface="DejaVu Sans"/>
                <a:ea typeface="DejaVu Sans"/>
              </a:rPr>
              <a:t>Relaying</a:t>
            </a:r>
            <a:endParaRPr b="0" lang="fr-FR" sz="2100" strike="noStrike" u="none">
              <a:solidFill>
                <a:srgbClr val="ffffff"/>
              </a:solidFill>
              <a:effectLst/>
              <a:uFillTx/>
              <a:latin typeface="Arial"/>
            </a:endParaRPr>
          </a:p>
          <a:p>
            <a:pPr>
              <a:lnSpc>
                <a:spcPct val="115000"/>
              </a:lnSpc>
              <a:spcAft>
                <a:spcPts val="794"/>
              </a:spcAft>
            </a:pPr>
            <a:r>
              <a:rPr b="0" lang="en-US" sz="2100" strike="noStrike" u="none">
                <a:solidFill>
                  <a:srgbClr val="f5f8fc"/>
                </a:solidFill>
                <a:effectLst/>
                <a:uFillTx/>
                <a:latin typeface="DejaVu Sans"/>
                <a:ea typeface="DejaVu Sans"/>
              </a:rPr>
              <a:t>Evidence</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3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03</a:t>
            </a:r>
            <a:endParaRPr b="0" lang="fr-FR" sz="1200" strike="noStrike" u="none">
              <a:solidFill>
                <a:srgbClr val="ffffff"/>
              </a:solidFill>
              <a:effectLst/>
              <a:uFillTx/>
              <a:latin typeface="Arial"/>
            </a:endParaRPr>
          </a:p>
        </p:txBody>
      </p:sp>
      <p:sp>
        <p:nvSpPr>
          <p:cNvPr id="3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Roles in the network</a:t>
            </a:r>
            <a:endParaRPr b="0" lang="fr-FR" sz="3200" strike="noStrike" u="none">
              <a:solidFill>
                <a:srgbClr val="ffffff"/>
              </a:solidFill>
              <a:effectLst/>
              <a:uFillTx/>
              <a:latin typeface="Arial"/>
            </a:endParaRPr>
          </a:p>
        </p:txBody>
      </p:sp>
      <p:sp>
        <p:nvSpPr>
          <p:cNvPr id="3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One packet connects several distinct functions.</a:t>
            </a:r>
            <a:endParaRPr b="0" lang="fr-FR" sz="2000" strike="noStrike" u="none">
              <a:solidFill>
                <a:srgbClr val="ffffff"/>
              </a:solidFill>
              <a:effectLst/>
              <a:uFillTx/>
              <a:latin typeface="Arial"/>
            </a:endParaRPr>
          </a:p>
        </p:txBody>
      </p:sp>
      <p:sp>
        <p:nvSpPr>
          <p:cNvPr id="3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src/LoRa_APRS_iGate.cpp; docs/RXT.md; Graywolf docs/wiki/rxt-telemetry.md</a:t>
            </a:r>
            <a:endParaRPr b="0" lang="fr-FR" sz="1000" strike="noStrike" u="none">
              <a:solidFill>
                <a:srgbClr val="ffffff"/>
              </a:solidFill>
              <a:effectLst/>
              <a:uFillTx/>
              <a:latin typeface="Arial"/>
            </a:endParaRPr>
          </a:p>
        </p:txBody>
      </p:sp>
      <p:sp>
        <p:nvSpPr>
          <p:cNvPr id="37" name=""/>
          <p:cNvSpPr/>
          <p:nvPr/>
        </p:nvSpPr>
        <p:spPr>
          <a:xfrm>
            <a:off x="324000" y="1800000"/>
            <a:ext cx="1979280" cy="151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8" name=""/>
          <p:cNvSpPr/>
          <p:nvPr/>
        </p:nvSpPr>
        <p:spPr>
          <a:xfrm>
            <a:off x="450000" y="2088000"/>
            <a:ext cx="17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TRACKER</a:t>
            </a:r>
            <a:endParaRPr b="0" lang="fr-FR" sz="2200" strike="noStrike" u="none">
              <a:solidFill>
                <a:srgbClr val="ffffff"/>
              </a:solidFill>
              <a:effectLst/>
              <a:uFillTx/>
              <a:latin typeface="Arial"/>
            </a:endParaRPr>
          </a:p>
        </p:txBody>
      </p:sp>
      <p:sp>
        <p:nvSpPr>
          <p:cNvPr id="39" name=""/>
          <p:cNvSpPr/>
          <p:nvPr/>
        </p:nvSpPr>
        <p:spPr>
          <a:xfrm>
            <a:off x="450000" y="2556000"/>
            <a:ext cx="1727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originates packet</a:t>
            </a:r>
            <a:endParaRPr b="0" lang="fr-FR" sz="1800" strike="noStrike" u="none">
              <a:solidFill>
                <a:srgbClr val="ffffff"/>
              </a:solidFill>
              <a:effectLst/>
              <a:uFillTx/>
              <a:latin typeface="Arial"/>
            </a:endParaRPr>
          </a:p>
        </p:txBody>
      </p:sp>
      <p:sp>
        <p:nvSpPr>
          <p:cNvPr id="40" name=""/>
          <p:cNvSpPr/>
          <p:nvPr/>
        </p:nvSpPr>
        <p:spPr>
          <a:xfrm>
            <a:off x="2556000" y="1800000"/>
            <a:ext cx="1979280" cy="151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41" name=""/>
          <p:cNvSpPr/>
          <p:nvPr/>
        </p:nvSpPr>
        <p:spPr>
          <a:xfrm>
            <a:off x="2682000" y="2088000"/>
            <a:ext cx="17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DIGI</a:t>
            </a:r>
            <a:endParaRPr b="0" lang="fr-FR" sz="2200" strike="noStrike" u="none">
              <a:solidFill>
                <a:srgbClr val="ffffff"/>
              </a:solidFill>
              <a:effectLst/>
              <a:uFillTx/>
              <a:latin typeface="Arial"/>
            </a:endParaRPr>
          </a:p>
        </p:txBody>
      </p:sp>
      <p:sp>
        <p:nvSpPr>
          <p:cNvPr id="42" name=""/>
          <p:cNvSpPr/>
          <p:nvPr/>
        </p:nvSpPr>
        <p:spPr>
          <a:xfrm>
            <a:off x="2682000" y="2556000"/>
            <a:ext cx="1727280" cy="431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relays with RXT</a:t>
            </a:r>
            <a:endParaRPr b="0" lang="fr-FR" sz="1800" strike="noStrike" u="none">
              <a:solidFill>
                <a:srgbClr val="ffffff"/>
              </a:solidFill>
              <a:effectLst/>
              <a:uFillTx/>
              <a:latin typeface="Arial"/>
            </a:endParaRPr>
          </a:p>
        </p:txBody>
      </p:sp>
      <p:sp>
        <p:nvSpPr>
          <p:cNvPr id="43" name=""/>
          <p:cNvSpPr/>
          <p:nvPr/>
        </p:nvSpPr>
        <p:spPr>
          <a:xfrm>
            <a:off x="4788000" y="1800000"/>
            <a:ext cx="1979280" cy="151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44" name=""/>
          <p:cNvSpPr/>
          <p:nvPr/>
        </p:nvSpPr>
        <p:spPr>
          <a:xfrm>
            <a:off x="4914000" y="2088000"/>
            <a:ext cx="17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iGATE</a:t>
            </a:r>
            <a:endParaRPr b="0" lang="fr-FR" sz="2200" strike="noStrike" u="none">
              <a:solidFill>
                <a:srgbClr val="ffffff"/>
              </a:solidFill>
              <a:effectLst/>
              <a:uFillTx/>
              <a:latin typeface="Arial"/>
            </a:endParaRPr>
          </a:p>
        </p:txBody>
      </p:sp>
      <p:sp>
        <p:nvSpPr>
          <p:cNvPr id="45" name=""/>
          <p:cNvSpPr/>
          <p:nvPr/>
        </p:nvSpPr>
        <p:spPr>
          <a:xfrm>
            <a:off x="4914000" y="2556000"/>
            <a:ext cx="1727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receives and exports</a:t>
            </a:r>
            <a:endParaRPr b="0" lang="fr-FR" sz="1800" strike="noStrike" u="none">
              <a:solidFill>
                <a:srgbClr val="ffffff"/>
              </a:solidFill>
              <a:effectLst/>
              <a:uFillTx/>
              <a:latin typeface="Arial"/>
            </a:endParaRPr>
          </a:p>
        </p:txBody>
      </p:sp>
      <p:sp>
        <p:nvSpPr>
          <p:cNvPr id="46" name=""/>
          <p:cNvSpPr/>
          <p:nvPr/>
        </p:nvSpPr>
        <p:spPr>
          <a:xfrm>
            <a:off x="7020000" y="1800000"/>
            <a:ext cx="2699280" cy="151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47" name=""/>
          <p:cNvSpPr/>
          <p:nvPr/>
        </p:nvSpPr>
        <p:spPr>
          <a:xfrm>
            <a:off x="7146000" y="2088000"/>
            <a:ext cx="244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GRAYWOLF</a:t>
            </a:r>
            <a:endParaRPr b="0" lang="fr-FR" sz="2200" strike="noStrike" u="none">
              <a:solidFill>
                <a:srgbClr val="ffffff"/>
              </a:solidFill>
              <a:effectLst/>
              <a:uFillTx/>
              <a:latin typeface="Arial"/>
            </a:endParaRPr>
          </a:p>
        </p:txBody>
      </p:sp>
      <p:sp>
        <p:nvSpPr>
          <p:cNvPr id="48" name=""/>
          <p:cNvSpPr/>
          <p:nvPr/>
        </p:nvSpPr>
        <p:spPr>
          <a:xfrm>
            <a:off x="7146000" y="2556000"/>
            <a:ext cx="2447280" cy="431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log and map</a:t>
            </a:r>
            <a:endParaRPr b="0" lang="fr-FR" sz="1800" strike="noStrike" u="none">
              <a:solidFill>
                <a:srgbClr val="ffffff"/>
              </a:solidFill>
              <a:effectLst/>
              <a:uFillTx/>
              <a:latin typeface="Arial"/>
            </a:endParaRPr>
          </a:p>
        </p:txBody>
      </p:sp>
      <p:sp>
        <p:nvSpPr>
          <p:cNvPr id="49" name=""/>
          <p:cNvSpPr/>
          <p:nvPr/>
        </p:nvSpPr>
        <p:spPr>
          <a:xfrm>
            <a:off x="2322000" y="2232000"/>
            <a:ext cx="251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50" name=""/>
          <p:cNvSpPr/>
          <p:nvPr/>
        </p:nvSpPr>
        <p:spPr>
          <a:xfrm>
            <a:off x="4554000" y="2232000"/>
            <a:ext cx="251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51" name=""/>
          <p:cNvSpPr/>
          <p:nvPr/>
        </p:nvSpPr>
        <p:spPr>
          <a:xfrm>
            <a:off x="6786000" y="2232000"/>
            <a:ext cx="251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52" name=""/>
          <p:cNvSpPr/>
          <p:nvPr/>
        </p:nvSpPr>
        <p:spPr>
          <a:xfrm>
            <a:off x="1152000" y="3672000"/>
            <a:ext cx="7775280" cy="118764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53" name=""/>
          <p:cNvSpPr/>
          <p:nvPr/>
        </p:nvSpPr>
        <p:spPr>
          <a:xfrm>
            <a:off x="1332000" y="3852000"/>
            <a:ext cx="7451280" cy="80100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en-US" sz="2100" strike="noStrike" u="none">
                <a:solidFill>
                  <a:srgbClr val="f5f8fc"/>
                </a:solidFill>
                <a:effectLst/>
                <a:uFillTx/>
                <a:latin typeface="DejaVu Sans"/>
                <a:ea typeface="DejaVu Sans"/>
              </a:rPr>
              <a:t>One device can combine digi, iGate and TNC interface roles</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54"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55"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56"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04</a:t>
            </a:r>
            <a:endParaRPr b="0" lang="fr-FR" sz="1200" strike="noStrike" u="none">
              <a:solidFill>
                <a:srgbClr val="ffffff"/>
              </a:solidFill>
              <a:effectLst/>
              <a:uFillTx/>
              <a:latin typeface="Arial"/>
            </a:endParaRPr>
          </a:p>
        </p:txBody>
      </p:sp>
      <p:sp>
        <p:nvSpPr>
          <p:cNvPr id="57"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The TNC2 packet</a:t>
            </a:r>
            <a:endParaRPr b="0" lang="fr-FR" sz="3200" strike="noStrike" u="none">
              <a:solidFill>
                <a:srgbClr val="ffffff"/>
              </a:solidFill>
              <a:effectLst/>
              <a:uFillTx/>
              <a:latin typeface="Arial"/>
            </a:endParaRPr>
          </a:p>
        </p:txBody>
      </p:sp>
      <p:sp>
        <p:nvSpPr>
          <p:cNvPr id="58" name=""/>
          <p:cNvSpPr/>
          <p:nvPr/>
        </p:nvSpPr>
        <p:spPr>
          <a:xfrm>
            <a:off x="324000" y="882000"/>
            <a:ext cx="9323280" cy="44100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en-US" sz="2000" strike="noStrike" u="none">
                <a:solidFill>
                  <a:srgbClr val="b8c9d5"/>
                </a:solidFill>
                <a:effectLst/>
                <a:uFillTx/>
                <a:latin typeface="DejaVu Sans"/>
                <a:ea typeface="DejaVu Sans"/>
              </a:rPr>
              <a:t>A text header describes the source, destination and path.</a:t>
            </a:r>
            <a:endParaRPr b="0" lang="fr-FR" sz="2000" strike="noStrike" u="none">
              <a:solidFill>
                <a:srgbClr val="ffffff"/>
              </a:solidFill>
              <a:effectLst/>
              <a:uFillTx/>
              <a:latin typeface="Arial"/>
            </a:endParaRPr>
          </a:p>
        </p:txBody>
      </p:sp>
      <p:sp>
        <p:nvSpPr>
          <p:cNvPr id="59"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src/lora_utils.cpp; src/aprs_json_utils.cpp; Graywolf TNC2 model</a:t>
            </a:r>
            <a:endParaRPr b="0" lang="fr-FR" sz="1000" strike="noStrike" u="none">
              <a:solidFill>
                <a:srgbClr val="ffffff"/>
              </a:solidFill>
              <a:effectLst/>
              <a:uFillTx/>
              <a:latin typeface="Arial"/>
            </a:endParaRPr>
          </a:p>
        </p:txBody>
      </p:sp>
      <p:sp>
        <p:nvSpPr>
          <p:cNvPr id="60" name=""/>
          <p:cNvSpPr/>
          <p:nvPr/>
        </p:nvSpPr>
        <p:spPr>
          <a:xfrm>
            <a:off x="324000" y="1404000"/>
            <a:ext cx="9395280" cy="1115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61" name=""/>
          <p:cNvSpPr/>
          <p:nvPr/>
        </p:nvSpPr>
        <p:spPr>
          <a:xfrm>
            <a:off x="576000" y="1710000"/>
            <a:ext cx="8855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en-US" sz="2000" strike="noStrike" u="none">
                <a:solidFill>
                  <a:srgbClr val="ffd18a"/>
                </a:solidFill>
                <a:effectLst/>
                <a:uFillTx/>
                <a:latin typeface="DejaVu Sans"/>
                <a:ea typeface="DejaVu Sans"/>
              </a:rPr>
              <a:t>F4MLV-7&gt;APRS,WIDE1-1:&gt;Hello LoRa</a:t>
            </a:r>
            <a:endParaRPr b="0" lang="fr-FR" sz="2000" strike="noStrike" u="none">
              <a:solidFill>
                <a:srgbClr val="ffffff"/>
              </a:solidFill>
              <a:effectLst/>
              <a:uFillTx/>
              <a:latin typeface="Arial"/>
            </a:endParaRPr>
          </a:p>
        </p:txBody>
      </p:sp>
      <p:sp>
        <p:nvSpPr>
          <p:cNvPr id="62" name=""/>
          <p:cNvSpPr/>
          <p:nvPr/>
        </p:nvSpPr>
        <p:spPr>
          <a:xfrm>
            <a:off x="360000" y="2880000"/>
            <a:ext cx="2087280" cy="129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63" name=""/>
          <p:cNvSpPr/>
          <p:nvPr/>
        </p:nvSpPr>
        <p:spPr>
          <a:xfrm>
            <a:off x="468000" y="3042000"/>
            <a:ext cx="187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F4MLV-7</a:t>
            </a:r>
            <a:endParaRPr b="0" lang="fr-FR" sz="2200" strike="noStrike" u="none">
              <a:solidFill>
                <a:srgbClr val="ffffff"/>
              </a:solidFill>
              <a:effectLst/>
              <a:uFillTx/>
              <a:latin typeface="Arial"/>
            </a:endParaRPr>
          </a:p>
        </p:txBody>
      </p:sp>
      <p:sp>
        <p:nvSpPr>
          <p:cNvPr id="64" name=""/>
          <p:cNvSpPr/>
          <p:nvPr/>
        </p:nvSpPr>
        <p:spPr>
          <a:xfrm>
            <a:off x="468000" y="3402000"/>
            <a:ext cx="1871280" cy="395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source</a:t>
            </a:r>
            <a:endParaRPr b="0" lang="fr-FR" sz="1800" strike="noStrike" u="none">
              <a:solidFill>
                <a:srgbClr val="ffffff"/>
              </a:solidFill>
              <a:effectLst/>
              <a:uFillTx/>
              <a:latin typeface="Arial"/>
            </a:endParaRPr>
          </a:p>
        </p:txBody>
      </p:sp>
      <p:sp>
        <p:nvSpPr>
          <p:cNvPr id="65" name=""/>
          <p:cNvSpPr/>
          <p:nvPr/>
        </p:nvSpPr>
        <p:spPr>
          <a:xfrm>
            <a:off x="2592000" y="2880000"/>
            <a:ext cx="1871280" cy="129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66" name=""/>
          <p:cNvSpPr/>
          <p:nvPr/>
        </p:nvSpPr>
        <p:spPr>
          <a:xfrm>
            <a:off x="2700000" y="3042000"/>
            <a:ext cx="165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APRS</a:t>
            </a:r>
            <a:endParaRPr b="0" lang="fr-FR" sz="2200" strike="noStrike" u="none">
              <a:solidFill>
                <a:srgbClr val="ffffff"/>
              </a:solidFill>
              <a:effectLst/>
              <a:uFillTx/>
              <a:latin typeface="Arial"/>
            </a:endParaRPr>
          </a:p>
        </p:txBody>
      </p:sp>
      <p:sp>
        <p:nvSpPr>
          <p:cNvPr id="67" name=""/>
          <p:cNvSpPr/>
          <p:nvPr/>
        </p:nvSpPr>
        <p:spPr>
          <a:xfrm>
            <a:off x="2700000" y="3402000"/>
            <a:ext cx="1655280" cy="395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destination</a:t>
            </a:r>
            <a:endParaRPr b="0" lang="fr-FR" sz="1800" strike="noStrike" u="none">
              <a:solidFill>
                <a:srgbClr val="ffffff"/>
              </a:solidFill>
              <a:effectLst/>
              <a:uFillTx/>
              <a:latin typeface="Arial"/>
            </a:endParaRPr>
          </a:p>
        </p:txBody>
      </p:sp>
      <p:sp>
        <p:nvSpPr>
          <p:cNvPr id="68" name=""/>
          <p:cNvSpPr/>
          <p:nvPr/>
        </p:nvSpPr>
        <p:spPr>
          <a:xfrm>
            <a:off x="4608000" y="2880000"/>
            <a:ext cx="2087280" cy="129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69" name=""/>
          <p:cNvSpPr/>
          <p:nvPr/>
        </p:nvSpPr>
        <p:spPr>
          <a:xfrm>
            <a:off x="4716000" y="3042000"/>
            <a:ext cx="187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WIDE1-1</a:t>
            </a:r>
            <a:endParaRPr b="0" lang="fr-FR" sz="2200" strike="noStrike" u="none">
              <a:solidFill>
                <a:srgbClr val="ffffff"/>
              </a:solidFill>
              <a:effectLst/>
              <a:uFillTx/>
              <a:latin typeface="Arial"/>
            </a:endParaRPr>
          </a:p>
        </p:txBody>
      </p:sp>
      <p:sp>
        <p:nvSpPr>
          <p:cNvPr id="70" name=""/>
          <p:cNvSpPr/>
          <p:nvPr/>
        </p:nvSpPr>
        <p:spPr>
          <a:xfrm>
            <a:off x="4716000" y="3402000"/>
            <a:ext cx="1871280" cy="395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path</a:t>
            </a:r>
            <a:endParaRPr b="0" lang="fr-FR" sz="1800" strike="noStrike" u="none">
              <a:solidFill>
                <a:srgbClr val="ffffff"/>
              </a:solidFill>
              <a:effectLst/>
              <a:uFillTx/>
              <a:latin typeface="Arial"/>
            </a:endParaRPr>
          </a:p>
        </p:txBody>
      </p:sp>
      <p:sp>
        <p:nvSpPr>
          <p:cNvPr id="71" name=""/>
          <p:cNvSpPr/>
          <p:nvPr/>
        </p:nvSpPr>
        <p:spPr>
          <a:xfrm>
            <a:off x="6840000" y="2880000"/>
            <a:ext cx="2555280" cy="129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72" name=""/>
          <p:cNvSpPr/>
          <p:nvPr/>
        </p:nvSpPr>
        <p:spPr>
          <a:xfrm>
            <a:off x="6948000" y="3042000"/>
            <a:ext cx="233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&gt;Hello…</a:t>
            </a:r>
            <a:endParaRPr b="0" lang="fr-FR" sz="2200" strike="noStrike" u="none">
              <a:solidFill>
                <a:srgbClr val="ffffff"/>
              </a:solidFill>
              <a:effectLst/>
              <a:uFillTx/>
              <a:latin typeface="Arial"/>
            </a:endParaRPr>
          </a:p>
        </p:txBody>
      </p:sp>
      <p:sp>
        <p:nvSpPr>
          <p:cNvPr id="73" name=""/>
          <p:cNvSpPr/>
          <p:nvPr/>
        </p:nvSpPr>
        <p:spPr>
          <a:xfrm>
            <a:off x="6948000" y="3402000"/>
            <a:ext cx="2339280" cy="395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information</a:t>
            </a:r>
            <a:endParaRPr b="0" lang="fr-FR"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74"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75"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76"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05</a:t>
            </a:r>
            <a:endParaRPr b="0" lang="fr-FR" sz="1200" strike="noStrike" u="none">
              <a:solidFill>
                <a:srgbClr val="ffffff"/>
              </a:solidFill>
              <a:effectLst/>
              <a:uFillTx/>
              <a:latin typeface="Arial"/>
            </a:endParaRPr>
          </a:p>
        </p:txBody>
      </p:sp>
      <p:sp>
        <p:nvSpPr>
          <p:cNvPr id="77"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Extended identities</a:t>
            </a:r>
            <a:endParaRPr b="0" lang="fr-FR" sz="3200" strike="noStrike" u="none">
              <a:solidFill>
                <a:srgbClr val="ffffff"/>
              </a:solidFill>
              <a:effectLst/>
              <a:uFillTx/>
              <a:latin typeface="Arial"/>
            </a:endParaRPr>
          </a:p>
        </p:txBody>
      </p:sp>
      <p:sp>
        <p:nvSpPr>
          <p:cNvPr id="78" name=""/>
          <p:cNvSpPr/>
          <p:nvPr/>
        </p:nvSpPr>
        <p:spPr>
          <a:xfrm>
            <a:off x="324000" y="882000"/>
            <a:ext cx="9323280" cy="44100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en-US" sz="2000" strike="noStrike" u="none">
                <a:solidFill>
                  <a:srgbClr val="b8c9d5"/>
                </a:solidFill>
                <a:effectLst/>
                <a:uFillTx/>
                <a:latin typeface="DejaVu Sans"/>
                <a:ea typeface="DejaVu Sans"/>
              </a:rPr>
              <a:t>TNC2 and JSON retain the exact received address text.</a:t>
            </a:r>
            <a:endParaRPr b="0" lang="fr-FR" sz="2000" strike="noStrike" u="none">
              <a:solidFill>
                <a:srgbClr val="ffffff"/>
              </a:solidFill>
              <a:effectLst/>
              <a:uFillTx/>
              <a:latin typeface="Arial"/>
            </a:endParaRPr>
          </a:p>
        </p:txBody>
      </p:sp>
      <p:sp>
        <p:nvSpPr>
          <p:cNvPr id="79"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src/aprs_json_utils.cpp; Graywolf docs/wiki/lora-tnc2-transceiver.md</a:t>
            </a:r>
            <a:endParaRPr b="0" lang="fr-FR" sz="1000" strike="noStrike" u="none">
              <a:solidFill>
                <a:srgbClr val="ffffff"/>
              </a:solidFill>
              <a:effectLst/>
              <a:uFillTx/>
              <a:latin typeface="Arial"/>
            </a:endParaRPr>
          </a:p>
        </p:txBody>
      </p:sp>
      <p:sp>
        <p:nvSpPr>
          <p:cNvPr id="80" name=""/>
          <p:cNvSpPr/>
          <p:nvPr/>
        </p:nvSpPr>
        <p:spPr>
          <a:xfrm>
            <a:off x="360000" y="1440000"/>
            <a:ext cx="2987280" cy="18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81" name=""/>
          <p:cNvSpPr/>
          <p:nvPr/>
        </p:nvSpPr>
        <p:spPr>
          <a:xfrm>
            <a:off x="522000" y="1800000"/>
            <a:ext cx="2699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F4JJE-16</a:t>
            </a:r>
            <a:endParaRPr b="0" lang="fr-FR" sz="2000" strike="noStrike" u="none">
              <a:solidFill>
                <a:srgbClr val="ffffff"/>
              </a:solidFill>
              <a:effectLst/>
              <a:uFillTx/>
              <a:latin typeface="Arial"/>
            </a:endParaRPr>
          </a:p>
        </p:txBody>
      </p:sp>
      <p:sp>
        <p:nvSpPr>
          <p:cNvPr id="82" name=""/>
          <p:cNvSpPr/>
          <p:nvPr/>
        </p:nvSpPr>
        <p:spPr>
          <a:xfrm>
            <a:off x="522000" y="2412000"/>
            <a:ext cx="2663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numeric suffix above 15</a:t>
            </a:r>
            <a:endParaRPr b="0" lang="fr-FR" sz="1800" strike="noStrike" u="none">
              <a:solidFill>
                <a:srgbClr val="ffffff"/>
              </a:solidFill>
              <a:effectLst/>
              <a:uFillTx/>
              <a:latin typeface="Arial"/>
            </a:endParaRPr>
          </a:p>
        </p:txBody>
      </p:sp>
      <p:sp>
        <p:nvSpPr>
          <p:cNvPr id="83" name=""/>
          <p:cNvSpPr/>
          <p:nvPr/>
        </p:nvSpPr>
        <p:spPr>
          <a:xfrm>
            <a:off x="3528000" y="1440000"/>
            <a:ext cx="2987280" cy="18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84" name=""/>
          <p:cNvSpPr/>
          <p:nvPr/>
        </p:nvSpPr>
        <p:spPr>
          <a:xfrm>
            <a:off x="3690000" y="1800000"/>
            <a:ext cx="2699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NN7LE-GS</a:t>
            </a:r>
            <a:endParaRPr b="0" lang="fr-FR" sz="2000" strike="noStrike" u="none">
              <a:solidFill>
                <a:srgbClr val="ffffff"/>
              </a:solidFill>
              <a:effectLst/>
              <a:uFillTx/>
              <a:latin typeface="Arial"/>
            </a:endParaRPr>
          </a:p>
        </p:txBody>
      </p:sp>
      <p:sp>
        <p:nvSpPr>
          <p:cNvPr id="85" name=""/>
          <p:cNvSpPr/>
          <p:nvPr/>
        </p:nvSpPr>
        <p:spPr>
          <a:xfrm>
            <a:off x="3690000" y="2412000"/>
            <a:ext cx="2663280" cy="53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alphabetic suffix</a:t>
            </a:r>
            <a:endParaRPr b="0" lang="fr-FR" sz="1800" strike="noStrike" u="none">
              <a:solidFill>
                <a:srgbClr val="ffffff"/>
              </a:solidFill>
              <a:effectLst/>
              <a:uFillTx/>
              <a:latin typeface="Arial"/>
            </a:endParaRPr>
          </a:p>
        </p:txBody>
      </p:sp>
      <p:sp>
        <p:nvSpPr>
          <p:cNvPr id="86" name=""/>
          <p:cNvSpPr/>
          <p:nvPr/>
        </p:nvSpPr>
        <p:spPr>
          <a:xfrm>
            <a:off x="6696000" y="1440000"/>
            <a:ext cx="2987280" cy="18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87" name=""/>
          <p:cNvSpPr/>
          <p:nvPr/>
        </p:nvSpPr>
        <p:spPr>
          <a:xfrm>
            <a:off x="6858000" y="1800000"/>
            <a:ext cx="2699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NN7LE-S*</a:t>
            </a:r>
            <a:endParaRPr b="0" lang="fr-FR" sz="2000" strike="noStrike" u="none">
              <a:solidFill>
                <a:srgbClr val="ffffff"/>
              </a:solidFill>
              <a:effectLst/>
              <a:uFillTx/>
              <a:latin typeface="Arial"/>
            </a:endParaRPr>
          </a:p>
        </p:txBody>
      </p:sp>
      <p:sp>
        <p:nvSpPr>
          <p:cNvPr id="88" name=""/>
          <p:cNvSpPr/>
          <p:nvPr/>
        </p:nvSpPr>
        <p:spPr>
          <a:xfrm>
            <a:off x="6858000" y="2412000"/>
            <a:ext cx="2663280" cy="53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relay mark preserved</a:t>
            </a:r>
            <a:endParaRPr b="0" lang="fr-FR" sz="1800" strike="noStrike" u="none">
              <a:solidFill>
                <a:srgbClr val="ffffff"/>
              </a:solidFill>
              <a:effectLst/>
              <a:uFillTx/>
              <a:latin typeface="Arial"/>
            </a:endParaRPr>
          </a:p>
        </p:txBody>
      </p:sp>
      <p:sp>
        <p:nvSpPr>
          <p:cNvPr id="89" name=""/>
          <p:cNvSpPr/>
          <p:nvPr/>
        </p:nvSpPr>
        <p:spPr>
          <a:xfrm>
            <a:off x="864000" y="3708000"/>
            <a:ext cx="8315280" cy="115164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0" name=""/>
          <p:cNvSpPr/>
          <p:nvPr/>
        </p:nvSpPr>
        <p:spPr>
          <a:xfrm>
            <a:off x="1008000" y="3870000"/>
            <a:ext cx="8063280" cy="80100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en-US" sz="2100" strike="noStrike" u="none">
                <a:solidFill>
                  <a:srgbClr val="f5f8fc"/>
                </a:solidFill>
                <a:effectLst/>
                <a:uFillTx/>
                <a:latin typeface="DejaVu Sans"/>
                <a:ea typeface="DejaVu Sans"/>
              </a:rPr>
              <a:t>The iGate’s KISS encoder may alter these suffixes. TNC2 retains them.</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9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9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9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06</a:t>
            </a:r>
            <a:endParaRPr b="0" lang="fr-FR" sz="1200" strike="noStrike" u="none">
              <a:solidFill>
                <a:srgbClr val="ffffff"/>
              </a:solidFill>
              <a:effectLst/>
              <a:uFillTx/>
              <a:latin typeface="Arial"/>
            </a:endParaRPr>
          </a:p>
        </p:txBody>
      </p:sp>
      <p:sp>
        <p:nvSpPr>
          <p:cNvPr id="9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TNC2 and the AX.25 boundary</a:t>
            </a:r>
            <a:endParaRPr b="0" lang="fr-FR" sz="3200" strike="noStrike" u="none">
              <a:solidFill>
                <a:srgbClr val="ffffff"/>
              </a:solidFill>
              <a:effectLst/>
              <a:uFillTx/>
              <a:latin typeface="Arial"/>
            </a:endParaRPr>
          </a:p>
        </p:txBody>
      </p:sp>
      <p:sp>
        <p:nvSpPr>
          <p:cNvPr id="9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The direct text path retains extended identities.</a:t>
            </a:r>
            <a:endParaRPr b="0" lang="fr-FR" sz="2000" strike="noStrike" u="none">
              <a:solidFill>
                <a:srgbClr val="ffffff"/>
              </a:solidFill>
              <a:effectLst/>
              <a:uFillTx/>
              <a:latin typeface="Arial"/>
            </a:endParaRPr>
          </a:p>
        </p:txBody>
      </p:sp>
      <p:sp>
        <p:nvSpPr>
          <p:cNvPr id="9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src/tnc_utils.cpp; src/kiss_utils.cpp; Graywolf TNC2 guide</a:t>
            </a:r>
            <a:endParaRPr b="0" lang="fr-FR" sz="1000" strike="noStrike" u="none">
              <a:solidFill>
                <a:srgbClr val="ffffff"/>
              </a:solidFill>
              <a:effectLst/>
              <a:uFillTx/>
              <a:latin typeface="Arial"/>
            </a:endParaRPr>
          </a:p>
        </p:txBody>
      </p:sp>
      <p:sp>
        <p:nvSpPr>
          <p:cNvPr id="97" name=""/>
          <p:cNvSpPr/>
          <p:nvPr/>
        </p:nvSpPr>
        <p:spPr>
          <a:xfrm>
            <a:off x="360360" y="1311840"/>
            <a:ext cx="9359280" cy="10278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8" name=""/>
          <p:cNvSpPr/>
          <p:nvPr/>
        </p:nvSpPr>
        <p:spPr>
          <a:xfrm>
            <a:off x="558000" y="145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01</a:t>
            </a:r>
            <a:endParaRPr b="0" lang="fr-FR" sz="2800" strike="noStrike" u="none">
              <a:solidFill>
                <a:srgbClr val="ffffff"/>
              </a:solidFill>
              <a:effectLst/>
              <a:uFillTx/>
              <a:latin typeface="Arial"/>
            </a:endParaRPr>
          </a:p>
        </p:txBody>
      </p:sp>
      <p:sp>
        <p:nvSpPr>
          <p:cNvPr id="99" name=""/>
          <p:cNvSpPr/>
          <p:nvPr/>
        </p:nvSpPr>
        <p:spPr>
          <a:xfrm>
            <a:off x="1440000" y="145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Direct TNC2</a:t>
            </a:r>
            <a:endParaRPr b="0" lang="fr-FR" sz="2200" strike="noStrike" u="none">
              <a:solidFill>
                <a:srgbClr val="ffffff"/>
              </a:solidFill>
              <a:effectLst/>
              <a:uFillTx/>
              <a:latin typeface="Arial"/>
            </a:endParaRPr>
          </a:p>
        </p:txBody>
      </p:sp>
      <p:sp>
        <p:nvSpPr>
          <p:cNvPr id="100" name=""/>
          <p:cNvSpPr/>
          <p:nvPr/>
        </p:nvSpPr>
        <p:spPr>
          <a:xfrm>
            <a:off x="3780000" y="149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Text packets over TCP or serial, without AX.25 conversion.</a:t>
            </a:r>
            <a:endParaRPr b="0" lang="fr-FR" sz="1700" strike="noStrike" u="none">
              <a:solidFill>
                <a:srgbClr val="ffffff"/>
              </a:solidFill>
              <a:effectLst/>
              <a:uFillTx/>
              <a:latin typeface="Arial"/>
            </a:endParaRPr>
          </a:p>
        </p:txBody>
      </p:sp>
      <p:sp>
        <p:nvSpPr>
          <p:cNvPr id="101" name=""/>
          <p:cNvSpPr/>
          <p:nvPr/>
        </p:nvSpPr>
        <p:spPr>
          <a:xfrm>
            <a:off x="360000" y="241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2" name=""/>
          <p:cNvSpPr/>
          <p:nvPr/>
        </p:nvSpPr>
        <p:spPr>
          <a:xfrm>
            <a:off x="558000" y="253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02</a:t>
            </a:r>
            <a:endParaRPr b="0" lang="fr-FR" sz="2800" strike="noStrike" u="none">
              <a:solidFill>
                <a:srgbClr val="ffffff"/>
              </a:solidFill>
              <a:effectLst/>
              <a:uFillTx/>
              <a:latin typeface="Arial"/>
            </a:endParaRPr>
          </a:p>
        </p:txBody>
      </p:sp>
      <p:sp>
        <p:nvSpPr>
          <p:cNvPr id="103" name=""/>
          <p:cNvSpPr/>
          <p:nvPr/>
        </p:nvSpPr>
        <p:spPr>
          <a:xfrm>
            <a:off x="1440000" y="253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KISS / AX.25</a:t>
            </a:r>
            <a:endParaRPr b="0" lang="fr-FR" sz="2200" strike="noStrike" u="none">
              <a:solidFill>
                <a:srgbClr val="ffffff"/>
              </a:solidFill>
              <a:effectLst/>
              <a:uFillTx/>
              <a:latin typeface="Arial"/>
            </a:endParaRPr>
          </a:p>
        </p:txBody>
      </p:sp>
      <p:sp>
        <p:nvSpPr>
          <p:cNvPr id="104" name=""/>
          <p:cNvSpPr/>
          <p:nvPr/>
        </p:nvSpPr>
        <p:spPr>
          <a:xfrm>
            <a:off x="3780000" y="257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Compatibility with AX.25 software and equipment.</a:t>
            </a:r>
            <a:endParaRPr b="0" lang="fr-FR" sz="1700" strike="noStrike" u="none">
              <a:solidFill>
                <a:srgbClr val="ffffff"/>
              </a:solidFill>
              <a:effectLst/>
              <a:uFillTx/>
              <a:latin typeface="Arial"/>
            </a:endParaRPr>
          </a:p>
        </p:txBody>
      </p:sp>
      <p:sp>
        <p:nvSpPr>
          <p:cNvPr id="105" name=""/>
          <p:cNvSpPr/>
          <p:nvPr/>
        </p:nvSpPr>
        <p:spPr>
          <a:xfrm>
            <a:off x="360000" y="349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6" name=""/>
          <p:cNvSpPr/>
          <p:nvPr/>
        </p:nvSpPr>
        <p:spPr>
          <a:xfrm>
            <a:off x="558000" y="361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03</a:t>
            </a:r>
            <a:endParaRPr b="0" lang="fr-FR" sz="2800" strike="noStrike" u="none">
              <a:solidFill>
                <a:srgbClr val="ffffff"/>
              </a:solidFill>
              <a:effectLst/>
              <a:uFillTx/>
              <a:latin typeface="Arial"/>
            </a:endParaRPr>
          </a:p>
        </p:txBody>
      </p:sp>
      <p:sp>
        <p:nvSpPr>
          <p:cNvPr id="107" name=""/>
          <p:cNvSpPr/>
          <p:nvPr/>
        </p:nvSpPr>
        <p:spPr>
          <a:xfrm>
            <a:off x="1440000" y="361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Specific limit</a:t>
            </a:r>
            <a:endParaRPr b="0" lang="fr-FR" sz="2200" strike="noStrike" u="none">
              <a:solidFill>
                <a:srgbClr val="ffffff"/>
              </a:solidFill>
              <a:effectLst/>
              <a:uFillTx/>
              <a:latin typeface="Arial"/>
            </a:endParaRPr>
          </a:p>
        </p:txBody>
      </p:sp>
      <p:sp>
        <p:nvSpPr>
          <p:cNvPr id="108" name=""/>
          <p:cNvSpPr/>
          <p:nvPr/>
        </p:nvSpPr>
        <p:spPr>
          <a:xfrm>
            <a:off x="3780000" y="3654000"/>
            <a:ext cx="568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Graywolf refuses unrepresentable identities on its AX.25 output.</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09"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10"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11"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07</a:t>
            </a:r>
            <a:endParaRPr b="0" lang="fr-FR" sz="1200" strike="noStrike" u="none">
              <a:solidFill>
                <a:srgbClr val="ffffff"/>
              </a:solidFill>
              <a:effectLst/>
              <a:uFillTx/>
              <a:latin typeface="Arial"/>
            </a:endParaRPr>
          </a:p>
        </p:txBody>
      </p:sp>
      <p:sp>
        <p:nvSpPr>
          <p:cNvPr id="112"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The packet path in the iGate code</a:t>
            </a:r>
            <a:endParaRPr b="0" lang="fr-FR" sz="3200" strike="noStrike" u="none">
              <a:solidFill>
                <a:srgbClr val="ffffff"/>
              </a:solidFill>
              <a:effectLst/>
              <a:uFillTx/>
              <a:latin typeface="Arial"/>
            </a:endParaRPr>
          </a:p>
        </p:txBody>
      </p:sp>
      <p:sp>
        <p:nvSpPr>
          <p:cNvPr id="113" name=""/>
          <p:cNvSpPr/>
          <p:nvPr/>
        </p:nvSpPr>
        <p:spPr>
          <a:xfrm>
            <a:off x="324000" y="882000"/>
            <a:ext cx="9323280" cy="79092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en-US" sz="2000" strike="noStrike" u="none">
                <a:solidFill>
                  <a:srgbClr val="b8c9d5"/>
                </a:solidFill>
                <a:effectLst/>
                <a:uFillTx/>
                <a:latin typeface="DejaVu Sans"/>
                <a:ea typeface="DejaVu Sans"/>
              </a:rPr>
              <a:t>The main loop dispatches reception to the enabled functions.</a:t>
            </a:r>
            <a:endParaRPr b="0" lang="fr-FR" sz="2000" strike="noStrike" u="none">
              <a:solidFill>
                <a:srgbClr val="ffffff"/>
              </a:solidFill>
              <a:effectLst/>
              <a:uFillTx/>
              <a:latin typeface="Arial"/>
            </a:endParaRPr>
          </a:p>
        </p:txBody>
      </p:sp>
      <p:sp>
        <p:nvSpPr>
          <p:cNvPr id="114"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src/LoRa_APRS_iGate.cpp; src/lora_utils.cpp; src/station_utils.cpp</a:t>
            </a:r>
            <a:endParaRPr b="0" lang="fr-FR" sz="1000" strike="noStrike" u="none">
              <a:solidFill>
                <a:srgbClr val="ffffff"/>
              </a:solidFill>
              <a:effectLst/>
              <a:uFillTx/>
              <a:latin typeface="Arial"/>
            </a:endParaRPr>
          </a:p>
        </p:txBody>
      </p:sp>
      <p:sp>
        <p:nvSpPr>
          <p:cNvPr id="115" name=""/>
          <p:cNvSpPr/>
          <p:nvPr/>
        </p:nvSpPr>
        <p:spPr>
          <a:xfrm>
            <a:off x="360000" y="1800000"/>
            <a:ext cx="4607280" cy="126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16" name=""/>
          <p:cNvSpPr/>
          <p:nvPr/>
        </p:nvSpPr>
        <p:spPr>
          <a:xfrm>
            <a:off x="540000" y="1800000"/>
            <a:ext cx="417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RECEIVE</a:t>
            </a:r>
            <a:endParaRPr b="0" lang="fr-FR" sz="2200" strike="noStrike" u="none">
              <a:solidFill>
                <a:srgbClr val="ffffff"/>
              </a:solidFill>
              <a:effectLst/>
              <a:uFillTx/>
              <a:latin typeface="Arial"/>
            </a:endParaRPr>
          </a:p>
        </p:txBody>
      </p:sp>
      <p:sp>
        <p:nvSpPr>
          <p:cNvPr id="117" name=""/>
          <p:cNvSpPr/>
          <p:nvPr/>
        </p:nvSpPr>
        <p:spPr>
          <a:xfrm>
            <a:off x="504720" y="2340000"/>
            <a:ext cx="4175280" cy="46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Radio bytes and local measurements</a:t>
            </a:r>
            <a:endParaRPr b="0" lang="fr-FR" sz="1800" strike="noStrike" u="none">
              <a:solidFill>
                <a:srgbClr val="ffffff"/>
              </a:solidFill>
              <a:effectLst/>
              <a:uFillTx/>
              <a:latin typeface="Arial"/>
            </a:endParaRPr>
          </a:p>
        </p:txBody>
      </p:sp>
      <p:sp>
        <p:nvSpPr>
          <p:cNvPr id="118" name=""/>
          <p:cNvSpPr/>
          <p:nvPr/>
        </p:nvSpPr>
        <p:spPr>
          <a:xfrm>
            <a:off x="5112000" y="1800000"/>
            <a:ext cx="4607280" cy="126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19" name=""/>
          <p:cNvSpPr/>
          <p:nvPr/>
        </p:nvSpPr>
        <p:spPr>
          <a:xfrm>
            <a:off x="5348880" y="1808280"/>
            <a:ext cx="417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RELAY</a:t>
            </a:r>
            <a:endParaRPr b="0" lang="fr-FR" sz="2200" strike="noStrike" u="none">
              <a:solidFill>
                <a:srgbClr val="ffffff"/>
              </a:solidFill>
              <a:effectLst/>
              <a:uFillTx/>
              <a:latin typeface="Arial"/>
            </a:endParaRPr>
          </a:p>
        </p:txBody>
      </p:sp>
      <p:sp>
        <p:nvSpPr>
          <p:cNvPr id="120" name=""/>
          <p:cNvSpPr/>
          <p:nvPr/>
        </p:nvSpPr>
        <p:spPr>
          <a:xfrm>
            <a:off x="5364720" y="2340000"/>
            <a:ext cx="4175280" cy="46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Eligible path and queued context</a:t>
            </a:r>
            <a:endParaRPr b="0" lang="fr-FR" sz="1800" strike="noStrike" u="none">
              <a:solidFill>
                <a:srgbClr val="ffffff"/>
              </a:solidFill>
              <a:effectLst/>
              <a:uFillTx/>
              <a:latin typeface="Arial"/>
            </a:endParaRPr>
          </a:p>
        </p:txBody>
      </p:sp>
      <p:sp>
        <p:nvSpPr>
          <p:cNvPr id="121" name=""/>
          <p:cNvSpPr/>
          <p:nvPr/>
        </p:nvSpPr>
        <p:spPr>
          <a:xfrm>
            <a:off x="360000" y="3240000"/>
            <a:ext cx="4607280" cy="144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22" name=""/>
          <p:cNvSpPr/>
          <p:nvPr/>
        </p:nvSpPr>
        <p:spPr>
          <a:xfrm>
            <a:off x="558000" y="3240000"/>
            <a:ext cx="417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EXPORT</a:t>
            </a:r>
            <a:endParaRPr b="0" lang="fr-FR" sz="2200" strike="noStrike" u="none">
              <a:solidFill>
                <a:srgbClr val="ffffff"/>
              </a:solidFill>
              <a:effectLst/>
              <a:uFillTx/>
              <a:latin typeface="Arial"/>
            </a:endParaRPr>
          </a:p>
        </p:txBody>
      </p:sp>
      <p:sp>
        <p:nvSpPr>
          <p:cNvPr id="123" name=""/>
          <p:cNvSpPr/>
          <p:nvPr/>
        </p:nvSpPr>
        <p:spPr>
          <a:xfrm>
            <a:off x="540000" y="3780000"/>
            <a:ext cx="4175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Clean packet to applications</a:t>
            </a:r>
            <a:endParaRPr b="0" lang="fr-FR" sz="1800" strike="noStrike" u="none">
              <a:solidFill>
                <a:srgbClr val="ffffff"/>
              </a:solidFill>
              <a:effectLst/>
              <a:uFillTx/>
              <a:latin typeface="Arial"/>
            </a:endParaRPr>
          </a:p>
        </p:txBody>
      </p:sp>
      <p:sp>
        <p:nvSpPr>
          <p:cNvPr id="124" name=""/>
          <p:cNvSpPr/>
          <p:nvPr/>
        </p:nvSpPr>
        <p:spPr>
          <a:xfrm>
            <a:off x="5112720" y="3240000"/>
            <a:ext cx="4607280" cy="144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25" name=""/>
          <p:cNvSpPr/>
          <p:nvPr/>
        </p:nvSpPr>
        <p:spPr>
          <a:xfrm>
            <a:off x="5310000" y="3240000"/>
            <a:ext cx="417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INTERFACES</a:t>
            </a:r>
            <a:endParaRPr b="0" lang="fr-FR" sz="2200" strike="noStrike" u="none">
              <a:solidFill>
                <a:srgbClr val="ffffff"/>
              </a:solidFill>
              <a:effectLst/>
              <a:uFillTx/>
              <a:latin typeface="Arial"/>
            </a:endParaRPr>
          </a:p>
        </p:txBody>
      </p:sp>
      <p:sp>
        <p:nvSpPr>
          <p:cNvPr id="126" name=""/>
          <p:cNvSpPr/>
          <p:nvPr/>
        </p:nvSpPr>
        <p:spPr>
          <a:xfrm>
            <a:off x="5310000" y="3780000"/>
            <a:ext cx="4175280" cy="46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TNC2, JSON, APRS-IS and MQTT</a:t>
            </a:r>
            <a:endParaRPr b="0" lang="fr-FR"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2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2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2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08</a:t>
            </a:r>
            <a:endParaRPr b="0" lang="fr-FR" sz="1200" strike="noStrike" u="none">
              <a:solidFill>
                <a:srgbClr val="ffffff"/>
              </a:solidFill>
              <a:effectLst/>
              <a:uFillTx/>
              <a:latin typeface="Arial"/>
            </a:endParaRPr>
          </a:p>
        </p:txBody>
      </p:sp>
      <p:sp>
        <p:nvSpPr>
          <p:cNvPr id="13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RXT describes a remote reception</a:t>
            </a:r>
            <a:endParaRPr b="0" lang="fr-FR" sz="3200" strike="noStrike" u="none">
              <a:solidFill>
                <a:srgbClr val="ffffff"/>
              </a:solidFill>
              <a:effectLst/>
              <a:uFillTx/>
              <a:latin typeface="Arial"/>
            </a:endParaRPr>
          </a:p>
        </p:txBody>
      </p:sp>
      <p:sp>
        <p:nvSpPr>
          <p:cNvPr id="131"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Jon Adams, N7UV, developed the RXT concept.</a:t>
            </a:r>
            <a:endParaRPr b="0" lang="fr-FR" sz="2000" strike="noStrike" u="none">
              <a:solidFill>
                <a:srgbClr val="ffffff"/>
              </a:solidFill>
              <a:effectLst/>
              <a:uFillTx/>
              <a:latin typeface="Arial"/>
            </a:endParaRPr>
          </a:p>
        </p:txBody>
      </p:sp>
      <p:sp>
        <p:nvSpPr>
          <p:cNvPr id="13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Historical example retained from the September presentation; docs/RXT.md</a:t>
            </a:r>
            <a:endParaRPr b="0" lang="fr-FR" sz="1000" strike="noStrike" u="none">
              <a:solidFill>
                <a:srgbClr val="ffffff"/>
              </a:solidFill>
              <a:effectLst/>
              <a:uFillTx/>
              <a:latin typeface="Arial"/>
            </a:endParaRPr>
          </a:p>
        </p:txBody>
      </p:sp>
      <p:sp>
        <p:nvSpPr>
          <p:cNvPr id="133" name=""/>
          <p:cNvSpPr/>
          <p:nvPr/>
        </p:nvSpPr>
        <p:spPr>
          <a:xfrm>
            <a:off x="324000" y="1368000"/>
            <a:ext cx="9395280" cy="115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34" name=""/>
          <p:cNvSpPr/>
          <p:nvPr/>
        </p:nvSpPr>
        <p:spPr>
          <a:xfrm>
            <a:off x="540000" y="1620000"/>
            <a:ext cx="892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400" strike="noStrike" u="none">
                <a:solidFill>
                  <a:srgbClr val="f5f8fc"/>
                </a:solidFill>
                <a:effectLst/>
                <a:uFillTx/>
                <a:latin typeface="DejaVu Sans"/>
                <a:ea typeface="DejaVu Sans"/>
              </a:rPr>
              <a:t>CAVECR → SOMTNX → TSRXBX</a:t>
            </a:r>
            <a:endParaRPr b="0" lang="fr-FR" sz="3400" strike="noStrike" u="none">
              <a:solidFill>
                <a:srgbClr val="ffffff"/>
              </a:solidFill>
              <a:effectLst/>
              <a:uFillTx/>
              <a:latin typeface="Arial"/>
            </a:endParaRPr>
          </a:p>
        </p:txBody>
      </p:sp>
      <p:sp>
        <p:nvSpPr>
          <p:cNvPr id="135" name=""/>
          <p:cNvSpPr/>
          <p:nvPr/>
        </p:nvSpPr>
        <p:spPr>
          <a:xfrm>
            <a:off x="468000" y="2880000"/>
            <a:ext cx="8963280" cy="107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SOMTNX measures its reception of CAVECR and relays the packet with RXT.</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TSRXBX obtains that measurement alongside its own local reception.</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36"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37"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38"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09</a:t>
            </a:r>
            <a:endParaRPr b="0" lang="fr-FR" sz="1200" strike="noStrike" u="none">
              <a:solidFill>
                <a:srgbClr val="ffffff"/>
              </a:solidFill>
              <a:effectLst/>
              <a:uFillTx/>
              <a:latin typeface="Arial"/>
            </a:endParaRPr>
          </a:p>
        </p:txBody>
      </p:sp>
      <p:sp>
        <p:nvSpPr>
          <p:cNvPr id="139"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The four RXT measurements</a:t>
            </a:r>
            <a:endParaRPr b="0" lang="fr-FR" sz="3200" strike="noStrike" u="none">
              <a:solidFill>
                <a:srgbClr val="ffffff"/>
              </a:solidFill>
              <a:effectLst/>
              <a:uFillTx/>
              <a:latin typeface="Arial"/>
            </a:endParaRPr>
          </a:p>
        </p:txBody>
      </p:sp>
      <p:sp>
        <p:nvSpPr>
          <p:cNvPr id="140"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Each tuple describes a relay’s reception and forwarding delay.</a:t>
            </a:r>
            <a:endParaRPr b="0" lang="fr-FR" sz="2000" strike="noStrike" u="none">
              <a:solidFill>
                <a:srgbClr val="ffffff"/>
              </a:solidFill>
              <a:effectLst/>
              <a:uFillTx/>
              <a:latin typeface="Arial"/>
            </a:endParaRPr>
          </a:p>
        </p:txBody>
      </p:sp>
      <p:sp>
        <p:nvSpPr>
          <p:cNvPr id="141"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src/lora_utils.cpp; docs/RXT.md. Current SNR range: −24 to +20 dB.</a:t>
            </a:r>
            <a:endParaRPr b="0" lang="fr-FR" sz="1000" strike="noStrike" u="none">
              <a:solidFill>
                <a:srgbClr val="ffffff"/>
              </a:solidFill>
              <a:effectLst/>
              <a:uFillTx/>
              <a:latin typeface="Arial"/>
            </a:endParaRPr>
          </a:p>
        </p:txBody>
      </p:sp>
      <p:sp>
        <p:nvSpPr>
          <p:cNvPr id="142" name=""/>
          <p:cNvSpPr/>
          <p:nvPr/>
        </p:nvSpPr>
        <p:spPr>
          <a:xfrm>
            <a:off x="360000" y="1368000"/>
            <a:ext cx="4607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43" name=""/>
          <p:cNvSpPr/>
          <p:nvPr/>
        </p:nvSpPr>
        <p:spPr>
          <a:xfrm>
            <a:off x="522000" y="1519200"/>
            <a:ext cx="1169280" cy="4975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400" strike="noStrike" u="none">
                <a:solidFill>
                  <a:srgbClr val="ffd18a"/>
                </a:solidFill>
                <a:effectLst/>
                <a:uFillTx/>
                <a:latin typeface="DejaVu Sans"/>
                <a:ea typeface="DejaVu Sans"/>
              </a:rPr>
              <a:t>RSSI</a:t>
            </a:r>
            <a:endParaRPr b="0" lang="fr-FR" sz="2400" strike="noStrike" u="none">
              <a:solidFill>
                <a:srgbClr val="ffffff"/>
              </a:solidFill>
              <a:effectLst/>
              <a:uFillTx/>
              <a:latin typeface="Arial"/>
            </a:endParaRPr>
          </a:p>
        </p:txBody>
      </p:sp>
      <p:sp>
        <p:nvSpPr>
          <p:cNvPr id="144" name=""/>
          <p:cNvSpPr/>
          <p:nvPr/>
        </p:nvSpPr>
        <p:spPr>
          <a:xfrm>
            <a:off x="1728000" y="1519200"/>
            <a:ext cx="293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Received level</a:t>
            </a:r>
            <a:endParaRPr b="0" lang="fr-FR" sz="2200" strike="noStrike" u="none">
              <a:solidFill>
                <a:srgbClr val="ffffff"/>
              </a:solidFill>
              <a:effectLst/>
              <a:uFillTx/>
              <a:latin typeface="Arial"/>
            </a:endParaRPr>
          </a:p>
        </p:txBody>
      </p:sp>
      <p:sp>
        <p:nvSpPr>
          <p:cNvPr id="145" name=""/>
          <p:cNvSpPr/>
          <p:nvPr/>
        </p:nvSpPr>
        <p:spPr>
          <a:xfrm>
            <a:off x="1728000" y="1926000"/>
            <a:ext cx="2933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Receiver power level, in dBm</a:t>
            </a:r>
            <a:endParaRPr b="0" lang="fr-FR" sz="1800" strike="noStrike" u="none">
              <a:solidFill>
                <a:srgbClr val="ffffff"/>
              </a:solidFill>
              <a:effectLst/>
              <a:uFillTx/>
              <a:latin typeface="Arial"/>
            </a:endParaRPr>
          </a:p>
        </p:txBody>
      </p:sp>
      <p:sp>
        <p:nvSpPr>
          <p:cNvPr id="146" name=""/>
          <p:cNvSpPr/>
          <p:nvPr/>
        </p:nvSpPr>
        <p:spPr>
          <a:xfrm>
            <a:off x="5112000" y="1368000"/>
            <a:ext cx="4607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47" name=""/>
          <p:cNvSpPr/>
          <p:nvPr/>
        </p:nvSpPr>
        <p:spPr>
          <a:xfrm>
            <a:off x="5274000" y="1519200"/>
            <a:ext cx="1169280" cy="4975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400" strike="noStrike" u="none">
                <a:solidFill>
                  <a:srgbClr val="ffd18a"/>
                </a:solidFill>
                <a:effectLst/>
                <a:uFillTx/>
                <a:latin typeface="DejaVu Sans"/>
                <a:ea typeface="DejaVu Sans"/>
              </a:rPr>
              <a:t>SNR</a:t>
            </a:r>
            <a:endParaRPr b="0" lang="fr-FR" sz="2400" strike="noStrike" u="none">
              <a:solidFill>
                <a:srgbClr val="ffffff"/>
              </a:solidFill>
              <a:effectLst/>
              <a:uFillTx/>
              <a:latin typeface="Arial"/>
            </a:endParaRPr>
          </a:p>
        </p:txBody>
      </p:sp>
      <p:sp>
        <p:nvSpPr>
          <p:cNvPr id="148" name=""/>
          <p:cNvSpPr/>
          <p:nvPr/>
        </p:nvSpPr>
        <p:spPr>
          <a:xfrm>
            <a:off x="6480000" y="1519200"/>
            <a:ext cx="293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Signal / noise</a:t>
            </a:r>
            <a:endParaRPr b="0" lang="fr-FR" sz="2200" strike="noStrike" u="none">
              <a:solidFill>
                <a:srgbClr val="ffffff"/>
              </a:solidFill>
              <a:effectLst/>
              <a:uFillTx/>
              <a:latin typeface="Arial"/>
            </a:endParaRPr>
          </a:p>
        </p:txBody>
      </p:sp>
      <p:sp>
        <p:nvSpPr>
          <p:cNvPr id="149" name=""/>
          <p:cNvSpPr/>
          <p:nvPr/>
        </p:nvSpPr>
        <p:spPr>
          <a:xfrm>
            <a:off x="6480000" y="1926000"/>
            <a:ext cx="2933280" cy="46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Measured ratio, in dB</a:t>
            </a:r>
            <a:endParaRPr b="0" lang="fr-FR" sz="1800" strike="noStrike" u="none">
              <a:solidFill>
                <a:srgbClr val="ffffff"/>
              </a:solidFill>
              <a:effectLst/>
              <a:uFillTx/>
              <a:latin typeface="Arial"/>
            </a:endParaRPr>
          </a:p>
        </p:txBody>
      </p:sp>
      <p:sp>
        <p:nvSpPr>
          <p:cNvPr id="150" name=""/>
          <p:cNvSpPr/>
          <p:nvPr/>
        </p:nvSpPr>
        <p:spPr>
          <a:xfrm>
            <a:off x="360000" y="2880000"/>
            <a:ext cx="4607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51" name=""/>
          <p:cNvSpPr/>
          <p:nvPr/>
        </p:nvSpPr>
        <p:spPr>
          <a:xfrm>
            <a:off x="522000" y="3031200"/>
            <a:ext cx="1169280" cy="4975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400" strike="noStrike" u="none">
                <a:solidFill>
                  <a:srgbClr val="ffd18a"/>
                </a:solidFill>
                <a:effectLst/>
                <a:uFillTx/>
                <a:latin typeface="DejaVu Sans"/>
                <a:ea typeface="DejaVu Sans"/>
              </a:rPr>
              <a:t>FO</a:t>
            </a:r>
            <a:endParaRPr b="0" lang="fr-FR" sz="2400" strike="noStrike" u="none">
              <a:solidFill>
                <a:srgbClr val="ffffff"/>
              </a:solidFill>
              <a:effectLst/>
              <a:uFillTx/>
              <a:latin typeface="Arial"/>
            </a:endParaRPr>
          </a:p>
        </p:txBody>
      </p:sp>
      <p:sp>
        <p:nvSpPr>
          <p:cNvPr id="152" name=""/>
          <p:cNvSpPr/>
          <p:nvPr/>
        </p:nvSpPr>
        <p:spPr>
          <a:xfrm>
            <a:off x="1728000" y="3031200"/>
            <a:ext cx="293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Frequency offset</a:t>
            </a:r>
            <a:endParaRPr b="0" lang="fr-FR" sz="2200" strike="noStrike" u="none">
              <a:solidFill>
                <a:srgbClr val="ffffff"/>
              </a:solidFill>
              <a:effectLst/>
              <a:uFillTx/>
              <a:latin typeface="Arial"/>
            </a:endParaRPr>
          </a:p>
        </p:txBody>
      </p:sp>
      <p:sp>
        <p:nvSpPr>
          <p:cNvPr id="153" name=""/>
          <p:cNvSpPr/>
          <p:nvPr/>
        </p:nvSpPr>
        <p:spPr>
          <a:xfrm>
            <a:off x="1728000" y="3438000"/>
            <a:ext cx="2933280" cy="72108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en-US" sz="1800" strike="noStrike" u="none">
                <a:solidFill>
                  <a:srgbClr val="f5f8fc"/>
                </a:solidFill>
                <a:effectLst/>
                <a:uFillTx/>
                <a:latin typeface="DejaVu Sans"/>
                <a:ea typeface="DejaVu Sans"/>
              </a:rPr>
              <a:t>Measured offset, in Hz</a:t>
            </a:r>
            <a:endParaRPr b="0" lang="fr-FR" sz="1800" strike="noStrike" u="none">
              <a:solidFill>
                <a:srgbClr val="ffffff"/>
              </a:solidFill>
              <a:effectLst/>
              <a:uFillTx/>
              <a:latin typeface="Arial"/>
            </a:endParaRPr>
          </a:p>
        </p:txBody>
      </p:sp>
      <p:sp>
        <p:nvSpPr>
          <p:cNvPr id="154" name=""/>
          <p:cNvSpPr/>
          <p:nvPr/>
        </p:nvSpPr>
        <p:spPr>
          <a:xfrm>
            <a:off x="5112000" y="2880000"/>
            <a:ext cx="4607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55" name=""/>
          <p:cNvSpPr/>
          <p:nvPr/>
        </p:nvSpPr>
        <p:spPr>
          <a:xfrm>
            <a:off x="5274000" y="3031200"/>
            <a:ext cx="1169280" cy="4975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400" strike="noStrike" u="none">
                <a:solidFill>
                  <a:srgbClr val="ffd18a"/>
                </a:solidFill>
                <a:effectLst/>
                <a:uFillTx/>
                <a:latin typeface="DejaVu Sans"/>
                <a:ea typeface="DejaVu Sans"/>
              </a:rPr>
              <a:t>TTH</a:t>
            </a:r>
            <a:endParaRPr b="0" lang="fr-FR" sz="2400" strike="noStrike" u="none">
              <a:solidFill>
                <a:srgbClr val="ffffff"/>
              </a:solidFill>
              <a:effectLst/>
              <a:uFillTx/>
              <a:latin typeface="Arial"/>
            </a:endParaRPr>
          </a:p>
        </p:txBody>
      </p:sp>
      <p:sp>
        <p:nvSpPr>
          <p:cNvPr id="156" name=""/>
          <p:cNvSpPr/>
          <p:nvPr/>
        </p:nvSpPr>
        <p:spPr>
          <a:xfrm>
            <a:off x="6480000" y="3031200"/>
            <a:ext cx="293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Relay delay</a:t>
            </a:r>
            <a:endParaRPr b="0" lang="fr-FR" sz="2200" strike="noStrike" u="none">
              <a:solidFill>
                <a:srgbClr val="ffffff"/>
              </a:solidFill>
              <a:effectLst/>
              <a:uFillTx/>
              <a:latin typeface="Arial"/>
            </a:endParaRPr>
          </a:p>
        </p:txBody>
      </p:sp>
      <p:sp>
        <p:nvSpPr>
          <p:cNvPr id="157" name=""/>
          <p:cNvSpPr/>
          <p:nvPr/>
        </p:nvSpPr>
        <p:spPr>
          <a:xfrm>
            <a:off x="6480000" y="3438000"/>
            <a:ext cx="2933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End of reception to end of transmission</a:t>
            </a:r>
            <a:endParaRPr b="0" lang="fr-FR"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58"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59"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60"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14</a:t>
            </a:r>
            <a:endParaRPr b="0" lang="fr-FR" sz="1200" strike="noStrike" u="none">
              <a:solidFill>
                <a:srgbClr val="ffffff"/>
              </a:solidFill>
              <a:effectLst/>
              <a:uFillTx/>
              <a:latin typeface="Arial"/>
            </a:endParaRPr>
          </a:p>
        </p:txBody>
      </p:sp>
      <p:sp>
        <p:nvSpPr>
          <p:cNvPr id="161"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The path and its measurements</a:t>
            </a:r>
            <a:endParaRPr b="0" lang="fr-FR" sz="3200" strike="noStrike" u="none">
              <a:solidFill>
                <a:srgbClr val="ffffff"/>
              </a:solidFill>
              <a:effectLst/>
              <a:uFillTx/>
              <a:latin typeface="Arial"/>
            </a:endParaRPr>
          </a:p>
        </p:txBody>
      </p:sp>
      <p:sp>
        <p:nvSpPr>
          <p:cNvPr id="162"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The path identifies used relays. RXT supplies their measurements.</a:t>
            </a:r>
            <a:endParaRPr b="0" lang="fr-FR" sz="2000" strike="noStrike" u="none">
              <a:solidFill>
                <a:srgbClr val="ffffff"/>
              </a:solidFill>
              <a:effectLst/>
              <a:uFillTx/>
              <a:latin typeface="Arial"/>
            </a:endParaRPr>
          </a:p>
        </p:txBody>
      </p:sp>
      <p:sp>
        <p:nvSpPr>
          <p:cNvPr id="163"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Jon’s historical example; illustrative positions. Reference: docs/RXT.md</a:t>
            </a:r>
            <a:endParaRPr b="0" lang="fr-FR" sz="1000" strike="noStrike" u="none">
              <a:solidFill>
                <a:srgbClr val="ffffff"/>
              </a:solidFill>
              <a:effectLst/>
              <a:uFillTx/>
              <a:latin typeface="Arial"/>
            </a:endParaRPr>
          </a:p>
        </p:txBody>
      </p:sp>
      <p:sp>
        <p:nvSpPr>
          <p:cNvPr id="164" name=""/>
          <p:cNvSpPr/>
          <p:nvPr/>
        </p:nvSpPr>
        <p:spPr>
          <a:xfrm>
            <a:off x="360000" y="1584000"/>
            <a:ext cx="2879280" cy="158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65" name=""/>
          <p:cNvSpPr/>
          <p:nvPr/>
        </p:nvSpPr>
        <p:spPr>
          <a:xfrm>
            <a:off x="558000" y="1872000"/>
            <a:ext cx="248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CAVECR</a:t>
            </a:r>
            <a:endParaRPr b="0" lang="fr-FR" sz="2200" strike="noStrike" u="none">
              <a:solidFill>
                <a:srgbClr val="ffffff"/>
              </a:solidFill>
              <a:effectLst/>
              <a:uFillTx/>
              <a:latin typeface="Arial"/>
            </a:endParaRPr>
          </a:p>
        </p:txBody>
      </p:sp>
      <p:sp>
        <p:nvSpPr>
          <p:cNvPr id="166" name=""/>
          <p:cNvSpPr/>
          <p:nvPr/>
        </p:nvSpPr>
        <p:spPr>
          <a:xfrm>
            <a:off x="558000" y="2358000"/>
            <a:ext cx="2483280" cy="3945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originating station</a:t>
            </a:r>
            <a:endParaRPr b="0" lang="fr-FR" sz="1800" strike="noStrike" u="none">
              <a:solidFill>
                <a:srgbClr val="ffffff"/>
              </a:solidFill>
              <a:effectLst/>
              <a:uFillTx/>
              <a:latin typeface="Arial"/>
            </a:endParaRPr>
          </a:p>
        </p:txBody>
      </p:sp>
      <p:sp>
        <p:nvSpPr>
          <p:cNvPr id="167" name=""/>
          <p:cNvSpPr/>
          <p:nvPr/>
        </p:nvSpPr>
        <p:spPr>
          <a:xfrm>
            <a:off x="3600000" y="1584000"/>
            <a:ext cx="2879280" cy="158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68" name=""/>
          <p:cNvSpPr/>
          <p:nvPr/>
        </p:nvSpPr>
        <p:spPr>
          <a:xfrm>
            <a:off x="3798000" y="1872000"/>
            <a:ext cx="248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SOMTNX</a:t>
            </a:r>
            <a:endParaRPr b="0" lang="fr-FR" sz="2200" strike="noStrike" u="none">
              <a:solidFill>
                <a:srgbClr val="ffffff"/>
              </a:solidFill>
              <a:effectLst/>
              <a:uFillTx/>
              <a:latin typeface="Arial"/>
            </a:endParaRPr>
          </a:p>
        </p:txBody>
      </p:sp>
      <p:sp>
        <p:nvSpPr>
          <p:cNvPr id="169" name=""/>
          <p:cNvSpPr/>
          <p:nvPr/>
        </p:nvSpPr>
        <p:spPr>
          <a:xfrm>
            <a:off x="3798000" y="2358000"/>
            <a:ext cx="2483280" cy="3945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RF-only relay</a:t>
            </a:r>
            <a:endParaRPr b="0" lang="fr-FR" sz="1800" strike="noStrike" u="none">
              <a:solidFill>
                <a:srgbClr val="ffffff"/>
              </a:solidFill>
              <a:effectLst/>
              <a:uFillTx/>
              <a:latin typeface="Arial"/>
            </a:endParaRPr>
          </a:p>
        </p:txBody>
      </p:sp>
      <p:sp>
        <p:nvSpPr>
          <p:cNvPr id="170" name=""/>
          <p:cNvSpPr/>
          <p:nvPr/>
        </p:nvSpPr>
        <p:spPr>
          <a:xfrm>
            <a:off x="6840000" y="1584000"/>
            <a:ext cx="2879280" cy="158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71" name=""/>
          <p:cNvSpPr/>
          <p:nvPr/>
        </p:nvSpPr>
        <p:spPr>
          <a:xfrm>
            <a:off x="7038000" y="1872000"/>
            <a:ext cx="248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TSRXBX</a:t>
            </a:r>
            <a:endParaRPr b="0" lang="fr-FR" sz="2200" strike="noStrike" u="none">
              <a:solidFill>
                <a:srgbClr val="ffffff"/>
              </a:solidFill>
              <a:effectLst/>
              <a:uFillTx/>
              <a:latin typeface="Arial"/>
            </a:endParaRPr>
          </a:p>
        </p:txBody>
      </p:sp>
      <p:sp>
        <p:nvSpPr>
          <p:cNvPr id="172" name=""/>
          <p:cNvSpPr/>
          <p:nvPr/>
        </p:nvSpPr>
        <p:spPr>
          <a:xfrm>
            <a:off x="7038000" y="2358000"/>
            <a:ext cx="2483280" cy="3945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receiving station</a:t>
            </a:r>
            <a:endParaRPr b="0" lang="fr-FR" sz="1800" strike="noStrike" u="none">
              <a:solidFill>
                <a:srgbClr val="ffffff"/>
              </a:solidFill>
              <a:effectLst/>
              <a:uFillTx/>
              <a:latin typeface="Arial"/>
            </a:endParaRPr>
          </a:p>
        </p:txBody>
      </p:sp>
      <p:sp>
        <p:nvSpPr>
          <p:cNvPr id="173" name=""/>
          <p:cNvSpPr/>
          <p:nvPr/>
        </p:nvSpPr>
        <p:spPr>
          <a:xfrm>
            <a:off x="3006000" y="1980000"/>
            <a:ext cx="395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174" name=""/>
          <p:cNvSpPr/>
          <p:nvPr/>
        </p:nvSpPr>
        <p:spPr>
          <a:xfrm>
            <a:off x="6246000" y="1980000"/>
            <a:ext cx="395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175" name=""/>
          <p:cNvSpPr/>
          <p:nvPr/>
        </p:nvSpPr>
        <p:spPr>
          <a:xfrm>
            <a:off x="720000" y="3600000"/>
            <a:ext cx="8639280" cy="86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76" name=""/>
          <p:cNvSpPr/>
          <p:nvPr/>
        </p:nvSpPr>
        <p:spPr>
          <a:xfrm>
            <a:off x="900000" y="3798000"/>
            <a:ext cx="8279280" cy="44532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en-US" sz="2100" strike="noStrike" u="none">
                <a:solidFill>
                  <a:srgbClr val="f5f8fc"/>
                </a:solidFill>
                <a:effectLst/>
                <a:uFillTx/>
                <a:latin typeface="DejaVu Sans"/>
                <a:ea typeface="DejaVu Sans"/>
              </a:rPr>
              <a:t>Relay without RXT: known path, no RF measurements</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7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7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7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15</a:t>
            </a:r>
            <a:endParaRPr b="0" lang="fr-FR" sz="1200" strike="noStrike" u="none">
              <a:solidFill>
                <a:srgbClr val="ffffff"/>
              </a:solidFill>
              <a:effectLst/>
              <a:uFillTx/>
              <a:latin typeface="Arial"/>
            </a:endParaRPr>
          </a:p>
        </p:txBody>
      </p:sp>
      <p:sp>
        <p:nvSpPr>
          <p:cNvPr id="18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Reading a historical measurement</a:t>
            </a:r>
            <a:endParaRPr b="0" lang="fr-FR" sz="3200" strike="noStrike" u="none">
              <a:solidFill>
                <a:srgbClr val="ffffff"/>
              </a:solidFill>
              <a:effectLst/>
              <a:uFillTx/>
              <a:latin typeface="Arial"/>
            </a:endParaRPr>
          </a:p>
        </p:txBody>
      </p:sp>
      <p:sp>
        <p:nvSpPr>
          <p:cNvPr id="181"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Jon’s example of SOMTNX receiving CAVECR.</a:t>
            </a:r>
            <a:endParaRPr b="0" lang="fr-FR" sz="2000" strike="noStrike" u="none">
              <a:solidFill>
                <a:srgbClr val="ffffff"/>
              </a:solidFill>
              <a:effectLst/>
              <a:uFillTx/>
              <a:latin typeface="Arial"/>
            </a:endParaRPr>
          </a:p>
        </p:txBody>
      </p:sp>
      <p:sp>
        <p:nvSpPr>
          <p:cNvPr id="18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Source: September presentation, Jon’s example. Historical SNR value, before the range extension.</a:t>
            </a:r>
            <a:endParaRPr b="0" lang="fr-FR" sz="1000" strike="noStrike" u="none">
              <a:solidFill>
                <a:srgbClr val="ffffff"/>
              </a:solidFill>
              <a:effectLst/>
              <a:uFillTx/>
              <a:latin typeface="Arial"/>
            </a:endParaRPr>
          </a:p>
        </p:txBody>
      </p:sp>
      <p:sp>
        <p:nvSpPr>
          <p:cNvPr id="183" name=""/>
          <p:cNvSpPr/>
          <p:nvPr/>
        </p:nvSpPr>
        <p:spPr>
          <a:xfrm>
            <a:off x="360000" y="1368000"/>
            <a:ext cx="9359280" cy="71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84" name=""/>
          <p:cNvSpPr/>
          <p:nvPr/>
        </p:nvSpPr>
        <p:spPr>
          <a:xfrm>
            <a:off x="576000" y="1530000"/>
            <a:ext cx="8927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CAVECR → SOMTNX</a:t>
            </a:r>
            <a:endParaRPr b="0" lang="fr-FR" sz="2000" strike="noStrike" u="none">
              <a:solidFill>
                <a:srgbClr val="ffffff"/>
              </a:solidFill>
              <a:effectLst/>
              <a:uFillTx/>
              <a:latin typeface="Arial"/>
            </a:endParaRPr>
          </a:p>
        </p:txBody>
      </p:sp>
      <p:sp>
        <p:nvSpPr>
          <p:cNvPr id="185" name=""/>
          <p:cNvSpPr/>
          <p:nvPr/>
        </p:nvSpPr>
        <p:spPr>
          <a:xfrm>
            <a:off x="360000" y="2340000"/>
            <a:ext cx="2159280" cy="158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86" name=""/>
          <p:cNvSpPr/>
          <p:nvPr/>
        </p:nvSpPr>
        <p:spPr>
          <a:xfrm>
            <a:off x="486000" y="2502000"/>
            <a:ext cx="190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RSSI</a:t>
            </a:r>
            <a:endParaRPr b="0" lang="fr-FR" sz="2200" strike="noStrike" u="none">
              <a:solidFill>
                <a:srgbClr val="ffffff"/>
              </a:solidFill>
              <a:effectLst/>
              <a:uFillTx/>
              <a:latin typeface="Arial"/>
            </a:endParaRPr>
          </a:p>
        </p:txBody>
      </p:sp>
      <p:sp>
        <p:nvSpPr>
          <p:cNvPr id="187" name=""/>
          <p:cNvSpPr/>
          <p:nvPr/>
        </p:nvSpPr>
        <p:spPr>
          <a:xfrm>
            <a:off x="486000" y="2862000"/>
            <a:ext cx="1907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−71</a:t>
            </a:r>
            <a:endParaRPr b="0" lang="fr-FR" sz="2800" strike="noStrike" u="none">
              <a:solidFill>
                <a:srgbClr val="ffffff"/>
              </a:solidFill>
              <a:effectLst/>
              <a:uFillTx/>
              <a:latin typeface="Arial"/>
            </a:endParaRPr>
          </a:p>
        </p:txBody>
      </p:sp>
      <p:sp>
        <p:nvSpPr>
          <p:cNvPr id="188" name=""/>
          <p:cNvSpPr/>
          <p:nvPr/>
        </p:nvSpPr>
        <p:spPr>
          <a:xfrm>
            <a:off x="486000" y="3366000"/>
            <a:ext cx="190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dBm</a:t>
            </a:r>
            <a:endParaRPr b="0" lang="fr-FR" sz="1700" strike="noStrike" u="none">
              <a:solidFill>
                <a:srgbClr val="ffffff"/>
              </a:solidFill>
              <a:effectLst/>
              <a:uFillTx/>
              <a:latin typeface="Arial"/>
            </a:endParaRPr>
          </a:p>
        </p:txBody>
      </p:sp>
      <p:sp>
        <p:nvSpPr>
          <p:cNvPr id="189" name=""/>
          <p:cNvSpPr/>
          <p:nvPr/>
        </p:nvSpPr>
        <p:spPr>
          <a:xfrm>
            <a:off x="2700000" y="2340000"/>
            <a:ext cx="2159280" cy="158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90" name=""/>
          <p:cNvSpPr/>
          <p:nvPr/>
        </p:nvSpPr>
        <p:spPr>
          <a:xfrm>
            <a:off x="2826000" y="2502000"/>
            <a:ext cx="190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SNR</a:t>
            </a:r>
            <a:endParaRPr b="0" lang="fr-FR" sz="2200" strike="noStrike" u="none">
              <a:solidFill>
                <a:srgbClr val="ffffff"/>
              </a:solidFill>
              <a:effectLst/>
              <a:uFillTx/>
              <a:latin typeface="Arial"/>
            </a:endParaRPr>
          </a:p>
        </p:txBody>
      </p:sp>
      <p:sp>
        <p:nvSpPr>
          <p:cNvPr id="191" name=""/>
          <p:cNvSpPr/>
          <p:nvPr/>
        </p:nvSpPr>
        <p:spPr>
          <a:xfrm>
            <a:off x="2826000" y="2862000"/>
            <a:ext cx="1907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 +12</a:t>
            </a:r>
            <a:endParaRPr b="0" lang="fr-FR" sz="2800" strike="noStrike" u="none">
              <a:solidFill>
                <a:srgbClr val="ffffff"/>
              </a:solidFill>
              <a:effectLst/>
              <a:uFillTx/>
              <a:latin typeface="Arial"/>
            </a:endParaRPr>
          </a:p>
        </p:txBody>
      </p:sp>
      <p:sp>
        <p:nvSpPr>
          <p:cNvPr id="192" name=""/>
          <p:cNvSpPr/>
          <p:nvPr/>
        </p:nvSpPr>
        <p:spPr>
          <a:xfrm>
            <a:off x="2826000" y="3366000"/>
            <a:ext cx="190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dB</a:t>
            </a:r>
            <a:endParaRPr b="0" lang="fr-FR" sz="1700" strike="noStrike" u="none">
              <a:solidFill>
                <a:srgbClr val="ffffff"/>
              </a:solidFill>
              <a:effectLst/>
              <a:uFillTx/>
              <a:latin typeface="Arial"/>
            </a:endParaRPr>
          </a:p>
        </p:txBody>
      </p:sp>
      <p:sp>
        <p:nvSpPr>
          <p:cNvPr id="193" name=""/>
          <p:cNvSpPr/>
          <p:nvPr/>
        </p:nvSpPr>
        <p:spPr>
          <a:xfrm>
            <a:off x="5040000" y="2340000"/>
            <a:ext cx="2159280" cy="158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94" name=""/>
          <p:cNvSpPr/>
          <p:nvPr/>
        </p:nvSpPr>
        <p:spPr>
          <a:xfrm>
            <a:off x="5166000" y="2502000"/>
            <a:ext cx="190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FO</a:t>
            </a:r>
            <a:endParaRPr b="0" lang="fr-FR" sz="2200" strike="noStrike" u="none">
              <a:solidFill>
                <a:srgbClr val="ffffff"/>
              </a:solidFill>
              <a:effectLst/>
              <a:uFillTx/>
              <a:latin typeface="Arial"/>
            </a:endParaRPr>
          </a:p>
        </p:txBody>
      </p:sp>
      <p:sp>
        <p:nvSpPr>
          <p:cNvPr id="195" name=""/>
          <p:cNvSpPr/>
          <p:nvPr/>
        </p:nvSpPr>
        <p:spPr>
          <a:xfrm>
            <a:off x="5166000" y="2862000"/>
            <a:ext cx="1907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+241</a:t>
            </a:r>
            <a:endParaRPr b="0" lang="fr-FR" sz="2800" strike="noStrike" u="none">
              <a:solidFill>
                <a:srgbClr val="ffffff"/>
              </a:solidFill>
              <a:effectLst/>
              <a:uFillTx/>
              <a:latin typeface="Arial"/>
            </a:endParaRPr>
          </a:p>
        </p:txBody>
      </p:sp>
      <p:sp>
        <p:nvSpPr>
          <p:cNvPr id="196" name=""/>
          <p:cNvSpPr/>
          <p:nvPr/>
        </p:nvSpPr>
        <p:spPr>
          <a:xfrm>
            <a:off x="5166000" y="3366000"/>
            <a:ext cx="190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Hz</a:t>
            </a:r>
            <a:endParaRPr b="0" lang="fr-FR" sz="1700" strike="noStrike" u="none">
              <a:solidFill>
                <a:srgbClr val="ffffff"/>
              </a:solidFill>
              <a:effectLst/>
              <a:uFillTx/>
              <a:latin typeface="Arial"/>
            </a:endParaRPr>
          </a:p>
        </p:txBody>
      </p:sp>
      <p:sp>
        <p:nvSpPr>
          <p:cNvPr id="197" name=""/>
          <p:cNvSpPr/>
          <p:nvPr/>
        </p:nvSpPr>
        <p:spPr>
          <a:xfrm>
            <a:off x="7380000" y="2340000"/>
            <a:ext cx="2339280" cy="158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98" name=""/>
          <p:cNvSpPr/>
          <p:nvPr/>
        </p:nvSpPr>
        <p:spPr>
          <a:xfrm>
            <a:off x="7506000" y="2502000"/>
            <a:ext cx="208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TTH</a:t>
            </a:r>
            <a:endParaRPr b="0" lang="fr-FR" sz="2200" strike="noStrike" u="none">
              <a:solidFill>
                <a:srgbClr val="ffffff"/>
              </a:solidFill>
              <a:effectLst/>
              <a:uFillTx/>
              <a:latin typeface="Arial"/>
            </a:endParaRPr>
          </a:p>
        </p:txBody>
      </p:sp>
      <p:sp>
        <p:nvSpPr>
          <p:cNvPr id="199" name=""/>
          <p:cNvSpPr/>
          <p:nvPr/>
        </p:nvSpPr>
        <p:spPr>
          <a:xfrm>
            <a:off x="7506000" y="2862000"/>
            <a:ext cx="2087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594</a:t>
            </a:r>
            <a:endParaRPr b="0" lang="fr-FR" sz="2800" strike="noStrike" u="none">
              <a:solidFill>
                <a:srgbClr val="ffffff"/>
              </a:solidFill>
              <a:effectLst/>
              <a:uFillTx/>
              <a:latin typeface="Arial"/>
            </a:endParaRPr>
          </a:p>
        </p:txBody>
      </p:sp>
      <p:sp>
        <p:nvSpPr>
          <p:cNvPr id="200" name=""/>
          <p:cNvSpPr/>
          <p:nvPr/>
        </p:nvSpPr>
        <p:spPr>
          <a:xfrm>
            <a:off x="7506000" y="3366000"/>
            <a:ext cx="20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ms</a:t>
            </a:r>
            <a:endParaRPr b="0" lang="fr-FR" sz="1700" strike="noStrike" u="none">
              <a:solidFill>
                <a:srgbClr val="ffffff"/>
              </a:solidFill>
              <a:effectLst/>
              <a:uFillTx/>
              <a:latin typeface="Arial"/>
            </a:endParaRPr>
          </a:p>
        </p:txBody>
      </p:sp>
      <p:sp>
        <p:nvSpPr>
          <p:cNvPr id="201" name=""/>
          <p:cNvSpPr/>
          <p:nvPr/>
        </p:nvSpPr>
        <p:spPr>
          <a:xfrm>
            <a:off x="432000" y="4212000"/>
            <a:ext cx="9071280" cy="35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0" lang="en-US" sz="1500" strike="noStrike" u="none">
                <a:solidFill>
                  <a:srgbClr val="b8c9d5"/>
                </a:solidFill>
                <a:effectLst/>
                <a:uFillTx/>
                <a:latin typeface="DejaVu Sans"/>
                <a:ea typeface="DejaVu Sans"/>
              </a:rPr>
              <a:t>SNR was capped at the time. The current range reaches +20 dB.</a:t>
            </a:r>
            <a:endParaRPr b="0" lang="fr-FR" sz="15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0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0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0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16</a:t>
            </a:r>
            <a:endParaRPr b="0" lang="fr-FR" sz="1200" strike="noStrike" u="none">
              <a:solidFill>
                <a:srgbClr val="ffffff"/>
              </a:solidFill>
              <a:effectLst/>
              <a:uFillTx/>
              <a:latin typeface="Arial"/>
            </a:endParaRPr>
          </a:p>
        </p:txBody>
      </p:sp>
      <p:sp>
        <p:nvSpPr>
          <p:cNvPr id="20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RXT and station telemetry</a:t>
            </a:r>
            <a:endParaRPr b="0" lang="fr-FR" sz="3200" strike="noStrike" u="none">
              <a:solidFill>
                <a:srgbClr val="ffffff"/>
              </a:solidFill>
              <a:effectLst/>
              <a:uFillTx/>
              <a:latin typeface="Arial"/>
            </a:endParaRPr>
          </a:p>
        </p:txBody>
      </p:sp>
      <p:sp>
        <p:nvSpPr>
          <p:cNvPr id="20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RXT describes a hop. Telemetry describes the station.</a:t>
            </a:r>
            <a:endParaRPr b="0" lang="fr-FR" sz="2000" strike="noStrike" u="none">
              <a:solidFill>
                <a:srgbClr val="ffffff"/>
              </a:solidFill>
              <a:effectLst/>
              <a:uFillTx/>
              <a:latin typeface="Arial"/>
            </a:endParaRPr>
          </a:p>
        </p:txBody>
      </p:sp>
      <p:sp>
        <p:nvSpPr>
          <p:cNvPr id="20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src/telemetry_utils.cpp; docs/RXT.md</a:t>
            </a:r>
            <a:endParaRPr b="0" lang="fr-FR" sz="1000" strike="noStrike" u="none">
              <a:solidFill>
                <a:srgbClr val="ffffff"/>
              </a:solidFill>
              <a:effectLst/>
              <a:uFillTx/>
              <a:latin typeface="Arial"/>
            </a:endParaRPr>
          </a:p>
        </p:txBody>
      </p:sp>
      <p:sp>
        <p:nvSpPr>
          <p:cNvPr id="208" name=""/>
          <p:cNvSpPr/>
          <p:nvPr/>
        </p:nvSpPr>
        <p:spPr>
          <a:xfrm>
            <a:off x="360000" y="1584360"/>
            <a:ext cx="4571280" cy="2735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09" name=""/>
          <p:cNvSpPr/>
          <p:nvPr/>
        </p:nvSpPr>
        <p:spPr>
          <a:xfrm>
            <a:off x="540360" y="1696680"/>
            <a:ext cx="413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RXT</a:t>
            </a:r>
            <a:endParaRPr b="0" lang="fr-FR" sz="2200" strike="noStrike" u="none">
              <a:solidFill>
                <a:srgbClr val="ffffff"/>
              </a:solidFill>
              <a:effectLst/>
              <a:uFillTx/>
              <a:latin typeface="Arial"/>
            </a:endParaRPr>
          </a:p>
        </p:txBody>
      </p:sp>
      <p:sp>
        <p:nvSpPr>
          <p:cNvPr id="210" name=""/>
          <p:cNvSpPr/>
          <p:nvPr/>
        </p:nvSpPr>
        <p:spPr>
          <a:xfrm>
            <a:off x="540000" y="2340000"/>
            <a:ext cx="4103280" cy="1713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en-US" sz="2100" strike="noStrike" u="none">
                <a:solidFill>
                  <a:srgbClr val="f5f8fc"/>
                </a:solidFill>
                <a:effectLst/>
                <a:uFillTx/>
                <a:latin typeface="DejaVu Sans"/>
                <a:ea typeface="DejaVu Sans"/>
              </a:rPr>
              <a:t>One packet and one RF hop</a:t>
            </a:r>
            <a:endParaRPr b="0" lang="fr-FR" sz="2100" strike="noStrike" u="none">
              <a:solidFill>
                <a:srgbClr val="ffffff"/>
              </a:solidFill>
              <a:effectLst/>
              <a:uFillTx/>
              <a:latin typeface="Arial"/>
            </a:endParaRPr>
          </a:p>
          <a:p>
            <a:pPr>
              <a:lnSpc>
                <a:spcPct val="115000"/>
              </a:lnSpc>
              <a:spcAft>
                <a:spcPts val="794"/>
              </a:spcAft>
            </a:pPr>
            <a:r>
              <a:rPr b="0" lang="en-US" sz="2100" strike="noStrike" u="none">
                <a:solidFill>
                  <a:srgbClr val="f5f8fc"/>
                </a:solidFill>
                <a:effectLst/>
                <a:uFillTx/>
                <a:latin typeface="DejaVu Sans"/>
                <a:ea typeface="DejaVu Sans"/>
              </a:rPr>
              <a:t>RSSI, SNR, FO and TTH</a:t>
            </a:r>
            <a:endParaRPr b="0" lang="fr-FR" sz="2100" strike="noStrike" u="none">
              <a:solidFill>
                <a:srgbClr val="ffffff"/>
              </a:solidFill>
              <a:effectLst/>
              <a:uFillTx/>
              <a:latin typeface="Arial"/>
            </a:endParaRPr>
          </a:p>
          <a:p>
            <a:pPr>
              <a:lnSpc>
                <a:spcPct val="115000"/>
              </a:lnSpc>
              <a:spcAft>
                <a:spcPts val="794"/>
              </a:spcAft>
            </a:pPr>
            <a:r>
              <a:rPr b="0" lang="en-US" sz="2100" strike="noStrike" u="none">
                <a:solidFill>
                  <a:srgbClr val="f5f8fc"/>
                </a:solidFill>
                <a:effectLst/>
                <a:uFillTx/>
                <a:latin typeface="DejaVu Sans"/>
                <a:ea typeface="DejaVu Sans"/>
              </a:rPr>
              <a:t>How did the relay hear this packet?</a:t>
            </a:r>
            <a:endParaRPr b="0" lang="fr-FR" sz="2100" strike="noStrike" u="none">
              <a:solidFill>
                <a:srgbClr val="ffffff"/>
              </a:solidFill>
              <a:effectLst/>
              <a:uFillTx/>
              <a:latin typeface="Arial"/>
            </a:endParaRPr>
          </a:p>
        </p:txBody>
      </p:sp>
      <p:sp>
        <p:nvSpPr>
          <p:cNvPr id="211" name=""/>
          <p:cNvSpPr/>
          <p:nvPr/>
        </p:nvSpPr>
        <p:spPr>
          <a:xfrm>
            <a:off x="5148360" y="1584360"/>
            <a:ext cx="4571280" cy="273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12" name=""/>
          <p:cNvSpPr/>
          <p:nvPr/>
        </p:nvSpPr>
        <p:spPr>
          <a:xfrm>
            <a:off x="5364000" y="1696680"/>
            <a:ext cx="413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APRS TELEMETRY</a:t>
            </a:r>
            <a:endParaRPr b="0" lang="fr-FR" sz="2200" strike="noStrike" u="none">
              <a:solidFill>
                <a:srgbClr val="ffffff"/>
              </a:solidFill>
              <a:effectLst/>
              <a:uFillTx/>
              <a:latin typeface="Arial"/>
            </a:endParaRPr>
          </a:p>
        </p:txBody>
      </p:sp>
      <p:sp>
        <p:nvSpPr>
          <p:cNvPr id="213" name=""/>
          <p:cNvSpPr/>
          <p:nvPr/>
        </p:nvSpPr>
        <p:spPr>
          <a:xfrm>
            <a:off x="5400000" y="2245680"/>
            <a:ext cx="4103280" cy="1713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en-US" sz="2100" strike="noStrike" u="none">
                <a:solidFill>
                  <a:srgbClr val="f5f8fc"/>
                </a:solidFill>
                <a:effectLst/>
                <a:uFillTx/>
                <a:latin typeface="DejaVu Sans"/>
                <a:ea typeface="DejaVu Sans"/>
              </a:rPr>
              <a:t>Station health and activity</a:t>
            </a:r>
            <a:endParaRPr b="0" lang="fr-FR" sz="2100" strike="noStrike" u="none">
              <a:solidFill>
                <a:srgbClr val="ffffff"/>
              </a:solidFill>
              <a:effectLst/>
              <a:uFillTx/>
              <a:latin typeface="Arial"/>
            </a:endParaRPr>
          </a:p>
          <a:p>
            <a:pPr>
              <a:lnSpc>
                <a:spcPct val="115000"/>
              </a:lnSpc>
              <a:spcAft>
                <a:spcPts val="794"/>
              </a:spcAft>
            </a:pPr>
            <a:r>
              <a:rPr b="0" lang="en-US" sz="2100" strike="noStrike" u="none">
                <a:solidFill>
                  <a:srgbClr val="f5f8fc"/>
                </a:solidFill>
                <a:effectLst/>
                <a:uFillTx/>
                <a:latin typeface="DejaVu Sans"/>
                <a:ea typeface="DejaVu Sans"/>
              </a:rPr>
              <a:t>Voltages and rates in packets/hour</a:t>
            </a:r>
            <a:endParaRPr b="0" lang="fr-FR" sz="2100" strike="noStrike" u="none">
              <a:solidFill>
                <a:srgbClr val="ffffff"/>
              </a:solidFill>
              <a:effectLst/>
              <a:uFillTx/>
              <a:latin typeface="Arial"/>
            </a:endParaRPr>
          </a:p>
          <a:p>
            <a:pPr>
              <a:lnSpc>
                <a:spcPct val="115000"/>
              </a:lnSpc>
              <a:spcAft>
                <a:spcPts val="794"/>
              </a:spcAft>
            </a:pPr>
            <a:r>
              <a:rPr b="0" lang="en-US" sz="2100" strike="noStrike" u="none">
                <a:solidFill>
                  <a:srgbClr val="f5f8fc"/>
                </a:solidFill>
                <a:effectLst/>
                <a:uFillTx/>
                <a:latin typeface="DejaVu Sans"/>
                <a:ea typeface="DejaVu Sans"/>
              </a:rPr>
              <a:t>How active is the site?</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14"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15"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16"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17</a:t>
            </a:r>
            <a:endParaRPr b="0" lang="fr-FR" sz="1200" strike="noStrike" u="none">
              <a:solidFill>
                <a:srgbClr val="ffffff"/>
              </a:solidFill>
              <a:effectLst/>
              <a:uFillTx/>
              <a:latin typeface="Arial"/>
            </a:endParaRPr>
          </a:p>
        </p:txBody>
      </p:sp>
      <p:sp>
        <p:nvSpPr>
          <p:cNvPr id="217"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Telemetry in the WebUI</a:t>
            </a:r>
            <a:endParaRPr b="0" lang="fr-FR" sz="3200" strike="noStrike" u="none">
              <a:solidFill>
                <a:srgbClr val="ffffff"/>
              </a:solidFill>
              <a:effectLst/>
              <a:uFillTx/>
              <a:latin typeface="Arial"/>
            </a:endParaRPr>
          </a:p>
        </p:txBody>
      </p:sp>
      <p:sp>
        <p:nvSpPr>
          <p:cNvPr id="218"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Names and units make station reports readable.</a:t>
            </a:r>
            <a:endParaRPr b="0" lang="fr-FR" sz="2000" strike="noStrike" u="none">
              <a:solidFill>
                <a:srgbClr val="ffffff"/>
              </a:solidFill>
              <a:effectLst/>
              <a:uFillTx/>
              <a:latin typeface="Arial"/>
            </a:endParaRPr>
          </a:p>
        </p:txBody>
      </p:sp>
      <p:sp>
        <p:nvSpPr>
          <p:cNvPr id="219"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Historical screenshot, 23 September 2026; src/telemetry_utils.cpp; docs/RXT.md</a:t>
            </a:r>
            <a:endParaRPr b="0" lang="fr-FR" sz="1000" strike="noStrike" u="none">
              <a:solidFill>
                <a:srgbClr val="ffffff"/>
              </a:solidFill>
              <a:effectLst/>
              <a:uFillTx/>
              <a:latin typeface="Arial"/>
            </a:endParaRPr>
          </a:p>
        </p:txBody>
      </p:sp>
      <p:pic>
        <p:nvPicPr>
          <p:cNvPr id="220" name="" descr=""/>
          <p:cNvPicPr/>
          <p:nvPr/>
        </p:nvPicPr>
        <p:blipFill>
          <a:blip r:embed="rId1"/>
          <a:stretch/>
        </p:blipFill>
        <p:spPr>
          <a:xfrm>
            <a:off x="324000" y="1332000"/>
            <a:ext cx="9395280" cy="3095280"/>
          </a:xfrm>
          <a:prstGeom prst="rect">
            <a:avLst/>
          </a:prstGeom>
          <a:solidFill>
            <a:srgbClr val="193149"/>
          </a:solidFill>
          <a:ln w="7200">
            <a:noFill/>
          </a:ln>
        </p:spPr>
      </p:pic>
      <p:sp>
        <p:nvSpPr>
          <p:cNvPr id="221" name=""/>
          <p:cNvSpPr/>
          <p:nvPr/>
        </p:nvSpPr>
        <p:spPr>
          <a:xfrm>
            <a:off x="432000" y="4554000"/>
            <a:ext cx="9179280" cy="343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0" lang="en-US" sz="1500" strike="noStrike" u="none">
                <a:solidFill>
                  <a:srgbClr val="b8c9d5"/>
                </a:solidFill>
                <a:effectLst/>
                <a:uFillTx/>
                <a:latin typeface="DejaVu Sans"/>
                <a:ea typeface="DejaVu Sans"/>
              </a:rPr>
              <a:t>Rates describe activity. RelRate counts packets accepted into the relay queue.</a:t>
            </a:r>
            <a:endParaRPr b="0" lang="fr-FR" sz="15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2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2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2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18</a:t>
            </a:r>
            <a:endParaRPr b="0" lang="fr-FR" sz="1200" strike="noStrike" u="none">
              <a:solidFill>
                <a:srgbClr val="ffffff"/>
              </a:solidFill>
              <a:effectLst/>
              <a:uFillTx/>
              <a:latin typeface="Arial"/>
            </a:endParaRPr>
          </a:p>
        </p:txBody>
      </p:sp>
      <p:sp>
        <p:nvSpPr>
          <p:cNvPr id="22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The JSON reception stream</a:t>
            </a:r>
            <a:endParaRPr b="0" lang="fr-FR" sz="3200" strike="noStrike" u="none">
              <a:solidFill>
                <a:srgbClr val="ffffff"/>
              </a:solidFill>
              <a:effectLst/>
              <a:uFillTx/>
              <a:latin typeface="Arial"/>
            </a:endParaRPr>
          </a:p>
        </p:txBody>
      </p:sp>
      <p:sp>
        <p:nvSpPr>
          <p:cNvPr id="22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Each event associates packet bytes with their radio context.</a:t>
            </a:r>
            <a:endParaRPr b="0" lang="fr-FR" sz="2000" strike="noStrike" u="none">
              <a:solidFill>
                <a:srgbClr val="ffffff"/>
              </a:solidFill>
              <a:effectLst/>
              <a:uFillTx/>
              <a:latin typeface="Arial"/>
            </a:endParaRPr>
          </a:p>
        </p:txBody>
      </p:sp>
      <p:sp>
        <p:nvSpPr>
          <p:cNvPr id="22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src/aprs_json_utils.cpp; src/aprs_json_text.cpp; README.md</a:t>
            </a:r>
            <a:endParaRPr b="0" lang="fr-FR" sz="1000" strike="noStrike" u="none">
              <a:solidFill>
                <a:srgbClr val="ffffff"/>
              </a:solidFill>
              <a:effectLst/>
              <a:uFillTx/>
              <a:latin typeface="Arial"/>
            </a:endParaRPr>
          </a:p>
        </p:txBody>
      </p:sp>
      <p:sp>
        <p:nvSpPr>
          <p:cNvPr id="228" name=""/>
          <p:cNvSpPr/>
          <p:nvPr/>
        </p:nvSpPr>
        <p:spPr>
          <a:xfrm>
            <a:off x="360000" y="1440000"/>
            <a:ext cx="2987280" cy="2267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29" name=""/>
          <p:cNvSpPr/>
          <p:nvPr/>
        </p:nvSpPr>
        <p:spPr>
          <a:xfrm>
            <a:off x="522000" y="1674000"/>
            <a:ext cx="50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1</a:t>
            </a:r>
            <a:endParaRPr b="0" lang="fr-FR" sz="2800" strike="noStrike" u="none">
              <a:solidFill>
                <a:srgbClr val="ffffff"/>
              </a:solidFill>
              <a:effectLst/>
              <a:uFillTx/>
              <a:latin typeface="Arial"/>
            </a:endParaRPr>
          </a:p>
        </p:txBody>
      </p:sp>
      <p:sp>
        <p:nvSpPr>
          <p:cNvPr id="230" name=""/>
          <p:cNvSpPr/>
          <p:nvPr/>
        </p:nvSpPr>
        <p:spPr>
          <a:xfrm>
            <a:off x="522000" y="2070000"/>
            <a:ext cx="26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Exact bytes</a:t>
            </a:r>
            <a:endParaRPr b="0" lang="fr-FR" sz="2200" strike="noStrike" u="none">
              <a:solidFill>
                <a:srgbClr val="ffffff"/>
              </a:solidFill>
              <a:effectLst/>
              <a:uFillTx/>
              <a:latin typeface="Arial"/>
            </a:endParaRPr>
          </a:p>
        </p:txBody>
      </p:sp>
      <p:sp>
        <p:nvSpPr>
          <p:cNvPr id="231" name=""/>
          <p:cNvSpPr/>
          <p:nvPr/>
        </p:nvSpPr>
        <p:spPr>
          <a:xfrm>
            <a:off x="522000" y="2520000"/>
            <a:ext cx="2591280" cy="8103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Base64, including</a:t>
            </a:r>
            <a:endParaRPr b="0" lang="fr-FR" sz="1800" strike="noStrike" u="none">
              <a:solidFill>
                <a:srgbClr val="ffffff"/>
              </a:solidFill>
              <a:effectLst/>
              <a:uFillTx/>
              <a:latin typeface="Arial"/>
            </a:endParaRPr>
          </a:p>
          <a:p>
            <a:pPr>
              <a:lnSpc>
                <a:spcPct val="115000"/>
              </a:lnSpc>
              <a:spcAft>
                <a:spcPts val="709"/>
              </a:spcAft>
            </a:pPr>
            <a:r>
              <a:rPr b="0" lang="en-US" sz="1800" strike="noStrike" u="none">
                <a:solidFill>
                  <a:srgbClr val="f5f8fc"/>
                </a:solidFill>
                <a:effectLst/>
                <a:uFillTx/>
                <a:latin typeface="DejaVu Sans"/>
                <a:ea typeface="DejaVu Sans"/>
              </a:rPr>
              <a:t>Mic-E data</a:t>
            </a:r>
            <a:endParaRPr b="0" lang="fr-FR" sz="1800" strike="noStrike" u="none">
              <a:solidFill>
                <a:srgbClr val="ffffff"/>
              </a:solidFill>
              <a:effectLst/>
              <a:uFillTx/>
              <a:latin typeface="Arial"/>
            </a:endParaRPr>
          </a:p>
        </p:txBody>
      </p:sp>
      <p:sp>
        <p:nvSpPr>
          <p:cNvPr id="232" name=""/>
          <p:cNvSpPr/>
          <p:nvPr/>
        </p:nvSpPr>
        <p:spPr>
          <a:xfrm>
            <a:off x="3528000" y="1440000"/>
            <a:ext cx="2987280" cy="2267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33" name=""/>
          <p:cNvSpPr/>
          <p:nvPr/>
        </p:nvSpPr>
        <p:spPr>
          <a:xfrm>
            <a:off x="3690000" y="1674000"/>
            <a:ext cx="50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2</a:t>
            </a:r>
            <a:endParaRPr b="0" lang="fr-FR" sz="2800" strike="noStrike" u="none">
              <a:solidFill>
                <a:srgbClr val="ffffff"/>
              </a:solidFill>
              <a:effectLst/>
              <a:uFillTx/>
              <a:latin typeface="Arial"/>
            </a:endParaRPr>
          </a:p>
        </p:txBody>
      </p:sp>
      <p:sp>
        <p:nvSpPr>
          <p:cNvPr id="234" name=""/>
          <p:cNvSpPr/>
          <p:nvPr/>
        </p:nvSpPr>
        <p:spPr>
          <a:xfrm>
            <a:off x="3690000" y="2070000"/>
            <a:ext cx="26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RF context</a:t>
            </a:r>
            <a:endParaRPr b="0" lang="fr-FR" sz="2200" strike="noStrike" u="none">
              <a:solidFill>
                <a:srgbClr val="ffffff"/>
              </a:solidFill>
              <a:effectLst/>
              <a:uFillTx/>
              <a:latin typeface="Arial"/>
            </a:endParaRPr>
          </a:p>
        </p:txBody>
      </p:sp>
      <p:sp>
        <p:nvSpPr>
          <p:cNvPr id="235" name=""/>
          <p:cNvSpPr/>
          <p:nvPr/>
        </p:nvSpPr>
        <p:spPr>
          <a:xfrm>
            <a:off x="3690000" y="2520000"/>
            <a:ext cx="2591280" cy="64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Local reception and RXT hops</a:t>
            </a:r>
            <a:endParaRPr b="0" lang="fr-FR" sz="1800" strike="noStrike" u="none">
              <a:solidFill>
                <a:srgbClr val="ffffff"/>
              </a:solidFill>
              <a:effectLst/>
              <a:uFillTx/>
              <a:latin typeface="Arial"/>
            </a:endParaRPr>
          </a:p>
        </p:txBody>
      </p:sp>
      <p:sp>
        <p:nvSpPr>
          <p:cNvPr id="236" name=""/>
          <p:cNvSpPr/>
          <p:nvPr/>
        </p:nvSpPr>
        <p:spPr>
          <a:xfrm>
            <a:off x="6696000" y="1440000"/>
            <a:ext cx="2987280" cy="2267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37" name=""/>
          <p:cNvSpPr/>
          <p:nvPr/>
        </p:nvSpPr>
        <p:spPr>
          <a:xfrm>
            <a:off x="6858000" y="1674000"/>
            <a:ext cx="50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3</a:t>
            </a:r>
            <a:endParaRPr b="0" lang="fr-FR" sz="2800" strike="noStrike" u="none">
              <a:solidFill>
                <a:srgbClr val="ffffff"/>
              </a:solidFill>
              <a:effectLst/>
              <a:uFillTx/>
              <a:latin typeface="Arial"/>
            </a:endParaRPr>
          </a:p>
        </p:txBody>
      </p:sp>
      <p:sp>
        <p:nvSpPr>
          <p:cNvPr id="238" name=""/>
          <p:cNvSpPr/>
          <p:nvPr/>
        </p:nvSpPr>
        <p:spPr>
          <a:xfrm>
            <a:off x="6858000" y="2070000"/>
            <a:ext cx="26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Reconnect</a:t>
            </a:r>
            <a:endParaRPr b="0" lang="fr-FR" sz="2200" strike="noStrike" u="none">
              <a:solidFill>
                <a:srgbClr val="ffffff"/>
              </a:solidFill>
              <a:effectLst/>
              <a:uFillTx/>
              <a:latin typeface="Arial"/>
            </a:endParaRPr>
          </a:p>
        </p:txBody>
      </p:sp>
      <p:sp>
        <p:nvSpPr>
          <p:cNvPr id="239" name=""/>
          <p:cNvSpPr/>
          <p:nvPr/>
        </p:nvSpPr>
        <p:spPr>
          <a:xfrm>
            <a:off x="6858000" y="2520000"/>
            <a:ext cx="2591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Bounded replay using a cursor</a:t>
            </a:r>
            <a:endParaRPr b="0" lang="fr-FR" sz="1800" strike="noStrike" u="none">
              <a:solidFill>
                <a:srgbClr val="ffffff"/>
              </a:solidFill>
              <a:effectLst/>
              <a:uFillTx/>
              <a:latin typeface="Arial"/>
            </a:endParaRPr>
          </a:p>
        </p:txBody>
      </p:sp>
      <p:sp>
        <p:nvSpPr>
          <p:cNvPr id="240" name=""/>
          <p:cNvSpPr/>
          <p:nvPr/>
        </p:nvSpPr>
        <p:spPr>
          <a:xfrm>
            <a:off x="792000" y="3960000"/>
            <a:ext cx="8495280" cy="107964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41" name=""/>
          <p:cNvSpPr/>
          <p:nvPr/>
        </p:nvSpPr>
        <p:spPr>
          <a:xfrm>
            <a:off x="1008000" y="4086000"/>
            <a:ext cx="8099280" cy="80100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en-US" sz="2100" strike="noStrike" u="none">
                <a:solidFill>
                  <a:srgbClr val="f5f8fc"/>
                </a:solidFill>
                <a:effectLst/>
                <a:uFillTx/>
                <a:latin typeface="DejaVu Sans"/>
                <a:ea typeface="DejaVu Sans"/>
              </a:rPr>
              <a:t>Ten events in memory. A gap event reports when replay cannot satisfy the cursor.</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4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4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4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19</a:t>
            </a:r>
            <a:endParaRPr b="0" lang="fr-FR" sz="1200" strike="noStrike" u="none">
              <a:solidFill>
                <a:srgbClr val="ffffff"/>
              </a:solidFill>
              <a:effectLst/>
              <a:uFillTx/>
              <a:latin typeface="Arial"/>
            </a:endParaRPr>
          </a:p>
        </p:txBody>
      </p:sp>
      <p:sp>
        <p:nvSpPr>
          <p:cNvPr id="24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What Graywolf uses</a:t>
            </a:r>
            <a:endParaRPr b="0" lang="fr-FR" sz="3200" strike="noStrike" u="none">
              <a:solidFill>
                <a:srgbClr val="ffffff"/>
              </a:solidFill>
              <a:effectLst/>
              <a:uFillTx/>
              <a:latin typeface="Arial"/>
            </a:endParaRPr>
          </a:p>
        </p:txBody>
      </p:sp>
      <p:sp>
        <p:nvSpPr>
          <p:cNvPr id="24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The JSON stream feeds the packet log and measured links.</a:t>
            </a:r>
            <a:endParaRPr b="0" lang="fr-FR" sz="2000" strike="noStrike" u="none">
              <a:solidFill>
                <a:srgbClr val="ffffff"/>
              </a:solidFill>
              <a:effectLst/>
              <a:uFillTx/>
              <a:latin typeface="Arial"/>
            </a:endParaRPr>
          </a:p>
        </p:txBody>
      </p:sp>
      <p:sp>
        <p:nvSpPr>
          <p:cNvPr id="24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 Graywolf docs/wiki/rxt-telemetry.md, local graywolf-rxt checkout</a:t>
            </a:r>
            <a:endParaRPr b="0" lang="fr-FR" sz="1000" strike="noStrike" u="none">
              <a:solidFill>
                <a:srgbClr val="ffffff"/>
              </a:solidFill>
              <a:effectLst/>
              <a:uFillTx/>
              <a:latin typeface="Arial"/>
            </a:endParaRPr>
          </a:p>
        </p:txBody>
      </p:sp>
      <p:sp>
        <p:nvSpPr>
          <p:cNvPr id="248" name=""/>
          <p:cNvSpPr/>
          <p:nvPr/>
        </p:nvSpPr>
        <p:spPr>
          <a:xfrm>
            <a:off x="360000" y="1476000"/>
            <a:ext cx="2987280" cy="233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49" name=""/>
          <p:cNvSpPr/>
          <p:nvPr/>
        </p:nvSpPr>
        <p:spPr>
          <a:xfrm>
            <a:off x="522000" y="1728000"/>
            <a:ext cx="266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PACKET LOG</a:t>
            </a:r>
            <a:endParaRPr b="0" lang="fr-FR" sz="2200" strike="noStrike" u="none">
              <a:solidFill>
                <a:srgbClr val="ffffff"/>
              </a:solidFill>
              <a:effectLst/>
              <a:uFillTx/>
              <a:latin typeface="Arial"/>
            </a:endParaRPr>
          </a:p>
        </p:txBody>
      </p:sp>
      <p:sp>
        <p:nvSpPr>
          <p:cNvPr id="250" name=""/>
          <p:cNvSpPr/>
          <p:nvPr/>
        </p:nvSpPr>
        <p:spPr>
          <a:xfrm>
            <a:off x="522000" y="2232000"/>
            <a:ext cx="2591280" cy="10944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Preserved bytes</a:t>
            </a:r>
            <a:endParaRPr b="0" lang="fr-FR" sz="1800" strike="noStrike" u="none">
              <a:solidFill>
                <a:srgbClr val="ffffff"/>
              </a:solidFill>
              <a:effectLst/>
              <a:uFillTx/>
              <a:latin typeface="Arial"/>
            </a:endParaRPr>
          </a:p>
          <a:p>
            <a:pPr>
              <a:lnSpc>
                <a:spcPct val="115000"/>
              </a:lnSpc>
              <a:spcAft>
                <a:spcPts val="709"/>
              </a:spcAft>
            </a:pPr>
            <a:r>
              <a:rPr b="0" lang="en-US" sz="1800" strike="noStrike" u="none">
                <a:solidFill>
                  <a:srgbClr val="f5f8fc"/>
                </a:solidFill>
                <a:effectLst/>
                <a:uFillTx/>
                <a:latin typeface="DejaVu Sans"/>
                <a:ea typeface="DejaVu Sans"/>
              </a:rPr>
              <a:t>APRS decoding when possible</a:t>
            </a:r>
            <a:endParaRPr b="0" lang="fr-FR" sz="1800" strike="noStrike" u="none">
              <a:solidFill>
                <a:srgbClr val="ffffff"/>
              </a:solidFill>
              <a:effectLst/>
              <a:uFillTx/>
              <a:latin typeface="Arial"/>
            </a:endParaRPr>
          </a:p>
        </p:txBody>
      </p:sp>
      <p:sp>
        <p:nvSpPr>
          <p:cNvPr id="251" name=""/>
          <p:cNvSpPr/>
          <p:nvPr/>
        </p:nvSpPr>
        <p:spPr>
          <a:xfrm>
            <a:off x="3528000" y="1476000"/>
            <a:ext cx="2987280" cy="233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52" name=""/>
          <p:cNvSpPr/>
          <p:nvPr/>
        </p:nvSpPr>
        <p:spPr>
          <a:xfrm>
            <a:off x="3690000" y="1728000"/>
            <a:ext cx="266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MAP</a:t>
            </a:r>
            <a:endParaRPr b="0" lang="fr-FR" sz="2200" strike="noStrike" u="none">
              <a:solidFill>
                <a:srgbClr val="ffffff"/>
              </a:solidFill>
              <a:effectLst/>
              <a:uFillTx/>
              <a:latin typeface="Arial"/>
            </a:endParaRPr>
          </a:p>
        </p:txBody>
      </p:sp>
      <p:sp>
        <p:nvSpPr>
          <p:cNvPr id="253" name=""/>
          <p:cNvSpPr/>
          <p:nvPr/>
        </p:nvSpPr>
        <p:spPr>
          <a:xfrm>
            <a:off x="3690000" y="2232000"/>
            <a:ext cx="2591280" cy="89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Known positions</a:t>
            </a:r>
            <a:endParaRPr b="0" lang="fr-FR" sz="1800" strike="noStrike" u="none">
              <a:solidFill>
                <a:srgbClr val="ffffff"/>
              </a:solidFill>
              <a:effectLst/>
              <a:uFillTx/>
              <a:latin typeface="Arial"/>
            </a:endParaRPr>
          </a:p>
          <a:p>
            <a:pPr>
              <a:lnSpc>
                <a:spcPct val="115000"/>
              </a:lnSpc>
              <a:spcAft>
                <a:spcPts val="709"/>
              </a:spcAft>
            </a:pPr>
            <a:r>
              <a:rPr b="0" lang="en-US" sz="1800" strike="noStrike" u="none">
                <a:solidFill>
                  <a:srgbClr val="f5f8fc"/>
                </a:solidFill>
                <a:effectLst/>
                <a:uFillTx/>
                <a:latin typeface="DejaVu Sans"/>
                <a:ea typeface="DejaVu Sans"/>
              </a:rPr>
              <a:t>Preserved identities</a:t>
            </a:r>
            <a:endParaRPr b="0" lang="fr-FR" sz="1800" strike="noStrike" u="none">
              <a:solidFill>
                <a:srgbClr val="ffffff"/>
              </a:solidFill>
              <a:effectLst/>
              <a:uFillTx/>
              <a:latin typeface="Arial"/>
            </a:endParaRPr>
          </a:p>
        </p:txBody>
      </p:sp>
      <p:sp>
        <p:nvSpPr>
          <p:cNvPr id="254" name=""/>
          <p:cNvSpPr/>
          <p:nvPr/>
        </p:nvSpPr>
        <p:spPr>
          <a:xfrm>
            <a:off x="6696000" y="1476000"/>
            <a:ext cx="2987280" cy="233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55" name=""/>
          <p:cNvSpPr/>
          <p:nvPr/>
        </p:nvSpPr>
        <p:spPr>
          <a:xfrm>
            <a:off x="6858000" y="1728000"/>
            <a:ext cx="266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RXT LINKS</a:t>
            </a:r>
            <a:endParaRPr b="0" lang="fr-FR" sz="2200" strike="noStrike" u="none">
              <a:solidFill>
                <a:srgbClr val="ffffff"/>
              </a:solidFill>
              <a:effectLst/>
              <a:uFillTx/>
              <a:latin typeface="Arial"/>
            </a:endParaRPr>
          </a:p>
        </p:txBody>
      </p:sp>
      <p:sp>
        <p:nvSpPr>
          <p:cNvPr id="256" name=""/>
          <p:cNvSpPr/>
          <p:nvPr/>
        </p:nvSpPr>
        <p:spPr>
          <a:xfrm>
            <a:off x="6858000" y="2232000"/>
            <a:ext cx="2591280" cy="89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800" strike="noStrike" u="none">
                <a:solidFill>
                  <a:srgbClr val="f5f8fc"/>
                </a:solidFill>
                <a:effectLst/>
                <a:uFillTx/>
                <a:latin typeface="DejaVu Sans"/>
                <a:ea typeface="DejaVu Sans"/>
              </a:rPr>
              <a:t>Measurements per link</a:t>
            </a:r>
            <a:endParaRPr b="0" lang="fr-FR" sz="1800" strike="noStrike" u="none">
              <a:solidFill>
                <a:srgbClr val="ffffff"/>
              </a:solidFill>
              <a:effectLst/>
              <a:uFillTx/>
              <a:latin typeface="Arial"/>
            </a:endParaRPr>
          </a:p>
          <a:p>
            <a:pPr>
              <a:lnSpc>
                <a:spcPct val="115000"/>
              </a:lnSpc>
              <a:spcAft>
                <a:spcPts val="709"/>
              </a:spcAft>
            </a:pPr>
            <a:r>
              <a:rPr b="0" lang="en-US" sz="1800" strike="noStrike" u="none">
                <a:solidFill>
                  <a:srgbClr val="f5f8fc"/>
                </a:solidFill>
                <a:effectLst/>
                <a:uFillTx/>
                <a:latin typeface="DejaVu Sans"/>
                <a:ea typeface="DejaVu Sans"/>
              </a:rPr>
              <a:t>Recent history</a:t>
            </a:r>
            <a:endParaRPr b="0" lang="fr-FR"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5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5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5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20</a:t>
            </a:r>
            <a:endParaRPr b="0" lang="fr-FR" sz="1200" strike="noStrike" u="none">
              <a:solidFill>
                <a:srgbClr val="ffffff"/>
              </a:solidFill>
              <a:effectLst/>
              <a:uFillTx/>
              <a:latin typeface="Arial"/>
            </a:endParaRPr>
          </a:p>
        </p:txBody>
      </p:sp>
      <p:sp>
        <p:nvSpPr>
          <p:cNvPr id="26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Direct TNC2 in Graywolf</a:t>
            </a:r>
            <a:endParaRPr b="0" lang="fr-FR" sz="3200" strike="noStrike" u="none">
              <a:solidFill>
                <a:srgbClr val="ffffff"/>
              </a:solidFill>
              <a:effectLst/>
              <a:uFillTx/>
              <a:latin typeface="Arial"/>
            </a:endParaRPr>
          </a:p>
        </p:txBody>
      </p:sp>
      <p:sp>
        <p:nvSpPr>
          <p:cNvPr id="261"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Reception and transmit permission are configured separately.</a:t>
            </a:r>
            <a:endParaRPr b="0" lang="fr-FR" sz="2000" strike="noStrike" u="none">
              <a:solidFill>
                <a:srgbClr val="ffffff"/>
              </a:solidFill>
              <a:effectLst/>
              <a:uFillTx/>
              <a:latin typeface="Arial"/>
            </a:endParaRPr>
          </a:p>
        </p:txBody>
      </p:sp>
      <p:sp>
        <p:nvSpPr>
          <p:cNvPr id="26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 Graywolf docs/wiki/lora-tnc2-transceiver.md; src/tnc_utils.cpp</a:t>
            </a:r>
            <a:endParaRPr b="0" lang="fr-FR" sz="1000" strike="noStrike" u="none">
              <a:solidFill>
                <a:srgbClr val="ffffff"/>
              </a:solidFill>
              <a:effectLst/>
              <a:uFillTx/>
              <a:latin typeface="Arial"/>
            </a:endParaRPr>
          </a:p>
        </p:txBody>
      </p:sp>
      <p:sp>
        <p:nvSpPr>
          <p:cNvPr id="263" name=""/>
          <p:cNvSpPr/>
          <p:nvPr/>
        </p:nvSpPr>
        <p:spPr>
          <a:xfrm>
            <a:off x="360000" y="1440000"/>
            <a:ext cx="4535280" cy="18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64" name=""/>
          <p:cNvSpPr/>
          <p:nvPr/>
        </p:nvSpPr>
        <p:spPr>
          <a:xfrm>
            <a:off x="612000" y="1692000"/>
            <a:ext cx="406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TNC2 RECEPTION</a:t>
            </a:r>
            <a:endParaRPr b="0" lang="fr-FR" sz="2200" strike="noStrike" u="none">
              <a:solidFill>
                <a:srgbClr val="ffffff"/>
              </a:solidFill>
              <a:effectLst/>
              <a:uFillTx/>
              <a:latin typeface="Arial"/>
            </a:endParaRPr>
          </a:p>
        </p:txBody>
      </p:sp>
      <p:sp>
        <p:nvSpPr>
          <p:cNvPr id="265" name=""/>
          <p:cNvSpPr/>
          <p:nvPr/>
        </p:nvSpPr>
        <p:spPr>
          <a:xfrm>
            <a:off x="612000" y="2160000"/>
            <a:ext cx="4031280" cy="75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TCP and serial</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Persistent settings</a:t>
            </a:r>
            <a:endParaRPr b="0" lang="fr-FR" sz="1700" strike="noStrike" u="none">
              <a:solidFill>
                <a:srgbClr val="ffffff"/>
              </a:solidFill>
              <a:effectLst/>
              <a:uFillTx/>
              <a:latin typeface="Arial"/>
            </a:endParaRPr>
          </a:p>
        </p:txBody>
      </p:sp>
      <p:sp>
        <p:nvSpPr>
          <p:cNvPr id="266" name=""/>
          <p:cNvSpPr/>
          <p:nvPr/>
        </p:nvSpPr>
        <p:spPr>
          <a:xfrm>
            <a:off x="5148000" y="1440000"/>
            <a:ext cx="4535280" cy="1871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67" name=""/>
          <p:cNvSpPr/>
          <p:nvPr/>
        </p:nvSpPr>
        <p:spPr>
          <a:xfrm>
            <a:off x="5400000" y="1692000"/>
            <a:ext cx="403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AUTHORIZED TX</a:t>
            </a:r>
            <a:endParaRPr b="0" lang="fr-FR" sz="2200" strike="noStrike" u="none">
              <a:solidFill>
                <a:srgbClr val="ffffff"/>
              </a:solidFill>
              <a:effectLst/>
              <a:uFillTx/>
              <a:latin typeface="Arial"/>
            </a:endParaRPr>
          </a:p>
        </p:txBody>
      </p:sp>
      <p:sp>
        <p:nvSpPr>
          <p:cNvPr id="268" name=""/>
          <p:cNvSpPr/>
          <p:nvPr/>
        </p:nvSpPr>
        <p:spPr>
          <a:xfrm>
            <a:off x="5400000" y="2160000"/>
            <a:ext cx="3995280" cy="9270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One transport, source and channel</a:t>
            </a:r>
            <a:endParaRPr b="0" lang="fr-FR" sz="1700" strike="noStrike" u="none">
              <a:solidFill>
                <a:srgbClr val="ffffff"/>
              </a:solidFill>
              <a:effectLst/>
              <a:uFillTx/>
              <a:latin typeface="Arial"/>
            </a:endParaRPr>
          </a:p>
          <a:p>
            <a:pPr>
              <a:lnSpc>
                <a:spcPct val="115000"/>
              </a:lnSpc>
              <a:spcBef>
                <a:spcPts val="1191"/>
              </a:spcBef>
              <a:spcAft>
                <a:spcPts val="992"/>
              </a:spcAft>
            </a:pPr>
            <a:r>
              <a:rPr b="0" lang="en-US" sz="1700" strike="noStrike" u="none">
                <a:solidFill>
                  <a:srgbClr val="f5f8fc"/>
                </a:solidFill>
                <a:effectLst/>
                <a:uFillTx/>
                <a:latin typeface="DejaVu Sans"/>
                <a:ea typeface="DejaVu Sans"/>
              </a:rPr>
              <a:t>TNC packet-size limit</a:t>
            </a:r>
            <a:endParaRPr b="0" lang="fr-FR" sz="1700" strike="noStrike" u="none">
              <a:solidFill>
                <a:srgbClr val="ffffff"/>
              </a:solidFill>
              <a:effectLst/>
              <a:uFillTx/>
              <a:latin typeface="Arial"/>
            </a:endParaRPr>
          </a:p>
        </p:txBody>
      </p:sp>
      <p:sp>
        <p:nvSpPr>
          <p:cNvPr id="269" name=""/>
          <p:cNvSpPr/>
          <p:nvPr/>
        </p:nvSpPr>
        <p:spPr>
          <a:xfrm>
            <a:off x="756000" y="3780000"/>
            <a:ext cx="8567280" cy="755280"/>
          </a:xfrm>
          <a:prstGeom prst="roundRect">
            <a:avLst>
              <a:gd name="adj" fmla="val 16667"/>
            </a:avLst>
          </a:prstGeom>
          <a:solidFill>
            <a:srgbClr val="ffd18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70" name=""/>
          <p:cNvSpPr/>
          <p:nvPr/>
        </p:nvSpPr>
        <p:spPr>
          <a:xfrm>
            <a:off x="900000" y="3805200"/>
            <a:ext cx="8279280" cy="66780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en-US" sz="1700" strike="noStrike" u="none">
                <a:solidFill>
                  <a:srgbClr val="102033"/>
                </a:solidFill>
                <a:effectLst/>
                <a:uFillTx/>
                <a:latin typeface="DejaVu Sans"/>
                <a:ea typeface="DejaVu Sans"/>
              </a:rPr>
              <a:t>Messages, retries and beacons use the authorized TNC2 channel</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7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7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7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21</a:t>
            </a:r>
            <a:endParaRPr b="0" lang="fr-FR" sz="1200" strike="noStrike" u="none">
              <a:solidFill>
                <a:srgbClr val="ffffff"/>
              </a:solidFill>
              <a:effectLst/>
              <a:uFillTx/>
              <a:latin typeface="Arial"/>
            </a:endParaRPr>
          </a:p>
        </p:txBody>
      </p:sp>
      <p:sp>
        <p:nvSpPr>
          <p:cNvPr id="274" name=""/>
          <p:cNvSpPr/>
          <p:nvPr/>
        </p:nvSpPr>
        <p:spPr>
          <a:xfrm>
            <a:off x="324000" y="388800"/>
            <a:ext cx="9323280" cy="65124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1" lang="en-US" sz="3200" strike="noStrike" u="none">
                <a:solidFill>
                  <a:srgbClr val="f5f8fc"/>
                </a:solidFill>
                <a:effectLst/>
                <a:uFillTx/>
                <a:latin typeface="DejaVu Sans"/>
                <a:ea typeface="DejaVu Sans"/>
              </a:rPr>
              <a:t>Exchanges in both directions</a:t>
            </a:r>
            <a:endParaRPr b="0" lang="fr-FR" sz="3200" strike="noStrike" u="none">
              <a:solidFill>
                <a:srgbClr val="ffffff"/>
              </a:solidFill>
              <a:effectLst/>
              <a:uFillTx/>
              <a:latin typeface="Arial"/>
            </a:endParaRPr>
          </a:p>
        </p:txBody>
      </p:sp>
      <p:sp>
        <p:nvSpPr>
          <p:cNvPr id="275" name=""/>
          <p:cNvSpPr/>
          <p:nvPr/>
        </p:nvSpPr>
        <p:spPr>
          <a:xfrm>
            <a:off x="324000" y="882000"/>
            <a:ext cx="9323280" cy="44100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en-US" sz="2000" strike="noStrike" u="none">
                <a:solidFill>
                  <a:srgbClr val="b8c9d5"/>
                </a:solidFill>
                <a:effectLst/>
                <a:uFillTx/>
                <a:latin typeface="DejaVu Sans"/>
                <a:ea typeface="DejaVu Sans"/>
              </a:rPr>
              <a:t>Exchanges over TNC2. Reception measurements over JSON.</a:t>
            </a:r>
            <a:endParaRPr b="0" lang="fr-FR" sz="2000" strike="noStrike" u="none">
              <a:solidFill>
                <a:srgbClr val="ffffff"/>
              </a:solidFill>
              <a:effectLst/>
              <a:uFillTx/>
              <a:latin typeface="Arial"/>
            </a:endParaRPr>
          </a:p>
        </p:txBody>
      </p:sp>
      <p:sp>
        <p:nvSpPr>
          <p:cNvPr id="27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src/tnc_utils.cpp; src/aprs_json_utils.cpp; Graywolf TNC2 guide</a:t>
            </a:r>
            <a:endParaRPr b="0" lang="fr-FR" sz="1000" strike="noStrike" u="none">
              <a:solidFill>
                <a:srgbClr val="ffffff"/>
              </a:solidFill>
              <a:effectLst/>
              <a:uFillTx/>
              <a:latin typeface="Arial"/>
            </a:endParaRPr>
          </a:p>
        </p:txBody>
      </p:sp>
      <p:sp>
        <p:nvSpPr>
          <p:cNvPr id="277" name=""/>
          <p:cNvSpPr/>
          <p:nvPr/>
        </p:nvSpPr>
        <p:spPr>
          <a:xfrm>
            <a:off x="360360" y="1620000"/>
            <a:ext cx="2699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78" name=""/>
          <p:cNvSpPr/>
          <p:nvPr/>
        </p:nvSpPr>
        <p:spPr>
          <a:xfrm>
            <a:off x="504000" y="1674000"/>
            <a:ext cx="241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GRAYWOLF</a:t>
            </a:r>
            <a:endParaRPr b="0" lang="fr-FR" sz="2200" strike="noStrike" u="none">
              <a:solidFill>
                <a:srgbClr val="ffffff"/>
              </a:solidFill>
              <a:effectLst/>
              <a:uFillTx/>
              <a:latin typeface="Arial"/>
            </a:endParaRPr>
          </a:p>
        </p:txBody>
      </p:sp>
      <p:sp>
        <p:nvSpPr>
          <p:cNvPr id="279" name=""/>
          <p:cNvSpPr/>
          <p:nvPr/>
        </p:nvSpPr>
        <p:spPr>
          <a:xfrm>
            <a:off x="504000" y="2106000"/>
            <a:ext cx="2411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messages and retries</a:t>
            </a:r>
            <a:endParaRPr b="0" lang="fr-FR" sz="1700" strike="noStrike" u="none">
              <a:solidFill>
                <a:srgbClr val="ffffff"/>
              </a:solidFill>
              <a:effectLst/>
              <a:uFillTx/>
              <a:latin typeface="Arial"/>
            </a:endParaRPr>
          </a:p>
        </p:txBody>
      </p:sp>
      <p:sp>
        <p:nvSpPr>
          <p:cNvPr id="280" name=""/>
          <p:cNvSpPr/>
          <p:nvPr/>
        </p:nvSpPr>
        <p:spPr>
          <a:xfrm>
            <a:off x="3690000" y="1620000"/>
            <a:ext cx="2699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81" name=""/>
          <p:cNvSpPr/>
          <p:nvPr/>
        </p:nvSpPr>
        <p:spPr>
          <a:xfrm>
            <a:off x="3834000" y="1674000"/>
            <a:ext cx="241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TNC2 RADIO</a:t>
            </a:r>
            <a:endParaRPr b="0" lang="fr-FR" sz="2200" strike="noStrike" u="none">
              <a:solidFill>
                <a:srgbClr val="ffffff"/>
              </a:solidFill>
              <a:effectLst/>
              <a:uFillTx/>
              <a:latin typeface="Arial"/>
            </a:endParaRPr>
          </a:p>
        </p:txBody>
      </p:sp>
      <p:sp>
        <p:nvSpPr>
          <p:cNvPr id="282" name=""/>
          <p:cNvSpPr/>
          <p:nvPr/>
        </p:nvSpPr>
        <p:spPr>
          <a:xfrm>
            <a:off x="3834000" y="2106000"/>
            <a:ext cx="241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iGate radio interface</a:t>
            </a:r>
            <a:endParaRPr b="0" lang="fr-FR" sz="1700" strike="noStrike" u="none">
              <a:solidFill>
                <a:srgbClr val="ffffff"/>
              </a:solidFill>
              <a:effectLst/>
              <a:uFillTx/>
              <a:latin typeface="Arial"/>
            </a:endParaRPr>
          </a:p>
        </p:txBody>
      </p:sp>
      <p:sp>
        <p:nvSpPr>
          <p:cNvPr id="283" name=""/>
          <p:cNvSpPr/>
          <p:nvPr/>
        </p:nvSpPr>
        <p:spPr>
          <a:xfrm>
            <a:off x="7020360" y="1620000"/>
            <a:ext cx="2699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84" name=""/>
          <p:cNvSpPr/>
          <p:nvPr/>
        </p:nvSpPr>
        <p:spPr>
          <a:xfrm>
            <a:off x="7164000" y="1674000"/>
            <a:ext cx="241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LoRa RF</a:t>
            </a:r>
            <a:endParaRPr b="0" lang="fr-FR" sz="2200" strike="noStrike" u="none">
              <a:solidFill>
                <a:srgbClr val="ffffff"/>
              </a:solidFill>
              <a:effectLst/>
              <a:uFillTx/>
              <a:latin typeface="Arial"/>
            </a:endParaRPr>
          </a:p>
        </p:txBody>
      </p:sp>
      <p:sp>
        <p:nvSpPr>
          <p:cNvPr id="285" name=""/>
          <p:cNvSpPr/>
          <p:nvPr/>
        </p:nvSpPr>
        <p:spPr>
          <a:xfrm>
            <a:off x="7164000" y="2106000"/>
            <a:ext cx="2411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stations and relays</a:t>
            </a:r>
            <a:endParaRPr b="0" lang="fr-FR" sz="1700" strike="noStrike" u="none">
              <a:solidFill>
                <a:srgbClr val="ffffff"/>
              </a:solidFill>
              <a:effectLst/>
              <a:uFillTx/>
              <a:latin typeface="Arial"/>
            </a:endParaRPr>
          </a:p>
        </p:txBody>
      </p:sp>
      <p:sp>
        <p:nvSpPr>
          <p:cNvPr id="286" name=""/>
          <p:cNvSpPr/>
          <p:nvPr/>
        </p:nvSpPr>
        <p:spPr>
          <a:xfrm>
            <a:off x="3096000" y="1980000"/>
            <a:ext cx="575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287" name=""/>
          <p:cNvSpPr/>
          <p:nvPr/>
        </p:nvSpPr>
        <p:spPr>
          <a:xfrm>
            <a:off x="6426000" y="1955160"/>
            <a:ext cx="575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288" name=""/>
          <p:cNvSpPr/>
          <p:nvPr/>
        </p:nvSpPr>
        <p:spPr>
          <a:xfrm>
            <a:off x="360000" y="3024000"/>
            <a:ext cx="9359280" cy="75564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89" name=""/>
          <p:cNvSpPr/>
          <p:nvPr/>
        </p:nvSpPr>
        <p:spPr>
          <a:xfrm>
            <a:off x="540000" y="3178800"/>
            <a:ext cx="8999280" cy="44532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en-US" sz="2100" strike="noStrike" u="none">
                <a:solidFill>
                  <a:srgbClr val="f5f8fc"/>
                </a:solidFill>
                <a:effectLst/>
                <a:uFillTx/>
                <a:latin typeface="DejaVu Sans"/>
                <a:ea typeface="DejaVu Sans"/>
              </a:rPr>
              <a:t>Reception measurements: iGate to Graywolf over JSON</a:t>
            </a:r>
            <a:endParaRPr b="0" lang="fr-FR" sz="2100" strike="noStrike" u="none">
              <a:solidFill>
                <a:srgbClr val="ffffff"/>
              </a:solidFill>
              <a:effectLst/>
              <a:uFillTx/>
              <a:latin typeface="Arial"/>
            </a:endParaRPr>
          </a:p>
        </p:txBody>
      </p:sp>
      <p:sp>
        <p:nvSpPr>
          <p:cNvPr id="290" name=""/>
          <p:cNvSpPr/>
          <p:nvPr/>
        </p:nvSpPr>
        <p:spPr>
          <a:xfrm>
            <a:off x="360000" y="3996000"/>
            <a:ext cx="9359280" cy="863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91" name=""/>
          <p:cNvSpPr/>
          <p:nvPr/>
        </p:nvSpPr>
        <p:spPr>
          <a:xfrm>
            <a:off x="540000" y="4132800"/>
            <a:ext cx="8999280" cy="44532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en-US" sz="2100" strike="noStrike" u="none">
                <a:solidFill>
                  <a:srgbClr val="f5f8fc"/>
                </a:solidFill>
                <a:effectLst/>
                <a:uFillTx/>
                <a:latin typeface="DejaVu Sans"/>
                <a:ea typeface="DejaVu Sans"/>
              </a:rPr>
              <a:t>Text TNC2 and native radio frames are distinct</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9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9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9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25</a:t>
            </a:r>
            <a:endParaRPr b="0" lang="fr-FR" sz="1200" strike="noStrike" u="none">
              <a:solidFill>
                <a:srgbClr val="ffffff"/>
              </a:solidFill>
              <a:effectLst/>
              <a:uFillTx/>
              <a:latin typeface="Arial"/>
            </a:endParaRPr>
          </a:p>
        </p:txBody>
      </p:sp>
      <p:sp>
        <p:nvSpPr>
          <p:cNvPr id="29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Documented tests</a:t>
            </a:r>
            <a:endParaRPr b="0" lang="fr-FR" sz="3200" strike="noStrike" u="none">
              <a:solidFill>
                <a:srgbClr val="ffffff"/>
              </a:solidFill>
              <a:effectLst/>
              <a:uFillTx/>
              <a:latin typeface="Arial"/>
            </a:endParaRPr>
          </a:p>
        </p:txBody>
      </p:sp>
      <p:sp>
        <p:nvSpPr>
          <p:cNvPr id="29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Each observation is limited to the setup actually tested.</a:t>
            </a:r>
            <a:endParaRPr b="0" lang="fr-FR" sz="2000" strike="noStrike" u="none">
              <a:solidFill>
                <a:srgbClr val="ffffff"/>
              </a:solidFill>
              <a:effectLst/>
              <a:uFillTx/>
              <a:latin typeface="Arial"/>
            </a:endParaRPr>
          </a:p>
        </p:txBody>
      </p:sp>
      <p:sp>
        <p:nvSpPr>
          <p:cNvPr id="29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RF tests on 28/09, 29/09 and 13/10; Graywolf RXT and TNC2 guides</a:t>
            </a:r>
            <a:endParaRPr b="0" lang="fr-FR" sz="1000" strike="noStrike" u="none">
              <a:solidFill>
                <a:srgbClr val="ffffff"/>
              </a:solidFill>
              <a:effectLst/>
              <a:uFillTx/>
              <a:latin typeface="Arial"/>
            </a:endParaRPr>
          </a:p>
        </p:txBody>
      </p:sp>
      <p:sp>
        <p:nvSpPr>
          <p:cNvPr id="298" name=""/>
          <p:cNvSpPr/>
          <p:nvPr/>
        </p:nvSpPr>
        <p:spPr>
          <a:xfrm>
            <a:off x="360000" y="136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99" name=""/>
          <p:cNvSpPr/>
          <p:nvPr/>
        </p:nvSpPr>
        <p:spPr>
          <a:xfrm>
            <a:off x="540000" y="149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RECEPTION</a:t>
            </a:r>
            <a:endParaRPr b="0" lang="fr-FR" sz="2200" strike="noStrike" u="none">
              <a:solidFill>
                <a:srgbClr val="ffffff"/>
              </a:solidFill>
              <a:effectLst/>
              <a:uFillTx/>
              <a:latin typeface="Arial"/>
            </a:endParaRPr>
          </a:p>
        </p:txBody>
      </p:sp>
      <p:sp>
        <p:nvSpPr>
          <p:cNvPr id="300" name=""/>
          <p:cNvSpPr/>
          <p:nvPr/>
        </p:nvSpPr>
        <p:spPr>
          <a:xfrm>
            <a:off x="3096000" y="151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Mic-E and F4MLV-MC observed from radio to Graywolf.</a:t>
            </a:r>
            <a:endParaRPr b="0" lang="fr-FR" sz="1700" strike="noStrike" u="none">
              <a:solidFill>
                <a:srgbClr val="ffffff"/>
              </a:solidFill>
              <a:effectLst/>
              <a:uFillTx/>
              <a:latin typeface="Arial"/>
            </a:endParaRPr>
          </a:p>
        </p:txBody>
      </p:sp>
      <p:sp>
        <p:nvSpPr>
          <p:cNvPr id="301" name=""/>
          <p:cNvSpPr/>
          <p:nvPr/>
        </p:nvSpPr>
        <p:spPr>
          <a:xfrm>
            <a:off x="360000" y="2448000"/>
            <a:ext cx="9359280" cy="86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2" name=""/>
          <p:cNvSpPr/>
          <p:nvPr/>
        </p:nvSpPr>
        <p:spPr>
          <a:xfrm>
            <a:off x="540000" y="257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MESSAGES</a:t>
            </a:r>
            <a:endParaRPr b="0" lang="fr-FR" sz="2200" strike="noStrike" u="none">
              <a:solidFill>
                <a:srgbClr val="ffffff"/>
              </a:solidFill>
              <a:effectLst/>
              <a:uFillTx/>
              <a:latin typeface="Arial"/>
            </a:endParaRPr>
          </a:p>
        </p:txBody>
      </p:sp>
      <p:sp>
        <p:nvSpPr>
          <p:cNvPr id="303" name=""/>
          <p:cNvSpPr/>
          <p:nvPr/>
        </p:nvSpPr>
        <p:spPr>
          <a:xfrm>
            <a:off x="3096000" y="259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Delivery to a terminal through two physical relays, with a return ACK.</a:t>
            </a:r>
            <a:endParaRPr b="0" lang="fr-FR" sz="1700" strike="noStrike" u="none">
              <a:solidFill>
                <a:srgbClr val="ffffff"/>
              </a:solidFill>
              <a:effectLst/>
              <a:uFillTx/>
              <a:latin typeface="Arial"/>
            </a:endParaRPr>
          </a:p>
        </p:txBody>
      </p:sp>
      <p:sp>
        <p:nvSpPr>
          <p:cNvPr id="304" name=""/>
          <p:cNvSpPr/>
          <p:nvPr/>
        </p:nvSpPr>
        <p:spPr>
          <a:xfrm>
            <a:off x="360000" y="352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5" name=""/>
          <p:cNvSpPr/>
          <p:nvPr/>
        </p:nvSpPr>
        <p:spPr>
          <a:xfrm>
            <a:off x="540000" y="365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NATIVE RXT</a:t>
            </a:r>
            <a:endParaRPr b="0" lang="fr-FR" sz="2200" strike="noStrike" u="none">
              <a:solidFill>
                <a:srgbClr val="ffffff"/>
              </a:solidFill>
              <a:effectLst/>
              <a:uFillTx/>
              <a:latin typeface="Arial"/>
            </a:endParaRPr>
          </a:p>
        </p:txBody>
      </p:sp>
      <p:sp>
        <p:nvSpPr>
          <p:cNvPr id="306" name=""/>
          <p:cNvSpPr/>
          <p:nvPr/>
        </p:nvSpPr>
        <p:spPr>
          <a:xfrm>
            <a:off x="3096000" y="3672000"/>
            <a:ext cx="6371280" cy="68508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en-US" sz="1700" strike="noStrike" u="none">
                <a:solidFill>
                  <a:srgbClr val="f5f8fc"/>
                </a:solidFill>
                <a:effectLst/>
                <a:uFillTx/>
                <a:latin typeface="DejaVu Sans"/>
                <a:ea typeface="DejaVu Sans"/>
              </a:rPr>
              <a:t>Identity retained after path rewriting and queued delay.</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0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0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30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26</a:t>
            </a:r>
            <a:endParaRPr b="0" lang="fr-FR" sz="1200" strike="noStrike" u="none">
              <a:solidFill>
                <a:srgbClr val="ffffff"/>
              </a:solidFill>
              <a:effectLst/>
              <a:uFillTx/>
              <a:latin typeface="Arial"/>
            </a:endParaRPr>
          </a:p>
        </p:txBody>
      </p:sp>
      <p:sp>
        <p:nvSpPr>
          <p:cNvPr id="31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Jon’s radio context</a:t>
            </a:r>
            <a:endParaRPr b="0" lang="fr-FR" sz="3200" strike="noStrike" u="none">
              <a:solidFill>
                <a:srgbClr val="ffffff"/>
              </a:solidFill>
              <a:effectLst/>
              <a:uFillTx/>
              <a:latin typeface="Arial"/>
            </a:endParaRPr>
          </a:p>
        </p:txBody>
      </p:sp>
      <p:sp>
        <p:nvSpPr>
          <p:cNvPr id="311" name=""/>
          <p:cNvSpPr/>
          <p:nvPr/>
        </p:nvSpPr>
        <p:spPr>
          <a:xfrm>
            <a:off x="324000" y="882000"/>
            <a:ext cx="9323280" cy="79092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en-US" sz="2000" strike="noStrike" u="none">
                <a:solidFill>
                  <a:srgbClr val="b8c9d5"/>
                </a:solidFill>
                <a:effectLst/>
                <a:uFillTx/>
                <a:latin typeface="DejaVu Sans"/>
                <a:ea typeface="DejaVu Sans"/>
              </a:rPr>
              <a:t>Packet durations depend on each network’s LoRa profile.</a:t>
            </a:r>
            <a:endParaRPr b="0" lang="fr-FR" sz="2000" strike="noStrike" u="none">
              <a:solidFill>
                <a:srgbClr val="ffffff"/>
              </a:solidFill>
              <a:effectLst/>
              <a:uFillTx/>
              <a:latin typeface="Arial"/>
            </a:endParaRPr>
          </a:p>
        </p:txBody>
      </p:sp>
      <p:sp>
        <p:nvSpPr>
          <p:cNvPr id="31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Source: September presentation and Jon’s reported observations. Not a deployment inventory.</a:t>
            </a:r>
            <a:endParaRPr b="0" lang="fr-FR" sz="1000" strike="noStrike" u="none">
              <a:solidFill>
                <a:srgbClr val="ffffff"/>
              </a:solidFill>
              <a:effectLst/>
              <a:uFillTx/>
              <a:latin typeface="Arial"/>
            </a:endParaRPr>
          </a:p>
        </p:txBody>
      </p:sp>
      <p:sp>
        <p:nvSpPr>
          <p:cNvPr id="313" name=""/>
          <p:cNvSpPr/>
          <p:nvPr/>
        </p:nvSpPr>
        <p:spPr>
          <a:xfrm>
            <a:off x="360000" y="1800000"/>
            <a:ext cx="9359280" cy="306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14" name=""/>
          <p:cNvSpPr/>
          <p:nvPr/>
        </p:nvSpPr>
        <p:spPr>
          <a:xfrm>
            <a:off x="648000" y="2160000"/>
            <a:ext cx="8711280" cy="1245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400" strike="noStrike" u="none">
                <a:solidFill>
                  <a:srgbClr val="f5f8fc"/>
                </a:solidFill>
                <a:effectLst/>
                <a:uFillTx/>
                <a:latin typeface="DejaVu Sans"/>
                <a:ea typeface="DejaVu Sans"/>
              </a:rPr>
              <a:t>433.775 MHz / BW125 / SF7 / CR4:6</a:t>
            </a:r>
            <a:endParaRPr b="0" lang="fr-FR" sz="3400" strike="noStrike" u="none">
              <a:solidFill>
                <a:srgbClr val="ffffff"/>
              </a:solidFill>
              <a:effectLst/>
              <a:uFillTx/>
              <a:latin typeface="Arial"/>
            </a:endParaRPr>
          </a:p>
        </p:txBody>
      </p:sp>
      <p:sp>
        <p:nvSpPr>
          <p:cNvPr id="315" name=""/>
          <p:cNvSpPr/>
          <p:nvPr/>
        </p:nvSpPr>
        <p:spPr>
          <a:xfrm>
            <a:off x="648000" y="3600000"/>
            <a:ext cx="8603280" cy="971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Regional profile reported by Jon in the September presentation.</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Local tests on a different profile do not measure this network.</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16"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17"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318"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27</a:t>
            </a:r>
            <a:endParaRPr b="0" lang="fr-FR" sz="1200" strike="noStrike" u="none">
              <a:solidFill>
                <a:srgbClr val="ffffff"/>
              </a:solidFill>
              <a:effectLst/>
              <a:uFillTx/>
              <a:latin typeface="Arial"/>
            </a:endParaRPr>
          </a:p>
        </p:txBody>
      </p:sp>
      <p:sp>
        <p:nvSpPr>
          <p:cNvPr id="319"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Limits to keep in mind</a:t>
            </a:r>
            <a:endParaRPr b="0" lang="fr-FR" sz="3200" strike="noStrike" u="none">
              <a:solidFill>
                <a:srgbClr val="ffffff"/>
              </a:solidFill>
              <a:effectLst/>
              <a:uFillTx/>
              <a:latin typeface="Arial"/>
            </a:endParaRPr>
          </a:p>
        </p:txBody>
      </p:sp>
      <p:sp>
        <p:nvSpPr>
          <p:cNvPr id="320"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Compatibility and test scope set the limits of the conclusions.</a:t>
            </a:r>
            <a:endParaRPr b="0" lang="fr-FR" sz="2000" strike="noStrike" u="none">
              <a:solidFill>
                <a:srgbClr val="ffffff"/>
              </a:solidFill>
              <a:effectLst/>
              <a:uFillTx/>
              <a:latin typeface="Arial"/>
            </a:endParaRPr>
          </a:p>
        </p:txBody>
      </p:sp>
      <p:sp>
        <p:nvSpPr>
          <p:cNvPr id="321"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docs/RXT.md; docs/LORA_APRS_NATIVE_FRAME_DRAFT0.md; RF test reports</a:t>
            </a:r>
            <a:endParaRPr b="0" lang="fr-FR" sz="1000" strike="noStrike" u="none">
              <a:solidFill>
                <a:srgbClr val="ffffff"/>
              </a:solidFill>
              <a:effectLst/>
              <a:uFillTx/>
              <a:latin typeface="Arial"/>
            </a:endParaRPr>
          </a:p>
        </p:txBody>
      </p:sp>
      <p:sp>
        <p:nvSpPr>
          <p:cNvPr id="322" name=""/>
          <p:cNvSpPr/>
          <p:nvPr/>
        </p:nvSpPr>
        <p:spPr>
          <a:xfrm>
            <a:off x="360000" y="1368000"/>
            <a:ext cx="9359280" cy="7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23" name=""/>
          <p:cNvSpPr/>
          <p:nvPr/>
        </p:nvSpPr>
        <p:spPr>
          <a:xfrm>
            <a:off x="576000" y="1530000"/>
            <a:ext cx="8819280" cy="4453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en-US" sz="2100" strike="noStrike" u="none">
                <a:solidFill>
                  <a:srgbClr val="f5f8fc"/>
                </a:solidFill>
                <a:effectLst/>
                <a:uFillTx/>
                <a:latin typeface="DejaVu Sans"/>
                <a:ea typeface="DejaVu Sans"/>
              </a:rPr>
              <a:t>Native frames require compatible receivers.</a:t>
            </a:r>
            <a:endParaRPr b="0" lang="fr-FR" sz="2100" strike="noStrike" u="none">
              <a:solidFill>
                <a:srgbClr val="ffffff"/>
              </a:solidFill>
              <a:effectLst/>
              <a:uFillTx/>
              <a:latin typeface="Arial"/>
            </a:endParaRPr>
          </a:p>
        </p:txBody>
      </p:sp>
      <p:sp>
        <p:nvSpPr>
          <p:cNvPr id="324" name=""/>
          <p:cNvSpPr/>
          <p:nvPr/>
        </p:nvSpPr>
        <p:spPr>
          <a:xfrm>
            <a:off x="360000" y="2340000"/>
            <a:ext cx="9359280" cy="7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25" name=""/>
          <p:cNvSpPr/>
          <p:nvPr/>
        </p:nvSpPr>
        <p:spPr>
          <a:xfrm>
            <a:off x="576000" y="2502000"/>
            <a:ext cx="8819280" cy="4453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en-US" sz="2100" strike="noStrike" u="none">
                <a:solidFill>
                  <a:srgbClr val="f5f8fc"/>
                </a:solidFill>
                <a:effectLst/>
                <a:uFillTx/>
                <a:latin typeface="DejaVu Sans"/>
                <a:ea typeface="DejaVu Sans"/>
              </a:rPr>
              <a:t>A text relay can lose the earlier RXT measurements.</a:t>
            </a:r>
            <a:endParaRPr b="0" lang="fr-FR" sz="2100" strike="noStrike" u="none">
              <a:solidFill>
                <a:srgbClr val="ffffff"/>
              </a:solidFill>
              <a:effectLst/>
              <a:uFillTx/>
              <a:latin typeface="Arial"/>
            </a:endParaRPr>
          </a:p>
        </p:txBody>
      </p:sp>
      <p:sp>
        <p:nvSpPr>
          <p:cNvPr id="326" name=""/>
          <p:cNvSpPr/>
          <p:nvPr/>
        </p:nvSpPr>
        <p:spPr>
          <a:xfrm>
            <a:off x="360000" y="3312000"/>
            <a:ext cx="9359280" cy="7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27" name=""/>
          <p:cNvSpPr/>
          <p:nvPr/>
        </p:nvSpPr>
        <p:spPr>
          <a:xfrm>
            <a:off x="576000" y="3474000"/>
            <a:ext cx="8819280" cy="4453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en-US" sz="2100" strike="noStrike" u="none">
                <a:solidFill>
                  <a:srgbClr val="f5f8fc"/>
                </a:solidFill>
                <a:effectLst/>
                <a:uFillTx/>
                <a:latin typeface="DejaVu Sans"/>
                <a:ea typeface="DejaVu Sans"/>
              </a:rPr>
              <a:t>Return routing does not coordinate multiple iGates.</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28"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29"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330"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29</a:t>
            </a:r>
            <a:endParaRPr b="0" lang="fr-FR" sz="1200" strike="noStrike" u="none">
              <a:solidFill>
                <a:srgbClr val="ffffff"/>
              </a:solidFill>
              <a:effectLst/>
              <a:uFillTx/>
              <a:latin typeface="Arial"/>
            </a:endParaRPr>
          </a:p>
        </p:txBody>
      </p:sp>
      <p:sp>
        <p:nvSpPr>
          <p:cNvPr id="331"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References and contributions</a:t>
            </a:r>
            <a:endParaRPr b="0" lang="fr-FR" sz="3200" strike="noStrike" u="none">
              <a:solidFill>
                <a:srgbClr val="ffffff"/>
              </a:solidFill>
              <a:effectLst/>
              <a:uFillTx/>
              <a:latin typeface="Arial"/>
            </a:endParaRPr>
          </a:p>
        </p:txBody>
      </p:sp>
      <p:sp>
        <p:nvSpPr>
          <p:cNvPr id="332"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The iGate scope for this edition is the code at 2cebfe6.</a:t>
            </a:r>
            <a:endParaRPr b="0" lang="fr-FR" sz="2000" strike="noStrike" u="none">
              <a:solidFill>
                <a:srgbClr val="ffffff"/>
              </a:solidFill>
              <a:effectLst/>
              <a:uFillTx/>
              <a:latin typeface="Arial"/>
            </a:endParaRPr>
          </a:p>
        </p:txBody>
      </p:sp>
      <p:sp>
        <p:nvSpPr>
          <p:cNvPr id="333"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Ricardo Guzman CA2RXU: base firmware. Jon Adams N7UV: RXT concept and field feedback.</a:t>
            </a:r>
            <a:endParaRPr b="0" lang="fr-FR" sz="1000" strike="noStrike" u="none">
              <a:solidFill>
                <a:srgbClr val="ffffff"/>
              </a:solidFill>
              <a:effectLst/>
              <a:uFillTx/>
              <a:latin typeface="Arial"/>
            </a:endParaRPr>
          </a:p>
        </p:txBody>
      </p:sp>
      <p:sp>
        <p:nvSpPr>
          <p:cNvPr id="334" name=""/>
          <p:cNvSpPr/>
          <p:nvPr/>
        </p:nvSpPr>
        <p:spPr>
          <a:xfrm>
            <a:off x="360000" y="1332000"/>
            <a:ext cx="9359280" cy="34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35" name=""/>
          <p:cNvSpPr/>
          <p:nvPr/>
        </p:nvSpPr>
        <p:spPr>
          <a:xfrm>
            <a:off x="558000" y="1512000"/>
            <a:ext cx="8963280" cy="305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iGate code: rxt branch, commit 2cebfe6, 13 October 2026</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docs/RXT.md and docs/RXT_V2.md</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docs/LORA_APRS_NATIVE_FRAME_DRAFT0.md</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docs/VALIDATION_RXT_NATIVE_RF_20261013.md</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docs/REVERSE_MESSAGE_ROUTING.md</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docs/RF_FIX_VALIDATION_20260928_en.md</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Graywolf: docs/wiki/rxt-telemetry.md</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Graywolf: docs/wiki/lora-tnc2-transceiver.md</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9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9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9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10</a:t>
            </a:r>
            <a:endParaRPr b="0" lang="fr-FR" sz="1200" strike="noStrike" u="none">
              <a:solidFill>
                <a:srgbClr val="ffffff"/>
              </a:solidFill>
              <a:effectLst/>
              <a:uFillTx/>
              <a:latin typeface="Arial"/>
            </a:endParaRPr>
          </a:p>
        </p:txBody>
      </p:sp>
      <p:sp>
        <p:nvSpPr>
          <p:cNvPr id="9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RXT v2: identifying the relay</a:t>
            </a:r>
            <a:endParaRPr b="0" lang="fr-FR" sz="3200" strike="noStrike" u="none">
              <a:solidFill>
                <a:srgbClr val="ffffff"/>
              </a:solidFill>
              <a:effectLst/>
              <a:uFillTx/>
              <a:latin typeface="Arial"/>
            </a:endParaRPr>
          </a:p>
        </p:txBody>
      </p:sp>
      <p:sp>
        <p:nvSpPr>
          <p:cNvPr id="9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A text tuple contains an identifier and four measurements.</a:t>
            </a:r>
            <a:endParaRPr b="0" lang="fr-FR" sz="2000" strike="noStrike" u="none">
              <a:solidFill>
                <a:srgbClr val="ffffff"/>
              </a:solidFill>
              <a:effectLst/>
              <a:uFillTx/>
              <a:latin typeface="Arial"/>
            </a:endParaRPr>
          </a:p>
        </p:txBody>
      </p:sp>
      <p:sp>
        <p:nvSpPr>
          <p:cNvPr id="9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src/rxt_protocol.cpp; docs/RXT.md; test/rxt_host/rxt_host_test.cpp</a:t>
            </a:r>
            <a:endParaRPr b="0" lang="fr-FR" sz="1000" strike="noStrike" u="none">
              <a:solidFill>
                <a:srgbClr val="ffffff"/>
              </a:solidFill>
              <a:effectLst/>
              <a:uFillTx/>
              <a:latin typeface="Arial"/>
            </a:endParaRPr>
          </a:p>
        </p:txBody>
      </p:sp>
      <p:sp>
        <p:nvSpPr>
          <p:cNvPr id="97" name=""/>
          <p:cNvSpPr/>
          <p:nvPr/>
        </p:nvSpPr>
        <p:spPr>
          <a:xfrm>
            <a:off x="360360" y="1311840"/>
            <a:ext cx="9359280" cy="10278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8" name=""/>
          <p:cNvSpPr/>
          <p:nvPr/>
        </p:nvSpPr>
        <p:spPr>
          <a:xfrm>
            <a:off x="558000" y="145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01</a:t>
            </a:r>
            <a:endParaRPr b="0" lang="fr-FR" sz="2800" strike="noStrike" u="none">
              <a:solidFill>
                <a:srgbClr val="ffffff"/>
              </a:solidFill>
              <a:effectLst/>
              <a:uFillTx/>
              <a:latin typeface="Arial"/>
            </a:endParaRPr>
          </a:p>
        </p:txBody>
      </p:sp>
      <p:sp>
        <p:nvSpPr>
          <p:cNvPr id="99" name=""/>
          <p:cNvSpPr/>
          <p:nvPr/>
        </p:nvSpPr>
        <p:spPr>
          <a:xfrm>
            <a:off x="1440000" y="145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Five characters</a:t>
            </a:r>
            <a:endParaRPr b="0" lang="fr-FR" sz="2200" strike="noStrike" u="none">
              <a:solidFill>
                <a:srgbClr val="ffffff"/>
              </a:solidFill>
              <a:effectLst/>
              <a:uFillTx/>
              <a:latin typeface="Arial"/>
            </a:endParaRPr>
          </a:p>
        </p:txBody>
      </p:sp>
      <p:sp>
        <p:nvSpPr>
          <p:cNvPr id="100" name=""/>
          <p:cNvSpPr/>
          <p:nvPr/>
        </p:nvSpPr>
        <p:spPr>
          <a:xfrm>
            <a:off x="3780000" y="149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I identifies the relay. R, S, F and H encode the measurements.</a:t>
            </a:r>
            <a:endParaRPr b="0" lang="fr-FR" sz="1700" strike="noStrike" u="none">
              <a:solidFill>
                <a:srgbClr val="ffffff"/>
              </a:solidFill>
              <a:effectLst/>
              <a:uFillTx/>
              <a:latin typeface="Arial"/>
            </a:endParaRPr>
          </a:p>
        </p:txBody>
      </p:sp>
      <p:sp>
        <p:nvSpPr>
          <p:cNvPr id="101" name=""/>
          <p:cNvSpPr/>
          <p:nvPr/>
        </p:nvSpPr>
        <p:spPr>
          <a:xfrm>
            <a:off x="360000" y="241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2" name=""/>
          <p:cNvSpPr/>
          <p:nvPr/>
        </p:nvSpPr>
        <p:spPr>
          <a:xfrm>
            <a:off x="558000" y="253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02</a:t>
            </a:r>
            <a:endParaRPr b="0" lang="fr-FR" sz="2800" strike="noStrike" u="none">
              <a:solidFill>
                <a:srgbClr val="ffffff"/>
              </a:solidFill>
              <a:effectLst/>
              <a:uFillTx/>
              <a:latin typeface="Arial"/>
            </a:endParaRPr>
          </a:p>
        </p:txBody>
      </p:sp>
      <p:sp>
        <p:nvSpPr>
          <p:cNvPr id="103" name=""/>
          <p:cNvSpPr/>
          <p:nvPr/>
        </p:nvSpPr>
        <p:spPr>
          <a:xfrm>
            <a:off x="1440000" y="253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Name fingerprint</a:t>
            </a:r>
            <a:endParaRPr b="0" lang="fr-FR" sz="2200" strike="noStrike" u="none">
              <a:solidFill>
                <a:srgbClr val="ffffff"/>
              </a:solidFill>
              <a:effectLst/>
              <a:uFillTx/>
              <a:latin typeface="Arial"/>
            </a:endParaRPr>
          </a:p>
        </p:txBody>
      </p:sp>
      <p:sp>
        <p:nvSpPr>
          <p:cNvPr id="104" name=""/>
          <p:cNvSpPr/>
          <p:nvPr/>
        </p:nvSpPr>
        <p:spPr>
          <a:xfrm>
            <a:off x="3780000" y="257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FNV-1a of the callsign, modulo 89. The path supplies candidate names.</a:t>
            </a:r>
            <a:endParaRPr b="0" lang="fr-FR" sz="1700" strike="noStrike" u="none">
              <a:solidFill>
                <a:srgbClr val="ffffff"/>
              </a:solidFill>
              <a:effectLst/>
              <a:uFillTx/>
              <a:latin typeface="Arial"/>
            </a:endParaRPr>
          </a:p>
        </p:txBody>
      </p:sp>
      <p:sp>
        <p:nvSpPr>
          <p:cNvPr id="105" name=""/>
          <p:cNvSpPr/>
          <p:nvPr/>
        </p:nvSpPr>
        <p:spPr>
          <a:xfrm>
            <a:off x="360000" y="349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6" name=""/>
          <p:cNvSpPr/>
          <p:nvPr/>
        </p:nvSpPr>
        <p:spPr>
          <a:xfrm>
            <a:off x="558000" y="361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03</a:t>
            </a:r>
            <a:endParaRPr b="0" lang="fr-FR" sz="2800" strike="noStrike" u="none">
              <a:solidFill>
                <a:srgbClr val="ffffff"/>
              </a:solidFill>
              <a:effectLst/>
              <a:uFillTx/>
              <a:latin typeface="Arial"/>
            </a:endParaRPr>
          </a:p>
        </p:txBody>
      </p:sp>
      <p:sp>
        <p:nvSpPr>
          <p:cNvPr id="107" name=""/>
          <p:cNvSpPr/>
          <p:nvPr/>
        </p:nvSpPr>
        <p:spPr>
          <a:xfrm>
            <a:off x="1440000" y="361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Visible ambiguity</a:t>
            </a:r>
            <a:endParaRPr b="0" lang="fr-FR" sz="2200" strike="noStrike" u="none">
              <a:solidFill>
                <a:srgbClr val="ffffff"/>
              </a:solidFill>
              <a:effectLst/>
              <a:uFillTx/>
              <a:latin typeface="Arial"/>
            </a:endParaRPr>
          </a:p>
        </p:txBody>
      </p:sp>
      <p:sp>
        <p:nvSpPr>
          <p:cNvPr id="108" name=""/>
          <p:cNvSpPr/>
          <p:nvPr/>
        </p:nvSpPr>
        <p:spPr>
          <a:xfrm>
            <a:off x="3780000" y="3654000"/>
            <a:ext cx="568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If several relays remain possible, no definite owner is assigned.</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2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2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2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11</a:t>
            </a:r>
            <a:endParaRPr b="0" lang="fr-FR" sz="1200" strike="noStrike" u="none">
              <a:solidFill>
                <a:srgbClr val="ffffff"/>
              </a:solidFill>
              <a:effectLst/>
              <a:uFillTx/>
              <a:latin typeface="Arial"/>
            </a:endParaRPr>
          </a:p>
        </p:txBody>
      </p:sp>
      <p:sp>
        <p:nvSpPr>
          <p:cNvPr id="13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The hidden RXT block in text mode</a:t>
            </a:r>
            <a:endParaRPr b="0" lang="fr-FR" sz="3200" strike="noStrike" u="none">
              <a:solidFill>
                <a:srgbClr val="ffffff"/>
              </a:solidFill>
              <a:effectLst/>
              <a:uFillTx/>
              <a:latin typeface="Arial"/>
            </a:endParaRPr>
          </a:p>
        </p:txBody>
      </p:sp>
      <p:sp>
        <p:nvSpPr>
          <p:cNvPr id="131"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The APRS packet precedes the zero byte. Measurements follow.</a:t>
            </a:r>
            <a:endParaRPr b="0" lang="fr-FR" sz="2000" strike="noStrike" u="none">
              <a:solidFill>
                <a:srgbClr val="ffffff"/>
              </a:solidFill>
              <a:effectLst/>
              <a:uFillTx/>
              <a:latin typeface="Arial"/>
            </a:endParaRPr>
          </a:p>
        </p:txBody>
      </p:sp>
      <p:sp>
        <p:nvSpPr>
          <p:cNvPr id="13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src/rxt_protocol.cpp, toExtensionPayload / fromExtensionPayload; docs/RXT.md</a:t>
            </a:r>
            <a:endParaRPr b="0" lang="fr-FR" sz="1000" strike="noStrike" u="none">
              <a:solidFill>
                <a:srgbClr val="ffffff"/>
              </a:solidFill>
              <a:effectLst/>
              <a:uFillTx/>
              <a:latin typeface="Arial"/>
            </a:endParaRPr>
          </a:p>
        </p:txBody>
      </p:sp>
      <p:sp>
        <p:nvSpPr>
          <p:cNvPr id="133" name=""/>
          <p:cNvSpPr/>
          <p:nvPr/>
        </p:nvSpPr>
        <p:spPr>
          <a:xfrm>
            <a:off x="324000" y="1368000"/>
            <a:ext cx="9395280" cy="115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34" name=""/>
          <p:cNvSpPr/>
          <p:nvPr/>
        </p:nvSpPr>
        <p:spPr>
          <a:xfrm>
            <a:off x="540000" y="1620000"/>
            <a:ext cx="892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400" strike="noStrike" u="none">
                <a:solidFill>
                  <a:srgbClr val="f5f8fc"/>
                </a:solidFill>
                <a:effectLst/>
                <a:uFillTx/>
                <a:latin typeface="DejaVu Sans"/>
                <a:ea typeface="DejaVu Sans"/>
              </a:rPr>
              <a:t>TNC2 then 00 01 IRFSH</a:t>
            </a:r>
            <a:endParaRPr b="0" lang="fr-FR" sz="3400" strike="noStrike" u="none">
              <a:solidFill>
                <a:srgbClr val="ffffff"/>
              </a:solidFill>
              <a:effectLst/>
              <a:uFillTx/>
              <a:latin typeface="Arial"/>
            </a:endParaRPr>
          </a:p>
        </p:txBody>
      </p:sp>
      <p:sp>
        <p:nvSpPr>
          <p:cNvPr id="135" name=""/>
          <p:cNvSpPr/>
          <p:nvPr/>
        </p:nvSpPr>
        <p:spPr>
          <a:xfrm>
            <a:off x="468000" y="2880000"/>
            <a:ext cx="8963280" cy="107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Firmware that reads a C string stops at 00 and retains the APRS packet.</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A conventional relay can therefore forward the text without the RXT measurements.</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9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9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9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12</a:t>
            </a:r>
            <a:endParaRPr b="0" lang="fr-FR" sz="1200" strike="noStrike" u="none">
              <a:solidFill>
                <a:srgbClr val="ffffff"/>
              </a:solidFill>
              <a:effectLst/>
              <a:uFillTx/>
              <a:latin typeface="Arial"/>
            </a:endParaRPr>
          </a:p>
        </p:txBody>
      </p:sp>
      <p:sp>
        <p:nvSpPr>
          <p:cNvPr id="9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The native radio frame</a:t>
            </a:r>
            <a:endParaRPr b="0" lang="fr-FR" sz="3200" strike="noStrike" u="none">
              <a:solidFill>
                <a:srgbClr val="ffffff"/>
              </a:solidFill>
              <a:effectLst/>
              <a:uFillTx/>
              <a:latin typeface="Arial"/>
            </a:endParaRPr>
          </a:p>
        </p:txBody>
      </p:sp>
      <p:sp>
        <p:nvSpPr>
          <p:cNvPr id="9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Compact binary transport that reproduces the exact TNC2 packet.</a:t>
            </a:r>
            <a:endParaRPr b="0" lang="fr-FR" sz="2000" strike="noStrike" u="none">
              <a:solidFill>
                <a:srgbClr val="ffffff"/>
              </a:solidFill>
              <a:effectLst/>
              <a:uFillTx/>
              <a:latin typeface="Arial"/>
            </a:endParaRPr>
          </a:p>
        </p:txBody>
      </p:sp>
      <p:sp>
        <p:nvSpPr>
          <p:cNvPr id="9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src/native_aprs.cpp; src/lora_utils.cpp; native frame draft 0</a:t>
            </a:r>
            <a:endParaRPr b="0" lang="fr-FR" sz="1000" strike="noStrike" u="none">
              <a:solidFill>
                <a:srgbClr val="ffffff"/>
              </a:solidFill>
              <a:effectLst/>
              <a:uFillTx/>
              <a:latin typeface="Arial"/>
            </a:endParaRPr>
          </a:p>
        </p:txBody>
      </p:sp>
      <p:sp>
        <p:nvSpPr>
          <p:cNvPr id="97" name=""/>
          <p:cNvSpPr/>
          <p:nvPr/>
        </p:nvSpPr>
        <p:spPr>
          <a:xfrm>
            <a:off x="360360" y="1311840"/>
            <a:ext cx="9359280" cy="10278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8" name=""/>
          <p:cNvSpPr/>
          <p:nvPr/>
        </p:nvSpPr>
        <p:spPr>
          <a:xfrm>
            <a:off x="558000" y="145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01</a:t>
            </a:r>
            <a:endParaRPr b="0" lang="fr-FR" sz="2800" strike="noStrike" u="none">
              <a:solidFill>
                <a:srgbClr val="ffffff"/>
              </a:solidFill>
              <a:effectLst/>
              <a:uFillTx/>
              <a:latin typeface="Arial"/>
            </a:endParaRPr>
          </a:p>
        </p:txBody>
      </p:sp>
      <p:sp>
        <p:nvSpPr>
          <p:cNvPr id="99" name=""/>
          <p:cNvSpPr/>
          <p:nvPr/>
        </p:nvSpPr>
        <p:spPr>
          <a:xfrm>
            <a:off x="1440000" y="145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RF prefix</a:t>
            </a:r>
            <a:endParaRPr b="0" lang="fr-FR" sz="2200" strike="noStrike" u="none">
              <a:solidFill>
                <a:srgbClr val="ffffff"/>
              </a:solidFill>
              <a:effectLst/>
              <a:uFillTx/>
              <a:latin typeface="Arial"/>
            </a:endParaRPr>
          </a:p>
        </p:txBody>
      </p:sp>
      <p:sp>
        <p:nvSpPr>
          <p:cNvPr id="100" name=""/>
          <p:cNvSpPr/>
          <p:nvPr/>
        </p:nvSpPr>
        <p:spPr>
          <a:xfrm>
            <a:off x="3780000" y="149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3C FF 02 for native frames, rather than 3C FF 01 for text.</a:t>
            </a:r>
            <a:endParaRPr b="0" lang="fr-FR" sz="1700" strike="noStrike" u="none">
              <a:solidFill>
                <a:srgbClr val="ffffff"/>
              </a:solidFill>
              <a:effectLst/>
              <a:uFillTx/>
              <a:latin typeface="Arial"/>
            </a:endParaRPr>
          </a:p>
        </p:txBody>
      </p:sp>
      <p:sp>
        <p:nvSpPr>
          <p:cNvPr id="101" name=""/>
          <p:cNvSpPr/>
          <p:nvPr/>
        </p:nvSpPr>
        <p:spPr>
          <a:xfrm>
            <a:off x="360000" y="241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2" name=""/>
          <p:cNvSpPr/>
          <p:nvPr/>
        </p:nvSpPr>
        <p:spPr>
          <a:xfrm>
            <a:off x="558000" y="253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02</a:t>
            </a:r>
            <a:endParaRPr b="0" lang="fr-FR" sz="2800" strike="noStrike" u="none">
              <a:solidFill>
                <a:srgbClr val="ffffff"/>
              </a:solidFill>
              <a:effectLst/>
              <a:uFillTx/>
              <a:latin typeface="Arial"/>
            </a:endParaRPr>
          </a:p>
        </p:txBody>
      </p:sp>
      <p:sp>
        <p:nvSpPr>
          <p:cNvPr id="103" name=""/>
          <p:cNvSpPr/>
          <p:nvPr/>
        </p:nvSpPr>
        <p:spPr>
          <a:xfrm>
            <a:off x="1440000" y="253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Compact coding</a:t>
            </a:r>
            <a:endParaRPr b="0" lang="fr-FR" sz="2200" strike="noStrike" u="none">
              <a:solidFill>
                <a:srgbClr val="ffffff"/>
              </a:solidFill>
              <a:effectLst/>
              <a:uFillTx/>
              <a:latin typeface="Arial"/>
            </a:endParaRPr>
          </a:p>
        </p:txBody>
      </p:sp>
      <p:sp>
        <p:nvSpPr>
          <p:cNvPr id="104" name=""/>
          <p:cNvSpPr/>
          <p:nvPr/>
        </p:nvSpPr>
        <p:spPr>
          <a:xfrm>
            <a:off x="3780000" y="257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Compact addresses and positions. Huffman text when shorter.</a:t>
            </a:r>
            <a:endParaRPr b="0" lang="fr-FR" sz="1700" strike="noStrike" u="none">
              <a:solidFill>
                <a:srgbClr val="ffffff"/>
              </a:solidFill>
              <a:effectLst/>
              <a:uFillTx/>
              <a:latin typeface="Arial"/>
            </a:endParaRPr>
          </a:p>
        </p:txBody>
      </p:sp>
      <p:sp>
        <p:nvSpPr>
          <p:cNvPr id="105" name=""/>
          <p:cNvSpPr/>
          <p:nvPr/>
        </p:nvSpPr>
        <p:spPr>
          <a:xfrm>
            <a:off x="360000" y="349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6" name=""/>
          <p:cNvSpPr/>
          <p:nvPr/>
        </p:nvSpPr>
        <p:spPr>
          <a:xfrm>
            <a:off x="558000" y="361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03</a:t>
            </a:r>
            <a:endParaRPr b="0" lang="fr-FR" sz="2800" strike="noStrike" u="none">
              <a:solidFill>
                <a:srgbClr val="ffffff"/>
              </a:solidFill>
              <a:effectLst/>
              <a:uFillTx/>
              <a:latin typeface="Arial"/>
            </a:endParaRPr>
          </a:p>
        </p:txBody>
      </p:sp>
      <p:sp>
        <p:nvSpPr>
          <p:cNvPr id="107" name=""/>
          <p:cNvSpPr/>
          <p:nvPr/>
        </p:nvSpPr>
        <p:spPr>
          <a:xfrm>
            <a:off x="1440000" y="361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TX selection</a:t>
            </a:r>
            <a:endParaRPr b="0" lang="fr-FR" sz="2200" strike="noStrike" u="none">
              <a:solidFill>
                <a:srgbClr val="ffffff"/>
              </a:solidFill>
              <a:effectLst/>
              <a:uFillTx/>
              <a:latin typeface="Arial"/>
            </a:endParaRPr>
          </a:p>
        </p:txBody>
      </p:sp>
      <p:sp>
        <p:nvSpPr>
          <p:cNvPr id="108" name=""/>
          <p:cNvSpPr/>
          <p:nvPr/>
        </p:nvSpPr>
        <p:spPr>
          <a:xfrm>
            <a:off x="3780000" y="3654000"/>
            <a:ext cx="568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0 text by default, 1 native, 2 text then native for trials.</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9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9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9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13</a:t>
            </a:r>
            <a:endParaRPr b="0" lang="fr-FR" sz="1200" strike="noStrike" u="none">
              <a:solidFill>
                <a:srgbClr val="ffffff"/>
              </a:solidFill>
              <a:effectLst/>
              <a:uFillTx/>
              <a:latin typeface="Arial"/>
            </a:endParaRPr>
          </a:p>
        </p:txBody>
      </p:sp>
      <p:sp>
        <p:nvSpPr>
          <p:cNvPr id="29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Preserving native RXT identity</a:t>
            </a:r>
            <a:endParaRPr b="0" lang="fr-FR" sz="3200" strike="noStrike" u="none">
              <a:solidFill>
                <a:srgbClr val="ffffff"/>
              </a:solidFill>
              <a:effectLst/>
              <a:uFillTx/>
              <a:latin typeface="Arial"/>
            </a:endParaRPr>
          </a:p>
        </p:txBody>
      </p:sp>
      <p:sp>
        <p:nvSpPr>
          <p:cNvPr id="29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Since the 13 October fix, native RXT remains separate from the text.</a:t>
            </a:r>
            <a:endParaRPr b="0" lang="fr-FR" sz="2000" strike="noStrike" u="none">
              <a:solidFill>
                <a:srgbClr val="ffffff"/>
              </a:solidFill>
              <a:effectLst/>
              <a:uFillTx/>
              <a:latin typeface="Arial"/>
            </a:endParaRPr>
          </a:p>
        </p:txBody>
      </p:sp>
      <p:sp>
        <p:nvSpPr>
          <p:cNvPr id="29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src/native_aprs.cpp, remapRxt; src/station_utils.cpp; RF validation on 13/10</a:t>
            </a:r>
            <a:endParaRPr b="0" lang="fr-FR" sz="1000" strike="noStrike" u="none">
              <a:solidFill>
                <a:srgbClr val="ffffff"/>
              </a:solidFill>
              <a:effectLst/>
              <a:uFillTx/>
              <a:latin typeface="Arial"/>
            </a:endParaRPr>
          </a:p>
        </p:txBody>
      </p:sp>
      <p:sp>
        <p:nvSpPr>
          <p:cNvPr id="298" name=""/>
          <p:cNvSpPr/>
          <p:nvPr/>
        </p:nvSpPr>
        <p:spPr>
          <a:xfrm>
            <a:off x="360000" y="136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99" name=""/>
          <p:cNvSpPr/>
          <p:nvPr/>
        </p:nvSpPr>
        <p:spPr>
          <a:xfrm>
            <a:off x="540000" y="149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RECEPTION</a:t>
            </a:r>
            <a:endParaRPr b="0" lang="fr-FR" sz="2200" strike="noStrike" u="none">
              <a:solidFill>
                <a:srgbClr val="ffffff"/>
              </a:solidFill>
              <a:effectLst/>
              <a:uFillTx/>
              <a:latin typeface="Arial"/>
            </a:endParaRPr>
          </a:p>
        </p:txBody>
      </p:sp>
      <p:sp>
        <p:nvSpPr>
          <p:cNvPr id="300" name=""/>
          <p:cNvSpPr/>
          <p:nvPr/>
        </p:nvSpPr>
        <p:spPr>
          <a:xfrm>
            <a:off x="3096000" y="151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Each measurement identifies a precise position in the path.</a:t>
            </a:r>
            <a:endParaRPr b="0" lang="fr-FR" sz="1700" strike="noStrike" u="none">
              <a:solidFill>
                <a:srgbClr val="ffffff"/>
              </a:solidFill>
              <a:effectLst/>
              <a:uFillTx/>
              <a:latin typeface="Arial"/>
            </a:endParaRPr>
          </a:p>
        </p:txBody>
      </p:sp>
      <p:sp>
        <p:nvSpPr>
          <p:cNvPr id="301" name=""/>
          <p:cNvSpPr/>
          <p:nvPr/>
        </p:nvSpPr>
        <p:spPr>
          <a:xfrm>
            <a:off x="360000" y="2448000"/>
            <a:ext cx="9359280" cy="86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2" name=""/>
          <p:cNvSpPr/>
          <p:nvPr/>
        </p:nvSpPr>
        <p:spPr>
          <a:xfrm>
            <a:off x="540000" y="257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QUEUED</a:t>
            </a:r>
            <a:endParaRPr b="0" lang="fr-FR" sz="2200" strike="noStrike" u="none">
              <a:solidFill>
                <a:srgbClr val="ffffff"/>
              </a:solidFill>
              <a:effectLst/>
              <a:uFillTx/>
              <a:latin typeface="Arial"/>
            </a:endParaRPr>
          </a:p>
        </p:txBody>
      </p:sp>
      <p:sp>
        <p:nvSpPr>
          <p:cNvPr id="303" name=""/>
          <p:cNvSpPr/>
          <p:nvPr/>
        </p:nvSpPr>
        <p:spPr>
          <a:xfrm>
            <a:off x="3096000" y="259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The packet retains its measurements despite a later reception.</a:t>
            </a:r>
            <a:endParaRPr b="0" lang="fr-FR" sz="1700" strike="noStrike" u="none">
              <a:solidFill>
                <a:srgbClr val="ffffff"/>
              </a:solidFill>
              <a:effectLst/>
              <a:uFillTx/>
              <a:latin typeface="Arial"/>
            </a:endParaRPr>
          </a:p>
        </p:txBody>
      </p:sp>
      <p:sp>
        <p:nvSpPr>
          <p:cNvPr id="304" name=""/>
          <p:cNvSpPr/>
          <p:nvPr/>
        </p:nvSpPr>
        <p:spPr>
          <a:xfrm>
            <a:off x="360000" y="352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5" name=""/>
          <p:cNvSpPr/>
          <p:nvPr/>
        </p:nvSpPr>
        <p:spPr>
          <a:xfrm>
            <a:off x="540000" y="365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RELAY</a:t>
            </a:r>
            <a:endParaRPr b="0" lang="fr-FR" sz="2200" strike="noStrike" u="none">
              <a:solidFill>
                <a:srgbClr val="ffffff"/>
              </a:solidFill>
              <a:effectLst/>
              <a:uFillTx/>
              <a:latin typeface="Arial"/>
            </a:endParaRPr>
          </a:p>
        </p:txBody>
      </p:sp>
      <p:sp>
        <p:nvSpPr>
          <p:cNvPr id="306" name=""/>
          <p:cNvSpPr/>
          <p:nvPr/>
        </p:nvSpPr>
        <p:spPr>
          <a:xfrm>
            <a:off x="3096000" y="3672000"/>
            <a:ext cx="6371280" cy="68508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en-US" sz="1700" strike="noStrike" u="none">
                <a:solidFill>
                  <a:srgbClr val="f5f8fc"/>
                </a:solidFill>
                <a:effectLst/>
                <a:uFillTx/>
                <a:latin typeface="DejaVu Sans"/>
                <a:ea typeface="DejaVu Sans"/>
              </a:rPr>
              <a:t>Indexes follow full callsigns after the path changes.</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9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9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9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22</a:t>
            </a:r>
            <a:endParaRPr b="0" lang="fr-FR" sz="1200" strike="noStrike" u="none">
              <a:solidFill>
                <a:srgbClr val="ffffff"/>
              </a:solidFill>
              <a:effectLst/>
              <a:uFillTx/>
              <a:latin typeface="Arial"/>
            </a:endParaRPr>
          </a:p>
        </p:txBody>
      </p:sp>
      <p:sp>
        <p:nvSpPr>
          <p:cNvPr id="9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The message return path</a:t>
            </a:r>
            <a:endParaRPr b="0" lang="fr-FR" sz="3200" strike="noStrike" u="none">
              <a:solidFill>
                <a:srgbClr val="ffffff"/>
              </a:solidFill>
              <a:effectLst/>
              <a:uFillTx/>
              <a:latin typeface="Arial"/>
            </a:endParaRPr>
          </a:p>
        </p:txBody>
      </p:sp>
      <p:sp>
        <p:nvSpPr>
          <p:cNvPr id="9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The iGate learns over RF how to reach a station.</a:t>
            </a:r>
            <a:endParaRPr b="0" lang="fr-FR" sz="2000" strike="noStrike" u="none">
              <a:solidFill>
                <a:srgbClr val="ffffff"/>
              </a:solidFill>
              <a:effectLst/>
              <a:uFillTx/>
              <a:latin typeface="Arial"/>
            </a:endParaRPr>
          </a:p>
        </p:txBody>
      </p:sp>
      <p:sp>
        <p:nvSpPr>
          <p:cNvPr id="9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src/station_utils.cpp; src/aprs_return_route.cpp; docs/REVERSE_MESSAGE_ROUTING.md</a:t>
            </a:r>
            <a:endParaRPr b="0" lang="fr-FR" sz="1000" strike="noStrike" u="none">
              <a:solidFill>
                <a:srgbClr val="ffffff"/>
              </a:solidFill>
              <a:effectLst/>
              <a:uFillTx/>
              <a:latin typeface="Arial"/>
            </a:endParaRPr>
          </a:p>
        </p:txBody>
      </p:sp>
      <p:sp>
        <p:nvSpPr>
          <p:cNvPr id="97" name=""/>
          <p:cNvSpPr/>
          <p:nvPr/>
        </p:nvSpPr>
        <p:spPr>
          <a:xfrm>
            <a:off x="360360" y="1311840"/>
            <a:ext cx="9359280" cy="10278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8" name=""/>
          <p:cNvSpPr/>
          <p:nvPr/>
        </p:nvSpPr>
        <p:spPr>
          <a:xfrm>
            <a:off x="558000" y="145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01</a:t>
            </a:r>
            <a:endParaRPr b="0" lang="fr-FR" sz="2800" strike="noStrike" u="none">
              <a:solidFill>
                <a:srgbClr val="ffffff"/>
              </a:solidFill>
              <a:effectLst/>
              <a:uFillTx/>
              <a:latin typeface="Arial"/>
            </a:endParaRPr>
          </a:p>
        </p:txBody>
      </p:sp>
      <p:sp>
        <p:nvSpPr>
          <p:cNvPr id="99" name=""/>
          <p:cNvSpPr/>
          <p:nvPr/>
        </p:nvSpPr>
        <p:spPr>
          <a:xfrm>
            <a:off x="1440000" y="145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Learned route</a:t>
            </a:r>
            <a:endParaRPr b="0" lang="fr-FR" sz="2200" strike="noStrike" u="none">
              <a:solidFill>
                <a:srgbClr val="ffffff"/>
              </a:solidFill>
              <a:effectLst/>
              <a:uFillTx/>
              <a:latin typeface="Arial"/>
            </a:endParaRPr>
          </a:p>
        </p:txBody>
      </p:sp>
      <p:sp>
        <p:nvSpPr>
          <p:cNvPr id="100" name=""/>
          <p:cNvSpPr/>
          <p:nvPr/>
        </p:nvSpPr>
        <p:spPr>
          <a:xfrm>
            <a:off x="3780000" y="149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Used relays A then B produce return path B then A.</a:t>
            </a:r>
            <a:endParaRPr b="0" lang="fr-FR" sz="1700" strike="noStrike" u="none">
              <a:solidFill>
                <a:srgbClr val="ffffff"/>
              </a:solidFill>
              <a:effectLst/>
              <a:uFillTx/>
              <a:latin typeface="Arial"/>
            </a:endParaRPr>
          </a:p>
        </p:txBody>
      </p:sp>
      <p:sp>
        <p:nvSpPr>
          <p:cNvPr id="101" name=""/>
          <p:cNvSpPr/>
          <p:nvPr/>
        </p:nvSpPr>
        <p:spPr>
          <a:xfrm>
            <a:off x="360000" y="241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2" name=""/>
          <p:cNvSpPr/>
          <p:nvPr/>
        </p:nvSpPr>
        <p:spPr>
          <a:xfrm>
            <a:off x="558000" y="253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02</a:t>
            </a:r>
            <a:endParaRPr b="0" lang="fr-FR" sz="2800" strike="noStrike" u="none">
              <a:solidFill>
                <a:srgbClr val="ffffff"/>
              </a:solidFill>
              <a:effectLst/>
              <a:uFillTx/>
              <a:latin typeface="Arial"/>
            </a:endParaRPr>
          </a:p>
        </p:txBody>
      </p:sp>
      <p:sp>
        <p:nvSpPr>
          <p:cNvPr id="103" name=""/>
          <p:cNvSpPr/>
          <p:nvPr/>
        </p:nvSpPr>
        <p:spPr>
          <a:xfrm>
            <a:off x="1440000" y="253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APRS-IS to RF</a:t>
            </a:r>
            <a:endParaRPr b="0" lang="fr-FR" sz="2200" strike="noStrike" u="none">
              <a:solidFill>
                <a:srgbClr val="ffffff"/>
              </a:solidFill>
              <a:effectLst/>
              <a:uFillTx/>
              <a:latin typeface="Arial"/>
            </a:endParaRPr>
          </a:p>
        </p:txBody>
      </p:sp>
      <p:sp>
        <p:nvSpPr>
          <p:cNvPr id="104" name=""/>
          <p:cNvSpPr/>
          <p:nvPr/>
        </p:nvSpPr>
        <p:spPr>
          <a:xfrm>
            <a:off x="3780000" y="257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A message to a recently heard station uses this learned path.</a:t>
            </a:r>
            <a:endParaRPr b="0" lang="fr-FR" sz="1700" strike="noStrike" u="none">
              <a:solidFill>
                <a:srgbClr val="ffffff"/>
              </a:solidFill>
              <a:effectLst/>
              <a:uFillTx/>
              <a:latin typeface="Arial"/>
            </a:endParaRPr>
          </a:p>
        </p:txBody>
      </p:sp>
      <p:sp>
        <p:nvSpPr>
          <p:cNvPr id="105" name=""/>
          <p:cNvSpPr/>
          <p:nvPr/>
        </p:nvSpPr>
        <p:spPr>
          <a:xfrm>
            <a:off x="360000" y="349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6" name=""/>
          <p:cNvSpPr/>
          <p:nvPr/>
        </p:nvSpPr>
        <p:spPr>
          <a:xfrm>
            <a:off x="558000" y="361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03</a:t>
            </a:r>
            <a:endParaRPr b="0" lang="fr-FR" sz="2800" strike="noStrike" u="none">
              <a:solidFill>
                <a:srgbClr val="ffffff"/>
              </a:solidFill>
              <a:effectLst/>
              <a:uFillTx/>
              <a:latin typeface="Arial"/>
            </a:endParaRPr>
          </a:p>
        </p:txBody>
      </p:sp>
      <p:sp>
        <p:nvSpPr>
          <p:cNvPr id="107" name=""/>
          <p:cNvSpPr/>
          <p:nvPr/>
        </p:nvSpPr>
        <p:spPr>
          <a:xfrm>
            <a:off x="1440000" y="361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Limited lifetime</a:t>
            </a:r>
            <a:endParaRPr b="0" lang="fr-FR" sz="2200" strike="noStrike" u="none">
              <a:solidFill>
                <a:srgbClr val="ffffff"/>
              </a:solidFill>
              <a:effectLst/>
              <a:uFillTx/>
              <a:latin typeface="Arial"/>
            </a:endParaRPr>
          </a:p>
        </p:txBody>
      </p:sp>
      <p:sp>
        <p:nvSpPr>
          <p:cNvPr id="108" name=""/>
          <p:cNvSpPr/>
          <p:nvPr/>
        </p:nvSpPr>
        <p:spPr>
          <a:xfrm>
            <a:off x="3780000" y="3654000"/>
            <a:ext cx="568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Expired or unknown route: no APRS-IS downlink to RF.</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9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9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9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23</a:t>
            </a:r>
            <a:endParaRPr b="0" lang="fr-FR" sz="1200" strike="noStrike" u="none">
              <a:solidFill>
                <a:srgbClr val="ffffff"/>
              </a:solidFill>
              <a:effectLst/>
              <a:uFillTx/>
              <a:latin typeface="Arial"/>
            </a:endParaRPr>
          </a:p>
        </p:txBody>
      </p:sp>
      <p:sp>
        <p:nvSpPr>
          <p:cNvPr id="29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Relay and reply handling</a:t>
            </a:r>
            <a:endParaRPr b="0" lang="fr-FR" sz="3200" strike="noStrike" u="none">
              <a:solidFill>
                <a:srgbClr val="ffffff"/>
              </a:solidFill>
              <a:effectLst/>
              <a:uFillTx/>
              <a:latin typeface="Arial"/>
            </a:endParaRPr>
          </a:p>
        </p:txBody>
      </p:sp>
      <p:sp>
        <p:nvSpPr>
          <p:cNvPr id="29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Relaying and local processing handle their duplicates separately.</a:t>
            </a:r>
            <a:endParaRPr b="0" lang="fr-FR" sz="2000" strike="noStrike" u="none">
              <a:solidFill>
                <a:srgbClr val="ffffff"/>
              </a:solidFill>
              <a:effectLst/>
              <a:uFillTx/>
              <a:latin typeface="Arial"/>
            </a:endParaRPr>
          </a:p>
        </p:txBody>
      </p:sp>
      <p:sp>
        <p:nvSpPr>
          <p:cNvPr id="29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packet_dedup.cpp; local_message_gate.cpp; digi_utils.cpp; RF validation on 28/09</a:t>
            </a:r>
            <a:endParaRPr b="0" lang="fr-FR" sz="1000" strike="noStrike" u="none">
              <a:solidFill>
                <a:srgbClr val="ffffff"/>
              </a:solidFill>
              <a:effectLst/>
              <a:uFillTx/>
              <a:latin typeface="Arial"/>
            </a:endParaRPr>
          </a:p>
        </p:txBody>
      </p:sp>
      <p:sp>
        <p:nvSpPr>
          <p:cNvPr id="298" name=""/>
          <p:cNvSpPr/>
          <p:nvPr/>
        </p:nvSpPr>
        <p:spPr>
          <a:xfrm>
            <a:off x="360000" y="136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99" name=""/>
          <p:cNvSpPr/>
          <p:nvPr/>
        </p:nvSpPr>
        <p:spPr>
          <a:xfrm>
            <a:off x="540000" y="149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DUPLICATES</a:t>
            </a:r>
            <a:endParaRPr b="0" lang="fr-FR" sz="2200" strike="noStrike" u="none">
              <a:solidFill>
                <a:srgbClr val="ffffff"/>
              </a:solidFill>
              <a:effectLst/>
              <a:uFillTx/>
              <a:latin typeface="Arial"/>
            </a:endParaRPr>
          </a:p>
        </p:txBody>
      </p:sp>
      <p:sp>
        <p:nvSpPr>
          <p:cNvPr id="300" name=""/>
          <p:cNvSpPr/>
          <p:nvPr/>
        </p:nvSpPr>
        <p:spPr>
          <a:xfrm>
            <a:off x="3096000" y="151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Local 25 s window for relaying and route learning.</a:t>
            </a:r>
            <a:endParaRPr b="0" lang="fr-FR" sz="1700" strike="noStrike" u="none">
              <a:solidFill>
                <a:srgbClr val="ffffff"/>
              </a:solidFill>
              <a:effectLst/>
              <a:uFillTx/>
              <a:latin typeface="Arial"/>
            </a:endParaRPr>
          </a:p>
        </p:txBody>
      </p:sp>
      <p:sp>
        <p:nvSpPr>
          <p:cNvPr id="301" name=""/>
          <p:cNvSpPr/>
          <p:nvPr/>
        </p:nvSpPr>
        <p:spPr>
          <a:xfrm>
            <a:off x="360000" y="2448000"/>
            <a:ext cx="9359280" cy="86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2" name=""/>
          <p:cNvSpPr/>
          <p:nvPr/>
        </p:nvSpPr>
        <p:spPr>
          <a:xfrm>
            <a:off x="540000" y="257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REPLIES</a:t>
            </a:r>
            <a:endParaRPr b="0" lang="fr-FR" sz="2200" strike="noStrike" u="none">
              <a:solidFill>
                <a:srgbClr val="ffffff"/>
              </a:solidFill>
              <a:effectLst/>
              <a:uFillTx/>
              <a:latin typeface="Arial"/>
            </a:endParaRPr>
          </a:p>
        </p:txBody>
      </p:sp>
      <p:sp>
        <p:nvSpPr>
          <p:cNvPr id="303" name=""/>
          <p:cNvSpPr/>
          <p:nvPr/>
        </p:nvSpPr>
        <p:spPr>
          <a:xfrm>
            <a:off x="3096000" y="259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Another ACK is possible without executing the same local query twice.</a:t>
            </a:r>
            <a:endParaRPr b="0" lang="fr-FR" sz="1700" strike="noStrike" u="none">
              <a:solidFill>
                <a:srgbClr val="ffffff"/>
              </a:solidFill>
              <a:effectLst/>
              <a:uFillTx/>
              <a:latin typeface="Arial"/>
            </a:endParaRPr>
          </a:p>
        </p:txBody>
      </p:sp>
      <p:sp>
        <p:nvSpPr>
          <p:cNvPr id="304" name=""/>
          <p:cNvSpPr/>
          <p:nvPr/>
        </p:nvSpPr>
        <p:spPr>
          <a:xfrm>
            <a:off x="360000" y="352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5" name=""/>
          <p:cNvSpPr/>
          <p:nvPr/>
        </p:nvSpPr>
        <p:spPr>
          <a:xfrm>
            <a:off x="540000" y="365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RF PATHS</a:t>
            </a:r>
            <a:endParaRPr b="0" lang="fr-FR" sz="2200" strike="noStrike" u="none">
              <a:solidFill>
                <a:srgbClr val="ffffff"/>
              </a:solidFill>
              <a:effectLst/>
              <a:uFillTx/>
              <a:latin typeface="Arial"/>
            </a:endParaRPr>
          </a:p>
        </p:txBody>
      </p:sp>
      <p:sp>
        <p:nvSpPr>
          <p:cNvPr id="306" name=""/>
          <p:cNvSpPr/>
          <p:nvPr/>
        </p:nvSpPr>
        <p:spPr>
          <a:xfrm>
            <a:off x="3096000" y="3672000"/>
            <a:ext cx="6371280" cy="68508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en-US" sz="1700" strike="noStrike" u="none">
                <a:solidFill>
                  <a:srgbClr val="f5f8fc"/>
                </a:solidFill>
                <a:effectLst/>
                <a:uFillTx/>
                <a:latin typeface="DejaVu Sans"/>
                <a:ea typeface="DejaVu Sans"/>
              </a:rPr>
              <a:t>Bounded regional aliases and a guard against returning through this relay.</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9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9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9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24</a:t>
            </a:r>
            <a:endParaRPr b="0" lang="fr-FR" sz="1200" strike="noStrike" u="none">
              <a:solidFill>
                <a:srgbClr val="ffffff"/>
              </a:solidFill>
              <a:effectLst/>
              <a:uFillTx/>
              <a:latin typeface="Arial"/>
            </a:endParaRPr>
          </a:p>
        </p:txBody>
      </p:sp>
      <p:sp>
        <p:nvSpPr>
          <p:cNvPr id="9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Authenticated radio commands</a:t>
            </a:r>
            <a:endParaRPr b="0" lang="fr-FR" sz="3200" strike="noStrike" u="none">
              <a:solidFill>
                <a:srgbClr val="ffffff"/>
              </a:solidFill>
              <a:effectLst/>
              <a:uFillTx/>
              <a:latin typeface="Arial"/>
            </a:endParaRPr>
          </a:p>
        </p:txBody>
      </p:sp>
      <p:sp>
        <p:nvSpPr>
          <p:cNvPr id="9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Remote control uses an authorized identity and a configured secret.</a:t>
            </a:r>
            <a:endParaRPr b="0" lang="fr-FR" sz="2000" strike="noStrike" u="none">
              <a:solidFill>
                <a:srgbClr val="ffffff"/>
              </a:solidFill>
              <a:effectLst/>
              <a:uFillTx/>
              <a:latin typeface="Arial"/>
            </a:endParaRPr>
          </a:p>
        </p:txBody>
      </p:sp>
      <p:sp>
        <p:nvSpPr>
          <p:cNvPr id="9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References: src/remote_auth.cpp; include/remote_replay_window.h; REMOTE_CONTROL_AUTH documentation</a:t>
            </a:r>
            <a:endParaRPr b="0" lang="fr-FR" sz="1000" strike="noStrike" u="none">
              <a:solidFill>
                <a:srgbClr val="ffffff"/>
              </a:solidFill>
              <a:effectLst/>
              <a:uFillTx/>
              <a:latin typeface="Arial"/>
            </a:endParaRPr>
          </a:p>
        </p:txBody>
      </p:sp>
      <p:sp>
        <p:nvSpPr>
          <p:cNvPr id="97" name=""/>
          <p:cNvSpPr/>
          <p:nvPr/>
        </p:nvSpPr>
        <p:spPr>
          <a:xfrm>
            <a:off x="360360" y="1311840"/>
            <a:ext cx="9359280" cy="10278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8" name=""/>
          <p:cNvSpPr/>
          <p:nvPr/>
        </p:nvSpPr>
        <p:spPr>
          <a:xfrm>
            <a:off x="558000" y="145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01</a:t>
            </a:r>
            <a:endParaRPr b="0" lang="fr-FR" sz="2800" strike="noStrike" u="none">
              <a:solidFill>
                <a:srgbClr val="ffffff"/>
              </a:solidFill>
              <a:effectLst/>
              <a:uFillTx/>
              <a:latin typeface="Arial"/>
            </a:endParaRPr>
          </a:p>
        </p:txBody>
      </p:sp>
      <p:sp>
        <p:nvSpPr>
          <p:cNvPr id="99" name=""/>
          <p:cNvSpPr/>
          <p:nvPr/>
        </p:nvSpPr>
        <p:spPr>
          <a:xfrm>
            <a:off x="1440000" y="145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HMAC tag</a:t>
            </a:r>
            <a:endParaRPr b="0" lang="fr-FR" sz="2200" strike="noStrike" u="none">
              <a:solidFill>
                <a:srgbClr val="ffffff"/>
              </a:solidFill>
              <a:effectLst/>
              <a:uFillTx/>
              <a:latin typeface="Arial"/>
            </a:endParaRPr>
          </a:p>
        </p:txBody>
      </p:sp>
      <p:sp>
        <p:nvSpPr>
          <p:cNvPr id="100" name=""/>
          <p:cNvSpPr/>
          <p:nvPr/>
        </p:nvSpPr>
        <p:spPr>
          <a:xfrm>
            <a:off x="3780000" y="149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The check binds the command to its sender and target.</a:t>
            </a:r>
            <a:endParaRPr b="0" lang="fr-FR" sz="1700" strike="noStrike" u="none">
              <a:solidFill>
                <a:srgbClr val="ffffff"/>
              </a:solidFill>
              <a:effectLst/>
              <a:uFillTx/>
              <a:latin typeface="Arial"/>
            </a:endParaRPr>
          </a:p>
        </p:txBody>
      </p:sp>
      <p:sp>
        <p:nvSpPr>
          <p:cNvPr id="101" name=""/>
          <p:cNvSpPr/>
          <p:nvPr/>
        </p:nvSpPr>
        <p:spPr>
          <a:xfrm>
            <a:off x="360000" y="241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2" name=""/>
          <p:cNvSpPr/>
          <p:nvPr/>
        </p:nvSpPr>
        <p:spPr>
          <a:xfrm>
            <a:off x="558000" y="253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02</a:t>
            </a:r>
            <a:endParaRPr b="0" lang="fr-FR" sz="2800" strike="noStrike" u="none">
              <a:solidFill>
                <a:srgbClr val="ffffff"/>
              </a:solidFill>
              <a:effectLst/>
              <a:uFillTx/>
              <a:latin typeface="Arial"/>
            </a:endParaRPr>
          </a:p>
        </p:txBody>
      </p:sp>
      <p:sp>
        <p:nvSpPr>
          <p:cNvPr id="103" name=""/>
          <p:cNvSpPr/>
          <p:nvPr/>
        </p:nvSpPr>
        <p:spPr>
          <a:xfrm>
            <a:off x="1440000" y="253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Counter check</a:t>
            </a:r>
            <a:endParaRPr b="0" lang="fr-FR" sz="2200" strike="noStrike" u="none">
              <a:solidFill>
                <a:srgbClr val="ffffff"/>
              </a:solidFill>
              <a:effectLst/>
              <a:uFillTx/>
              <a:latin typeface="Arial"/>
            </a:endParaRPr>
          </a:p>
        </p:txBody>
      </p:sp>
      <p:sp>
        <p:nvSpPr>
          <p:cNvPr id="104" name=""/>
          <p:cNvSpPr/>
          <p:nvPr/>
        </p:nvSpPr>
        <p:spPr>
          <a:xfrm>
            <a:off x="3780000" y="257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Persistent state prevents re-execution of previously received commands.</a:t>
            </a:r>
            <a:endParaRPr b="0" lang="fr-FR" sz="1700" strike="noStrike" u="none">
              <a:solidFill>
                <a:srgbClr val="ffffff"/>
              </a:solidFill>
              <a:effectLst/>
              <a:uFillTx/>
              <a:latin typeface="Arial"/>
            </a:endParaRPr>
          </a:p>
        </p:txBody>
      </p:sp>
      <p:sp>
        <p:nvSpPr>
          <p:cNvPr id="105" name=""/>
          <p:cNvSpPr/>
          <p:nvPr/>
        </p:nvSpPr>
        <p:spPr>
          <a:xfrm>
            <a:off x="360000" y="349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6" name=""/>
          <p:cNvSpPr/>
          <p:nvPr/>
        </p:nvSpPr>
        <p:spPr>
          <a:xfrm>
            <a:off x="558000" y="361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03</a:t>
            </a:r>
            <a:endParaRPr b="0" lang="fr-FR" sz="2800" strike="noStrike" u="none">
              <a:solidFill>
                <a:srgbClr val="ffffff"/>
              </a:solidFill>
              <a:effectLst/>
              <a:uFillTx/>
              <a:latin typeface="Arial"/>
            </a:endParaRPr>
          </a:p>
        </p:txBody>
      </p:sp>
      <p:sp>
        <p:nvSpPr>
          <p:cNvPr id="107" name=""/>
          <p:cNvSpPr/>
          <p:nvPr/>
        </p:nvSpPr>
        <p:spPr>
          <a:xfrm>
            <a:off x="1440000" y="361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2200" strike="noStrike" u="none">
                <a:solidFill>
                  <a:srgbClr val="f1a948"/>
                </a:solidFill>
                <a:effectLst/>
                <a:uFillTx/>
                <a:latin typeface="DejaVu Sans"/>
                <a:ea typeface="DejaVu Sans"/>
              </a:rPr>
              <a:t>Specific use</a:t>
            </a:r>
            <a:endParaRPr b="0" lang="fr-FR" sz="2200" strike="noStrike" u="none">
              <a:solidFill>
                <a:srgbClr val="ffffff"/>
              </a:solidFill>
              <a:effectLst/>
              <a:uFillTx/>
              <a:latin typeface="Arial"/>
            </a:endParaRPr>
          </a:p>
        </p:txBody>
      </p:sp>
      <p:sp>
        <p:nvSpPr>
          <p:cNvPr id="108" name=""/>
          <p:cNvSpPr/>
          <p:nvPr/>
        </p:nvSpPr>
        <p:spPr>
          <a:xfrm>
            <a:off x="3780000" y="3654000"/>
            <a:ext cx="568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This authentication applies to remote control, not every packet.</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28"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29"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330"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28</a:t>
            </a:r>
            <a:endParaRPr b="0" lang="fr-FR" sz="1200" strike="noStrike" u="none">
              <a:solidFill>
                <a:srgbClr val="ffffff"/>
              </a:solidFill>
              <a:effectLst/>
              <a:uFillTx/>
              <a:latin typeface="Arial"/>
            </a:endParaRPr>
          </a:p>
        </p:txBody>
      </p:sp>
      <p:sp>
        <p:nvSpPr>
          <p:cNvPr id="331"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en-US" sz="3200" strike="noStrike" u="none">
                <a:solidFill>
                  <a:srgbClr val="f5f8fc"/>
                </a:solidFill>
                <a:effectLst/>
                <a:uFillTx/>
                <a:latin typeface="DejaVu Sans"/>
                <a:ea typeface="DejaVu Sans"/>
              </a:rPr>
              <a:t>Where to read the mechanisms</a:t>
            </a:r>
            <a:endParaRPr b="0" lang="fr-FR" sz="3200" strike="noStrike" u="none">
              <a:solidFill>
                <a:srgbClr val="ffffff"/>
              </a:solidFill>
              <a:effectLst/>
              <a:uFillTx/>
              <a:latin typeface="Arial"/>
            </a:endParaRPr>
          </a:p>
        </p:txBody>
      </p:sp>
      <p:sp>
        <p:nvSpPr>
          <p:cNvPr id="332"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en-US" sz="2000" strike="noStrike" u="none">
                <a:solidFill>
                  <a:srgbClr val="b8c9d5"/>
                </a:solidFill>
                <a:effectLst/>
                <a:uFillTx/>
                <a:latin typeface="DejaVu Sans"/>
                <a:ea typeface="DejaVu Sans"/>
              </a:rPr>
              <a:t>The main loop shows how packets move between modules.</a:t>
            </a:r>
            <a:endParaRPr b="0" lang="fr-FR" sz="2000" strike="noStrike" u="none">
              <a:solidFill>
                <a:srgbClr val="ffffff"/>
              </a:solidFill>
              <a:effectLst/>
              <a:uFillTx/>
              <a:latin typeface="Arial"/>
            </a:endParaRPr>
          </a:p>
        </p:txBody>
      </p:sp>
      <p:sp>
        <p:nvSpPr>
          <p:cNvPr id="333"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en-US" sz="1000" strike="noStrike" u="none">
                <a:solidFill>
                  <a:srgbClr val="b8c9d5"/>
                </a:solidFill>
                <a:effectLst/>
                <a:uFillTx/>
                <a:latin typeface="DejaVu Sans"/>
                <a:ea typeface="DejaVu Sans"/>
              </a:rPr>
              <a:t>Reading reference: rxt branch, commit 2cebfe6. Each slide’s notes explain the mechanisms.</a:t>
            </a:r>
            <a:endParaRPr b="0" lang="fr-FR" sz="1000" strike="noStrike" u="none">
              <a:solidFill>
                <a:srgbClr val="ffffff"/>
              </a:solidFill>
              <a:effectLst/>
              <a:uFillTx/>
              <a:latin typeface="Arial"/>
            </a:endParaRPr>
          </a:p>
        </p:txBody>
      </p:sp>
      <p:sp>
        <p:nvSpPr>
          <p:cNvPr id="334" name=""/>
          <p:cNvSpPr/>
          <p:nvPr/>
        </p:nvSpPr>
        <p:spPr>
          <a:xfrm>
            <a:off x="360000" y="1332000"/>
            <a:ext cx="9359280" cy="34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35" name=""/>
          <p:cNvSpPr/>
          <p:nvPr/>
        </p:nvSpPr>
        <p:spPr>
          <a:xfrm>
            <a:off x="558000" y="1512000"/>
            <a:ext cx="8963280" cy="305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en-US" sz="1700" strike="noStrike" u="none">
                <a:solidFill>
                  <a:srgbClr val="f5f8fc"/>
                </a:solidFill>
                <a:effectLst/>
                <a:uFillTx/>
                <a:latin typeface="DejaVu Sans"/>
                <a:ea typeface="DejaVu Sans"/>
              </a:rPr>
              <a:t>LoRa_APRS_iGate.cpp: reception dispatch</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lora_utils.cpp: radio, RXT context and transmission</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rxt_protocol.cpp: text block, fingerprints and attribution</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native_aprs.cpp: codec and RXT-to-path association</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digi_utils.cpp: relay decision and path rewriting</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station_utils.cpp: transmit queue and learned route</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aprs_json_utils.cpp / tnc_utils.cpp: interfaces</a:t>
            </a:r>
            <a:endParaRPr b="0" lang="fr-FR" sz="1700" strike="noStrike" u="none">
              <a:solidFill>
                <a:srgbClr val="ffffff"/>
              </a:solidFill>
              <a:effectLst/>
              <a:uFillTx/>
              <a:latin typeface="Arial"/>
            </a:endParaRPr>
          </a:p>
          <a:p>
            <a:pPr>
              <a:lnSpc>
                <a:spcPct val="115000"/>
              </a:lnSpc>
              <a:spcAft>
                <a:spcPts val="709"/>
              </a:spcAft>
            </a:pPr>
            <a:r>
              <a:rPr b="0" lang="en-US" sz="1700" strike="noStrike" u="none">
                <a:solidFill>
                  <a:srgbClr val="f5f8fc"/>
                </a:solidFill>
                <a:effectLst/>
                <a:uFillTx/>
                <a:latin typeface="DejaVu Sans"/>
                <a:ea typeface="DejaVu Sans"/>
              </a:rPr>
              <a:t>aprs_is_utils.cpp / remote_auth.cpp: messages and control</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23</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fr-FR</dc:language>
  <cp:lastModifiedBy/>
  <dcterms:modified xsi:type="dcterms:W3CDTF">2026-09-25T15:43:29Z</dcterms:modified>
  <cp:revision>7</cp:revision>
  <dc:subject/>
  <dc:title/>
</cp:coreProperties>
</file>

<file path=docProps/custom.xml><?xml version="1.0" encoding="utf-8"?>
<Properties xmlns="http://schemas.openxmlformats.org/officeDocument/2006/custom-properties" xmlns:vt="http://schemas.openxmlformats.org/officeDocument/2006/docPropsVTypes"/>
</file>