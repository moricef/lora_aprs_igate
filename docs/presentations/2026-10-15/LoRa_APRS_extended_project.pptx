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3.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jpeg" ContentType="image/jpeg"/>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notesSlides/_rels/notesSlide5.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4.xml.rels" ContentType="application/vnd.openxmlformats-package.relationships+xml"/>
  <Override PartName="/ppt/notesSlides/_rels/notesSlide17.xml.rels" ContentType="application/vnd.openxmlformats-package.relationships+xml"/>
  <Override PartName="/ppt/notesSlides/_rels/notesSlide3.xml.rels" ContentType="application/vnd.openxmlformats-package.relationships+xml"/>
  <Override PartName="/ppt/notesSlides/_rels/notesSlide16.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6.xml.rels" ContentType="application/vnd.openxmlformats-package.relationships+xml"/>
  <Override PartName="/ppt/notesSlides/_rels/notesSlide21.xml.rels" ContentType="application/vnd.openxmlformats-package.relationships+xml"/>
  <Override PartName="/ppt/notesSlides/_rels/notesSlide19.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fr-FR" sz="4400" strike="noStrike" u="none">
                <a:solidFill>
                  <a:srgbClr val="000000"/>
                </a:solidFill>
                <a:effectLst/>
                <a:uFillTx/>
                <a:latin typeface="Arial"/>
              </a:rPr>
              <a:t>Cliquez pour déplacer la diapo</a:t>
            </a:r>
            <a:endParaRPr b="0" lang="fr-FR" sz="4400" strike="noStrike" u="none">
              <a:solidFill>
                <a:srgbClr val="000000"/>
              </a:solidFill>
              <a:effectLst/>
              <a:uFillTx/>
              <a:latin typeface="Arial"/>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fr-FR" sz="2000" strike="noStrike" u="none">
                <a:solidFill>
                  <a:srgbClr val="000000"/>
                </a:solidFill>
                <a:effectLst/>
                <a:uFillTx/>
                <a:latin typeface="Arial"/>
              </a:rPr>
              <a:t>Cli</a:t>
            </a:r>
            <a:r>
              <a:rPr b="0" lang="fr-FR" sz="2000" strike="noStrike" u="none">
                <a:solidFill>
                  <a:srgbClr val="000000"/>
                </a:solidFill>
                <a:effectLst/>
                <a:uFillTx/>
                <a:latin typeface="Arial"/>
              </a:rPr>
              <a:t>qu</a:t>
            </a:r>
            <a:r>
              <a:rPr b="0" lang="fr-FR" sz="2000" strike="noStrike" u="none">
                <a:solidFill>
                  <a:srgbClr val="000000"/>
                </a:solidFill>
                <a:effectLst/>
                <a:uFillTx/>
                <a:latin typeface="Arial"/>
              </a:rPr>
              <a:t>ez </a:t>
            </a:r>
            <a:r>
              <a:rPr b="0" lang="fr-FR" sz="2000" strike="noStrike" u="none">
                <a:solidFill>
                  <a:srgbClr val="000000"/>
                </a:solidFill>
                <a:effectLst/>
                <a:uFillTx/>
                <a:latin typeface="Arial"/>
              </a:rPr>
              <a:t>po</a:t>
            </a:r>
            <a:r>
              <a:rPr b="0" lang="fr-FR" sz="2000" strike="noStrike" u="none">
                <a:solidFill>
                  <a:srgbClr val="000000"/>
                </a:solidFill>
                <a:effectLst/>
                <a:uFillTx/>
                <a:latin typeface="Arial"/>
              </a:rPr>
              <a:t>ur </a:t>
            </a:r>
            <a:r>
              <a:rPr b="0" lang="fr-FR" sz="2000" strike="noStrike" u="none">
                <a:solidFill>
                  <a:srgbClr val="000000"/>
                </a:solidFill>
                <a:effectLst/>
                <a:uFillTx/>
                <a:latin typeface="Arial"/>
              </a:rPr>
              <a:t>m</a:t>
            </a:r>
            <a:r>
              <a:rPr b="0" lang="fr-FR" sz="2000" strike="noStrike" u="none">
                <a:solidFill>
                  <a:srgbClr val="000000"/>
                </a:solidFill>
                <a:effectLst/>
                <a:uFillTx/>
                <a:latin typeface="Arial"/>
              </a:rPr>
              <a:t>od</a:t>
            </a:r>
            <a:r>
              <a:rPr b="0" lang="fr-FR" sz="2000" strike="noStrike" u="none">
                <a:solidFill>
                  <a:srgbClr val="000000"/>
                </a:solidFill>
                <a:effectLst/>
                <a:uFillTx/>
                <a:latin typeface="Arial"/>
              </a:rPr>
              <a:t>ifi</a:t>
            </a:r>
            <a:r>
              <a:rPr b="0" lang="fr-FR" sz="2000" strike="noStrike" u="none">
                <a:solidFill>
                  <a:srgbClr val="000000"/>
                </a:solidFill>
                <a:effectLst/>
                <a:uFillTx/>
                <a:latin typeface="Arial"/>
              </a:rPr>
              <a:t>er </a:t>
            </a:r>
            <a:r>
              <a:rPr b="0" lang="fr-FR" sz="2000" strike="noStrike" u="none">
                <a:solidFill>
                  <a:srgbClr val="000000"/>
                </a:solidFill>
                <a:effectLst/>
                <a:uFillTx/>
                <a:latin typeface="Arial"/>
              </a:rPr>
              <a:t>le </a:t>
            </a:r>
            <a:r>
              <a:rPr b="0" lang="fr-FR" sz="2000" strike="noStrike" u="none">
                <a:solidFill>
                  <a:srgbClr val="000000"/>
                </a:solidFill>
                <a:effectLst/>
                <a:uFillTx/>
                <a:latin typeface="Arial"/>
              </a:rPr>
              <a:t>for</a:t>
            </a:r>
            <a:r>
              <a:rPr b="0" lang="fr-FR" sz="2000" strike="noStrike" u="none">
                <a:solidFill>
                  <a:srgbClr val="000000"/>
                </a:solidFill>
                <a:effectLst/>
                <a:uFillTx/>
                <a:latin typeface="Arial"/>
              </a:rPr>
              <a:t>m</a:t>
            </a:r>
            <a:r>
              <a:rPr b="0" lang="fr-FR" sz="2000" strike="noStrike" u="none">
                <a:solidFill>
                  <a:srgbClr val="000000"/>
                </a:solidFill>
                <a:effectLst/>
                <a:uFillTx/>
                <a:latin typeface="Arial"/>
              </a:rPr>
              <a:t>at </a:t>
            </a:r>
            <a:r>
              <a:rPr b="0" lang="fr-FR" sz="2000" strike="noStrike" u="none">
                <a:solidFill>
                  <a:srgbClr val="000000"/>
                </a:solidFill>
                <a:effectLst/>
                <a:uFillTx/>
                <a:latin typeface="Arial"/>
              </a:rPr>
              <a:t>de</a:t>
            </a:r>
            <a:r>
              <a:rPr b="0" lang="fr-FR" sz="2000" strike="noStrike" u="none">
                <a:solidFill>
                  <a:srgbClr val="000000"/>
                </a:solidFill>
                <a:effectLst/>
                <a:uFillTx/>
                <a:latin typeface="Arial"/>
              </a:rPr>
              <a:t>s </a:t>
            </a:r>
            <a:r>
              <a:rPr b="0" lang="fr-FR" sz="2000" strike="noStrike" u="none">
                <a:solidFill>
                  <a:srgbClr val="000000"/>
                </a:solidFill>
                <a:effectLst/>
                <a:uFillTx/>
                <a:latin typeface="Arial"/>
              </a:rPr>
              <a:t>no</a:t>
            </a:r>
            <a:r>
              <a:rPr b="0" lang="fr-FR" sz="2000" strike="noStrike" u="none">
                <a:solidFill>
                  <a:srgbClr val="000000"/>
                </a:solidFill>
                <a:effectLst/>
                <a:uFillTx/>
                <a:latin typeface="Arial"/>
              </a:rPr>
              <a:t>te</a:t>
            </a:r>
            <a:r>
              <a:rPr b="0" lang="fr-FR" sz="2000" strike="noStrike" u="none">
                <a:solidFill>
                  <a:srgbClr val="000000"/>
                </a:solidFill>
                <a:effectLst/>
                <a:uFillTx/>
                <a:latin typeface="Arial"/>
              </a:rPr>
              <a:t>s</a:t>
            </a:r>
            <a:endParaRPr b="0" lang="fr-FR" sz="2000" strike="noStrike" u="non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fr-FR" sz="1400" strike="noStrike" u="none">
                <a:solidFill>
                  <a:srgbClr val="000000"/>
                </a:solidFill>
                <a:effectLst/>
                <a:uFillTx/>
                <a:latin typeface="Times New Roman"/>
              </a:rPr>
              <a:t>&lt;en-tête&gt;</a:t>
            </a:r>
            <a:endParaRPr b="0" lang="fr-FR" sz="1400" strike="noStrike" u="non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fr-FR" sz="1400" strike="noStrike" u="none">
                <a:solidFill>
                  <a:srgbClr val="000000"/>
                </a:solidFill>
                <a:effectLst/>
                <a:uFillTx/>
                <a:latin typeface="Times New Roman"/>
              </a:defRPr>
            </a:lvl1pPr>
          </a:lstStyle>
          <a:p>
            <a:pPr indent="0" algn="r">
              <a:buNone/>
            </a:pPr>
            <a:r>
              <a:rPr b="0" lang="fr-FR" sz="1400" strike="noStrike" u="none">
                <a:solidFill>
                  <a:srgbClr val="000000"/>
                </a:solidFill>
                <a:effectLst/>
                <a:uFillTx/>
                <a:latin typeface="Times New Roman"/>
              </a:rPr>
              <a:t>&lt;date/heure&gt;</a:t>
            </a:r>
            <a:endParaRPr b="0" lang="fr-FR" sz="1400" strike="noStrike" u="non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fr-FR" sz="1400" strike="noStrike" u="none">
                <a:solidFill>
                  <a:srgbClr val="000000"/>
                </a:solidFill>
                <a:effectLst/>
                <a:uFillTx/>
                <a:latin typeface="Times New Roman"/>
              </a:defRPr>
            </a:lvl1pPr>
          </a:lstStyle>
          <a:p>
            <a:pPr indent="0">
              <a:buNone/>
            </a:pPr>
            <a:r>
              <a:rPr b="0" lang="fr-FR" sz="1400" strike="noStrike" u="none">
                <a:solidFill>
                  <a:srgbClr val="000000"/>
                </a:solidFill>
                <a:effectLst/>
                <a:uFillTx/>
                <a:latin typeface="Times New Roman"/>
              </a:rPr>
              <a:t>&lt;pied de page&gt;</a:t>
            </a:r>
            <a:endParaRPr b="0" lang="fr-FR" sz="1400" strike="noStrike" u="non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fr-FR" sz="1400" strike="noStrike" u="none">
                <a:solidFill>
                  <a:srgbClr val="000000"/>
                </a:solidFill>
                <a:effectLst/>
                <a:uFillTx/>
                <a:latin typeface="Times New Roman"/>
              </a:defRPr>
            </a:lvl1pPr>
          </a:lstStyle>
          <a:p>
            <a:pPr indent="0" algn="r">
              <a:buNone/>
            </a:pPr>
            <a:fld id="{C4FFCFD4-EC0D-4C29-8990-86B22F5CF73E}" type="slidenum">
              <a:rPr b="0" lang="fr-FR" sz="1400" strike="noStrike" u="none">
                <a:solidFill>
                  <a:srgbClr val="000000"/>
                </a:solidFill>
                <a:effectLst/>
                <a:uFillTx/>
                <a:latin typeface="Times New Roman"/>
              </a:rPr>
              <a:t>&lt;numéro&gt;</a:t>
            </a:fld>
            <a:endParaRPr b="0" lang="fr-FR"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
          <p:cNvSpPr/>
          <p:nvPr/>
        </p:nvSpPr>
        <p:spPr>
          <a:xfrm>
            <a:off x="360000" y="360000"/>
            <a:ext cx="8639280" cy="4319280"/>
          </a:xfrm>
          <a:prstGeom prst="rect">
            <a:avLst/>
          </a:prstGeom>
          <a:solidFill>
            <a:srgbClr val="729fcf"/>
          </a:solidFill>
          <a:ln w="0">
            <a:solidFill>
              <a:srgbClr val="3465a4"/>
            </a:solid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rPr>
              <a:t>This overview is for radio amateurs. Jon Adams, creator of RXT, is invited to review the technical content. Graywolf messages and ACK have been tested over LoRa TNC2 TCP and serial links.</a:t>
            </a:r>
            <a:endParaRPr b="0" lang="fr-FR" sz="1700" strike="noStrike" u="non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
          <p:cNvSpPr/>
          <p:nvPr/>
        </p:nvSpPr>
        <p:spPr>
          <a:xfrm>
            <a:off x="360000" y="360000"/>
            <a:ext cx="8639280" cy="4319280"/>
          </a:xfrm>
          <a:prstGeom prst="rect">
            <a:avLst/>
          </a:prstGeom>
          <a:solidFill>
            <a:srgbClr val="729fcf"/>
          </a:solidFill>
          <a:ln w="0">
            <a:solidFill>
              <a:srgbClr val="3465a4"/>
            </a:solid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rPr>
              <a:t>Jon describes a high-speed 433.775 MHz LoRa APRS network, an RF-first path, busy high sites, filtering requirements and a need for applications that understand plain-text TNC2.</a:t>
            </a:r>
            <a:endParaRPr b="0" lang="fr-FR" sz="1700" strike="noStrike" u="non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
          <p:cNvSpPr/>
          <p:nvPr/>
        </p:nvSpPr>
        <p:spPr>
          <a:xfrm>
            <a:off x="360000" y="360000"/>
            <a:ext cx="8639280" cy="4319280"/>
          </a:xfrm>
          <a:prstGeom prst="rect">
            <a:avLst/>
          </a:prstGeom>
          <a:solidFill>
            <a:srgbClr val="729fcf"/>
          </a:solidFill>
          <a:ln w="0">
            <a:solidFill>
              <a:srgbClr val="3465a4"/>
            </a:solid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rPr>
              <a:t>Explain the RF path first. A receiver may also be a digipeater. The iGate exports both the packet and the measurements. Graywolf presents packet, station and radio-link views.</a:t>
            </a:r>
            <a:endParaRPr b="0" lang="fr-FR" sz="1700" strike="noStrike" u="non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
          <p:cNvSpPr/>
          <p:nvPr/>
        </p:nvSpPr>
        <p:spPr>
          <a:xfrm>
            <a:off x="360000" y="360000"/>
            <a:ext cx="8639280" cy="983520"/>
          </a:xfrm>
          <a:prstGeom prst="rect">
            <a:avLst/>
          </a:prstGeom>
          <a:solidFill>
            <a:srgbClr val="729fcf"/>
          </a:solidFill>
          <a:ln w="0">
            <a:solidFill>
              <a:srgbClr val="3465a4"/>
            </a:solid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0" lang="fr-FR" sz="1700" strike="noStrike" u="none">
                <a:solidFill>
                  <a:srgbClr val="f5f8fc"/>
                </a:solidFill>
                <a:effectLst/>
                <a:uFillTx/>
                <a:latin typeface="DejaVu Sans"/>
              </a:rPr>
              <a:t>Read the line aloud: sender, destination, optional path, then information. On this LoRa APRS network the radio payload includes a short identifying prefix before the text in TNC2 format.</a:t>
            </a:r>
            <a:endParaRPr b="0" lang="fr-FR" sz="1700" strike="noStrike" u="non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
          <p:cNvSpPr/>
          <p:nvPr/>
        </p:nvSpPr>
        <p:spPr>
          <a:xfrm>
            <a:off x="360000" y="360000"/>
            <a:ext cx="8639280" cy="4319280"/>
          </a:xfrm>
          <a:prstGeom prst="rect">
            <a:avLst/>
          </a:prstGeom>
          <a:solidFill>
            <a:srgbClr val="729fcf"/>
          </a:solidFill>
          <a:ln w="0">
            <a:solidFill>
              <a:srgbClr val="3465a4"/>
            </a:solid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rPr>
              <a:t>The suffix is text. Show -16 and -GS as examples, not as new fixed ranges. No need to explain integer encoding to the audience.</a:t>
            </a:r>
            <a:endParaRPr b="0" lang="fr-FR" sz="1700" strike="noStrike" u="non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
          <p:cNvSpPr/>
          <p:nvPr/>
        </p:nvSpPr>
        <p:spPr>
          <a:xfrm>
            <a:off x="360000" y="360000"/>
            <a:ext cx="8639280" cy="4319280"/>
          </a:xfrm>
          <a:prstGeom prst="rect">
            <a:avLst/>
          </a:prstGeom>
          <a:solidFill>
            <a:srgbClr val="729fcf"/>
          </a:solidFill>
          <a:ln w="0">
            <a:solidFill>
              <a:srgbClr val="3465a4"/>
            </a:solid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rPr>
              <a:t>This is the architectural break that explains the fork. Graywolf does not remove AX.25: conventional radios, KISS links and legacy interfaces still use it. But the LoRa APRS path no longer has to convert TNC2 into AX.25, wrap it in KISS, decode it again and reconstruct TNC2. The native path preserves exact textual identities, binary information bytes and LoRa measurements such as RSSI, SNR, frequency offset and time-to-hop. AX.25 conversion happens only at a checked boundary that actually requires canonical AX.25 addressing.</a:t>
            </a:r>
            <a:endParaRPr b="0" lang="fr-FR" sz="1700" strike="noStrike" u="non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
          <p:cNvSpPr/>
          <p:nvPr/>
        </p:nvSpPr>
        <p:spPr>
          <a:xfrm>
            <a:off x="360000" y="360000"/>
            <a:ext cx="8639280" cy="4319280"/>
          </a:xfrm>
          <a:prstGeom prst="rect">
            <a:avLst/>
          </a:prstGeom>
          <a:solidFill>
            <a:srgbClr val="729fcf"/>
          </a:solidFill>
          <a:ln w="0">
            <a:solidFill>
              <a:srgbClr val="3465a4"/>
            </a:solid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rPr>
              <a:t>This project uses the CA2RXU iGate firmware. The iGate receives LoRa packets, may relay eligible packets, sends JSON/RXT observations to Graywolf, and exchanges native TNC2 text with Graywolf over TCP or serial. The transceiver can transmit Graywolf messages on LoRa RF.</a:t>
            </a:r>
            <a:endParaRPr b="0" lang="fr-FR" sz="1700" strike="noStrike" u="non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
          <p:cNvSpPr/>
          <p:nvPr/>
        </p:nvSpPr>
        <p:spPr>
          <a:xfrm>
            <a:off x="360000" y="360000"/>
            <a:ext cx="8639280" cy="4319280"/>
          </a:xfrm>
          <a:prstGeom prst="rect">
            <a:avLst/>
          </a:prstGeom>
          <a:solidFill>
            <a:srgbClr val="729fcf"/>
          </a:solidFill>
          <a:ln w="0">
            <a:solidFill>
              <a:srgbClr val="3465a4"/>
            </a:solid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rPr>
              <a:t>A relay appends a compact four-character tuple describing its reception and retransmission. Further capable relays can add their own tuples. The iGate strips the RF-only trailer from the clean packet and reports the measurements separately.</a:t>
            </a:r>
            <a:endParaRPr b="0" lang="fr-FR" sz="1700" strike="noStrike" u="non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
          <p:cNvSpPr/>
          <p:nvPr/>
        </p:nvSpPr>
        <p:spPr>
          <a:xfrm>
            <a:off x="360000" y="360000"/>
            <a:ext cx="8639280" cy="4319280"/>
          </a:xfrm>
          <a:prstGeom prst="rect">
            <a:avLst/>
          </a:prstGeom>
          <a:solidFill>
            <a:srgbClr val="729fcf"/>
          </a:solidFill>
          <a:ln w="0">
            <a:solidFill>
              <a:srgbClr val="3465a4"/>
            </a:solid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rPr>
              <a:t>RSSI is received level. SNR is signal relative to noise. FO is frequency offset. TTH measures end-of-reception to end-of-retransmission and includes queueing, channel access, and airtime. Do not infer congestion from one number alone.</a:t>
            </a:r>
            <a:endParaRPr b="0" lang="fr-FR" sz="1700" strike="noStrike" u="non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
          <p:cNvSpPr/>
          <p:nvPr/>
        </p:nvSpPr>
        <p:spPr>
          <a:xfrm>
            <a:off x="360000" y="360000"/>
            <a:ext cx="8639280" cy="4319280"/>
          </a:xfrm>
          <a:prstGeom prst="rect">
            <a:avLst/>
          </a:prstGeom>
          <a:solidFill>
            <a:srgbClr val="729fcf"/>
          </a:solidFill>
          <a:ln w="0">
            <a:solidFill>
              <a:srgbClr val="3465a4"/>
            </a:solid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rPr>
              <a:t>This is a network schematic, not a geographic map or an RF coverage prediction. It shows the packet crossing SOMTNX before being heard by TSRXBX. The relay does not need an Internet link.</a:t>
            </a:r>
            <a:endParaRPr b="0" lang="fr-FR" sz="1700" strike="noStrike" u="non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
          <p:cNvSpPr/>
          <p:nvPr/>
        </p:nvSpPr>
        <p:spPr>
          <a:xfrm>
            <a:off x="360000" y="360000"/>
            <a:ext cx="8639280" cy="4319280"/>
          </a:xfrm>
          <a:prstGeom prst="rect">
            <a:avLst/>
          </a:prstGeom>
          <a:solidFill>
            <a:srgbClr val="729fcf"/>
          </a:solidFill>
          <a:ln w="0">
            <a:solidFill>
              <a:srgbClr val="3465a4"/>
            </a:solid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rPr>
              <a:t>Jon reported a CAVECR packet heard at SOMTNX with -71 dBm RSSI, at least +12 dB SNR, +241 Hz frequency offset and 594 ms time to hop. These values describe one observed reception, not a network-wide norm.</a:t>
            </a:r>
            <a:endParaRPr b="0" lang="fr-FR" sz="1700" strike="noStrike" u="non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
          <p:cNvSpPr/>
          <p:nvPr/>
        </p:nvSpPr>
        <p:spPr>
          <a:xfrm>
            <a:off x="360000" y="360000"/>
            <a:ext cx="8639280" cy="4319280"/>
          </a:xfrm>
          <a:prstGeom prst="rect">
            <a:avLst/>
          </a:prstGeom>
          <a:solidFill>
            <a:srgbClr val="729fcf"/>
          </a:solidFill>
          <a:ln w="0">
            <a:solidFill>
              <a:srgbClr val="3465a4"/>
            </a:solid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rPr>
              <a:t>RXT is about one reception at one hop. APRS station telemetry is about the station itself. Avoid mixing station battery and packet RSSI on one chart without labelling their sources.</a:t>
            </a:r>
            <a:endParaRPr b="0" lang="fr-FR" sz="1700" strike="noStrike" u="non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
          <p:cNvSpPr/>
          <p:nvPr/>
        </p:nvSpPr>
        <p:spPr>
          <a:xfrm>
            <a:off x="360000" y="360000"/>
            <a:ext cx="8639280" cy="4319280"/>
          </a:xfrm>
          <a:prstGeom prst="rect">
            <a:avLst/>
          </a:prstGeom>
          <a:solidFill>
            <a:srgbClr val="729fcf"/>
          </a:solidFill>
          <a:ln w="0">
            <a:solidFill>
              <a:srgbClr val="3465a4"/>
            </a:solid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rPr>
              <a:t>This example shows battery voltage and RX, relay, and drop rates in packets per hour. Labels and units depend on station telemetry metadata being received. The rates are a separate APRS telemetry feature; they are not RXT values.</a:t>
            </a:r>
            <a:endParaRPr b="0" lang="fr-FR" sz="1700" strike="noStrike" u="non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
          <p:cNvSpPr/>
          <p:nvPr/>
        </p:nvSpPr>
        <p:spPr>
          <a:xfrm>
            <a:off x="360000" y="360000"/>
            <a:ext cx="8639280" cy="4319280"/>
          </a:xfrm>
          <a:prstGeom prst="rect">
            <a:avLst/>
          </a:prstGeom>
          <a:solidFill>
            <a:srgbClr val="729fcf"/>
          </a:solidFill>
          <a:ln w="0">
            <a:solidFill>
              <a:srgbClr val="3465a4"/>
            </a:solid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rPr>
              <a:t>Do not show raw JSON to a nontechnical audience. Explain that the stream is a delivery envelope: original packet, local measurements, RXT measurements and a receipt number so Graywolf can resume after a disconnect.</a:t>
            </a:r>
            <a:endParaRPr b="0" lang="fr-FR" sz="1700" strike="noStrike" u="non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
          <p:cNvSpPr/>
          <p:nvPr/>
        </p:nvSpPr>
        <p:spPr>
          <a:xfrm>
            <a:off x="360000" y="360000"/>
            <a:ext cx="8639280" cy="4319280"/>
          </a:xfrm>
          <a:prstGeom prst="rect">
            <a:avLst/>
          </a:prstGeom>
          <a:solidFill>
            <a:srgbClr val="729fcf"/>
          </a:solidFill>
          <a:ln w="0">
            <a:solidFill>
              <a:srgbClr val="3465a4"/>
            </a:solid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rPr>
              <a:t>Graywolf can consume multiple iGate JSON streams independently. It logs the clean packet, decodes applicable APRS data, shows stations on the map and recent RXT links. This reception path was field-validated with a real Mic-E beacon.</a:t>
            </a:r>
            <a:endParaRPr b="0" lang="fr-FR" sz="1700" strike="noStrike" u="non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
          <p:cNvSpPr/>
          <p:nvPr/>
        </p:nvSpPr>
        <p:spPr>
          <a:xfrm>
            <a:off x="360000" y="360000"/>
            <a:ext cx="8639280" cy="4319280"/>
          </a:xfrm>
          <a:prstGeom prst="rect">
            <a:avLst/>
          </a:prstGeom>
          <a:solidFill>
            <a:srgbClr val="729fcf"/>
          </a:solidFill>
          <a:ln w="0">
            <a:solidFill>
              <a:srgbClr val="3465a4"/>
            </a:solid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rPr>
              <a:t>Settings → TNC2 now saves TCP and serial connections in graywolf.db and applies them immediately. Both may receive, but only one transport, exact source identity and Graywolf channel are authorized for TX. Messages, retries and beacons on that channel use native textual TNC2. Other channels keep strict AX.25/KISS validation.</a:t>
            </a:r>
            <a:endParaRPr b="0" lang="fr-FR" sz="1700" strike="noStrike" u="none">
              <a:solidFill>
                <a:srgbClr val="000000"/>
              </a:solidFill>
              <a:effectLst/>
              <a:uFillTx/>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
          <p:cNvSpPr/>
          <p:nvPr/>
        </p:nvSpPr>
        <p:spPr>
          <a:xfrm>
            <a:off x="360000" y="360000"/>
            <a:ext cx="8639280" cy="4319280"/>
          </a:xfrm>
          <a:prstGeom prst="rect">
            <a:avLst/>
          </a:prstGeom>
          <a:solidFill>
            <a:srgbClr val="729fcf"/>
          </a:solidFill>
          <a:ln w="0">
            <a:solidFill>
              <a:srgbClr val="3465a4"/>
            </a:solid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rPr>
              <a:t>Explain the two arrows: Graywolf exchanges native TNC2 text with the LilyGO T3 iGate/transceiver over TCP or serial, and the iGate exchanges packets by LoRa RF. A separate JSON/RXT stream carries reception measurements into Graywolf. Conventional VHF AX.25/KISS is a different radio path. No AX.25 conversion is part of the LoRa TNC2 path.</a:t>
            </a:r>
            <a:endParaRPr b="0" lang="fr-FR" sz="1700" strike="noStrike" u="none">
              <a:solidFill>
                <a:srgbClr val="000000"/>
              </a:solidFill>
              <a:effectLst/>
              <a:uFillTx/>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
          <p:cNvSpPr/>
          <p:nvPr/>
        </p:nvSpPr>
        <p:spPr>
          <a:xfrm>
            <a:off x="360000" y="360000"/>
            <a:ext cx="8639280" cy="1875960"/>
          </a:xfrm>
          <a:prstGeom prst="rect">
            <a:avLst/>
          </a:prstGeom>
          <a:solidFill>
            <a:srgbClr val="729fcf"/>
          </a:solidFill>
          <a:ln w="0">
            <a:solidFill>
              <a:srgbClr val="3465a4"/>
            </a:solid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0" lang="fr-FR" sz="1700" strike="noStrike" u="none">
                <a:solidFill>
                  <a:srgbClr val="f5f8fc"/>
                </a:solidFill>
                <a:effectLst/>
                <a:uFillTx/>
                <a:latin typeface="DejaVu Sans"/>
              </a:rPr>
              <a:t>Real RF Mic-E reception and link observation are field-validated. Messaging with ACK was tested over native TNC2 TCP and serial. A Graywolf position beacon sent through native TNC2 was observed by another iGate and on aprs.fi with an RXT trailer. F4MLV-MC validated extended-identity message reception and the complete JSON/RXT beacon path, including correct RF-link identification.</a:t>
            </a:r>
            <a:endParaRPr b="0" lang="fr-FR" sz="1700" strike="noStrike" u="none">
              <a:solidFill>
                <a:srgbClr val="000000"/>
              </a:solidFill>
              <a:effectLst/>
              <a:uFillTx/>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
          <p:cNvSpPr/>
          <p:nvPr/>
        </p:nvSpPr>
        <p:spPr>
          <a:xfrm>
            <a:off x="360000" y="360000"/>
            <a:ext cx="8639280" cy="4319280"/>
          </a:xfrm>
          <a:prstGeom prst="rect">
            <a:avLst/>
          </a:prstGeom>
          <a:solidFill>
            <a:srgbClr val="729fcf"/>
          </a:solidFill>
          <a:ln w="0">
            <a:solidFill>
              <a:srgbClr val="3465a4"/>
            </a:solid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rPr>
              <a:t>Jon reports the Arizona network on 433.775 MHz with BW125, SF7 and CR4:6. His coverage and pricing figures are field reports from a particular time and network, not general promises. Good filtering matters at shared high sites and in vehicles.</a:t>
            </a:r>
            <a:endParaRPr b="0" lang="fr-FR" sz="1700" strike="noStrike" u="none">
              <a:solidFill>
                <a:srgbClr val="000000"/>
              </a:solidFill>
              <a:effectLst/>
              <a:uFillTx/>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
          <p:cNvSpPr/>
          <p:nvPr/>
        </p:nvSpPr>
        <p:spPr>
          <a:xfrm>
            <a:off x="360000" y="360000"/>
            <a:ext cx="8639280" cy="1281240"/>
          </a:xfrm>
          <a:prstGeom prst="rect">
            <a:avLst/>
          </a:prstGeom>
          <a:solidFill>
            <a:srgbClr val="729fcf"/>
          </a:solidFill>
          <a:ln w="0">
            <a:solidFill>
              <a:srgbClr val="3465a4"/>
            </a:solid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0" lang="fr-FR" sz="1700" strike="noStrike" u="none">
                <a:solidFill>
                  <a:srgbClr val="f5f8fc"/>
                </a:solidFill>
                <a:effectLst/>
                <a:uFillTx/>
                <a:latin typeface="DejaVu Sans"/>
              </a:rPr>
              <a:t>Invite technical feedback on additional suffix forms, longer multi-hop RXT captures and broader sites. Native TNC2 messaging, beacon RF transmission and the F4MLV-MC JSON/RXT path have now been field-validated; the next step is to broaden testing across more stations, sites and RF topologies.</a:t>
            </a:r>
            <a:endParaRPr b="0" lang="fr-FR" sz="1700" strike="noStrike" u="none">
              <a:solidFill>
                <a:srgbClr val="000000"/>
              </a:solidFill>
              <a:effectLst/>
              <a:uFillTx/>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
          <p:cNvSpPr/>
          <p:nvPr/>
        </p:nvSpPr>
        <p:spPr>
          <a:xfrm>
            <a:off x="360000" y="360000"/>
            <a:ext cx="8639280" cy="4319280"/>
          </a:xfrm>
          <a:prstGeom prst="rect">
            <a:avLst/>
          </a:prstGeom>
          <a:solidFill>
            <a:srgbClr val="729fcf"/>
          </a:solidFill>
          <a:ln w="0">
            <a:solidFill>
              <a:srgbClr val="3465a4"/>
            </a:solid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rPr>
              <a:t>The links identify project repositories. The protocol is draft 1.0; the working implementations are branch-specific. Credit screenshots to their corresponding iGate and Graywolf projects.</a:t>
            </a:r>
            <a:endParaRPr b="0" lang="fr-FR" sz="17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WideMaster">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640" cy="946080"/>
          </a:xfrm>
          <a:prstGeom prst="rect">
            <a:avLst/>
          </a:prstGeom>
          <a:noFill/>
          <a:ln w="0">
            <a:noFill/>
          </a:ln>
        </p:spPr>
        <p:txBody>
          <a:bodyPr lIns="0" rIns="0" tIns="0" bIns="0" anchor="ctr">
            <a:noAutofit/>
          </a:bodyPr>
          <a:p>
            <a:pPr indent="0" algn="ctr">
              <a:lnSpc>
                <a:spcPct val="100000"/>
              </a:lnSpc>
              <a:buNone/>
              <a:tabLst>
                <a:tab algn="l" pos="0"/>
              </a:tabLst>
            </a:pPr>
            <a:r>
              <a:rPr b="0" lang="fr-FR" sz="4400" strike="noStrike" u="none">
                <a:solidFill>
                  <a:srgbClr val="000000"/>
                </a:solidFill>
                <a:effectLst/>
                <a:uFillTx/>
                <a:latin typeface="Arial"/>
              </a:rPr>
              <a:t>C</a:t>
            </a:r>
            <a:r>
              <a:rPr b="0" lang="fr-FR" sz="4400" strike="noStrike" u="none">
                <a:solidFill>
                  <a:srgbClr val="000000"/>
                </a:solidFill>
                <a:effectLst/>
                <a:uFillTx/>
                <a:latin typeface="Arial"/>
              </a:rPr>
              <a:t>li</a:t>
            </a:r>
            <a:r>
              <a:rPr b="0" lang="fr-FR" sz="4400" strike="noStrike" u="none">
                <a:solidFill>
                  <a:srgbClr val="000000"/>
                </a:solidFill>
                <a:effectLst/>
                <a:uFillTx/>
                <a:latin typeface="Arial"/>
              </a:rPr>
              <a:t>q</a:t>
            </a:r>
            <a:r>
              <a:rPr b="0" lang="fr-FR" sz="4400" strike="noStrike" u="none">
                <a:solidFill>
                  <a:srgbClr val="000000"/>
                </a:solidFill>
                <a:effectLst/>
                <a:uFillTx/>
                <a:latin typeface="Arial"/>
              </a:rPr>
              <a:t>u</a:t>
            </a:r>
            <a:r>
              <a:rPr b="0" lang="fr-FR" sz="4400" strike="noStrike" u="none">
                <a:solidFill>
                  <a:srgbClr val="000000"/>
                </a:solidFill>
                <a:effectLst/>
                <a:uFillTx/>
                <a:latin typeface="Arial"/>
              </a:rPr>
              <a:t>e</a:t>
            </a:r>
            <a:r>
              <a:rPr b="0" lang="fr-FR" sz="4400" strike="noStrike" u="none">
                <a:solidFill>
                  <a:srgbClr val="000000"/>
                </a:solidFill>
                <a:effectLst/>
                <a:uFillTx/>
                <a:latin typeface="Arial"/>
              </a:rPr>
              <a:t>z </a:t>
            </a:r>
            <a:r>
              <a:rPr b="0" lang="fr-FR" sz="4400" strike="noStrike" u="none">
                <a:solidFill>
                  <a:srgbClr val="000000"/>
                </a:solidFill>
                <a:effectLst/>
                <a:uFillTx/>
                <a:latin typeface="Arial"/>
              </a:rPr>
              <a:t>p</a:t>
            </a:r>
            <a:r>
              <a:rPr b="0" lang="fr-FR" sz="4400" strike="noStrike" u="none">
                <a:solidFill>
                  <a:srgbClr val="000000"/>
                </a:solidFill>
                <a:effectLst/>
                <a:uFillTx/>
                <a:latin typeface="Arial"/>
              </a:rPr>
              <a:t>o</a:t>
            </a:r>
            <a:r>
              <a:rPr b="0" lang="fr-FR" sz="4400" strike="noStrike" u="none">
                <a:solidFill>
                  <a:srgbClr val="000000"/>
                </a:solidFill>
                <a:effectLst/>
                <a:uFillTx/>
                <a:latin typeface="Arial"/>
              </a:rPr>
              <a:t>u</a:t>
            </a:r>
            <a:r>
              <a:rPr b="0" lang="fr-FR" sz="4400" strike="noStrike" u="none">
                <a:solidFill>
                  <a:srgbClr val="000000"/>
                </a:solidFill>
                <a:effectLst/>
                <a:uFillTx/>
                <a:latin typeface="Arial"/>
              </a:rPr>
              <a:t>r </a:t>
            </a:r>
            <a:r>
              <a:rPr b="0" lang="fr-FR" sz="4400" strike="noStrike" u="none">
                <a:solidFill>
                  <a:srgbClr val="000000"/>
                </a:solidFill>
                <a:effectLst/>
                <a:uFillTx/>
                <a:latin typeface="Arial"/>
              </a:rPr>
              <a:t>é</a:t>
            </a:r>
            <a:r>
              <a:rPr b="0" lang="fr-FR" sz="4400" strike="noStrike" u="none">
                <a:solidFill>
                  <a:srgbClr val="000000"/>
                </a:solidFill>
                <a:effectLst/>
                <a:uFillTx/>
                <a:latin typeface="Arial"/>
              </a:rPr>
              <a:t>d</a:t>
            </a:r>
            <a:r>
              <a:rPr b="0" lang="fr-FR" sz="4400" strike="noStrike" u="none">
                <a:solidFill>
                  <a:srgbClr val="000000"/>
                </a:solidFill>
                <a:effectLst/>
                <a:uFillTx/>
                <a:latin typeface="Arial"/>
              </a:rPr>
              <a:t>it</a:t>
            </a:r>
            <a:r>
              <a:rPr b="0" lang="fr-FR" sz="4400" strike="noStrike" u="none">
                <a:solidFill>
                  <a:srgbClr val="000000"/>
                </a:solidFill>
                <a:effectLst/>
                <a:uFillTx/>
                <a:latin typeface="Arial"/>
              </a:rPr>
              <a:t>e</a:t>
            </a:r>
            <a:r>
              <a:rPr b="0" lang="fr-FR" sz="4400" strike="noStrike" u="none">
                <a:solidFill>
                  <a:srgbClr val="000000"/>
                </a:solidFill>
                <a:effectLst/>
                <a:uFillTx/>
                <a:latin typeface="Arial"/>
              </a:rPr>
              <a:t>r </a:t>
            </a:r>
            <a:r>
              <a:rPr b="0" lang="fr-FR" sz="4400" strike="noStrike" u="none">
                <a:solidFill>
                  <a:srgbClr val="000000"/>
                </a:solidFill>
                <a:effectLst/>
                <a:uFillTx/>
                <a:latin typeface="Arial"/>
              </a:rPr>
              <a:t>l</a:t>
            </a:r>
            <a:r>
              <a:rPr b="0" lang="fr-FR" sz="4400" strike="noStrike" u="none">
                <a:solidFill>
                  <a:srgbClr val="000000"/>
                </a:solidFill>
                <a:effectLst/>
                <a:uFillTx/>
                <a:latin typeface="Arial"/>
              </a:rPr>
              <a:t>e </a:t>
            </a:r>
            <a:r>
              <a:rPr b="0" lang="fr-FR" sz="4400" strike="noStrike" u="none">
                <a:solidFill>
                  <a:srgbClr val="000000"/>
                </a:solidFill>
                <a:effectLst/>
                <a:uFillTx/>
                <a:latin typeface="Arial"/>
              </a:rPr>
              <a:t>f</a:t>
            </a:r>
            <a:r>
              <a:rPr b="0" lang="fr-FR" sz="4400" strike="noStrike" u="none">
                <a:solidFill>
                  <a:srgbClr val="000000"/>
                </a:solidFill>
                <a:effectLst/>
                <a:uFillTx/>
                <a:latin typeface="Arial"/>
              </a:rPr>
              <a:t>o</a:t>
            </a:r>
            <a:r>
              <a:rPr b="0" lang="fr-FR" sz="4400" strike="noStrike" u="none">
                <a:solidFill>
                  <a:srgbClr val="000000"/>
                </a:solidFill>
                <a:effectLst/>
                <a:uFillTx/>
                <a:latin typeface="Arial"/>
              </a:rPr>
              <a:t>r</a:t>
            </a:r>
            <a:r>
              <a:rPr b="0" lang="fr-FR" sz="4400" strike="noStrike" u="none">
                <a:solidFill>
                  <a:srgbClr val="000000"/>
                </a:solidFill>
                <a:effectLst/>
                <a:uFillTx/>
                <a:latin typeface="Arial"/>
              </a:rPr>
              <a:t>m</a:t>
            </a:r>
            <a:r>
              <a:rPr b="0" lang="fr-FR" sz="4400" strike="noStrike" u="none">
                <a:solidFill>
                  <a:srgbClr val="000000"/>
                </a:solidFill>
                <a:effectLst/>
                <a:uFillTx/>
                <a:latin typeface="Arial"/>
              </a:rPr>
              <a:t>a</a:t>
            </a:r>
            <a:r>
              <a:rPr b="0" lang="fr-FR" sz="4400" strike="noStrike" u="none">
                <a:solidFill>
                  <a:srgbClr val="000000"/>
                </a:solidFill>
                <a:effectLst/>
                <a:uFillTx/>
                <a:latin typeface="Arial"/>
              </a:rPr>
              <a:t>t </a:t>
            </a:r>
            <a:r>
              <a:rPr b="0" lang="fr-FR" sz="4400" strike="noStrike" u="none">
                <a:solidFill>
                  <a:srgbClr val="000000"/>
                </a:solidFill>
                <a:effectLst/>
                <a:uFillTx/>
                <a:latin typeface="Arial"/>
              </a:rPr>
              <a:t>d</a:t>
            </a:r>
            <a:r>
              <a:rPr b="0" lang="fr-FR" sz="4400" strike="noStrike" u="none">
                <a:solidFill>
                  <a:srgbClr val="000000"/>
                </a:solidFill>
                <a:effectLst/>
                <a:uFillTx/>
                <a:latin typeface="Arial"/>
              </a:rPr>
              <a:t>u </a:t>
            </a:r>
            <a:r>
              <a:rPr b="0" lang="fr-FR" sz="4400" strike="noStrike" u="none">
                <a:solidFill>
                  <a:srgbClr val="000000"/>
                </a:solidFill>
                <a:effectLst/>
                <a:uFillTx/>
                <a:latin typeface="Arial"/>
              </a:rPr>
              <a:t>t</a:t>
            </a:r>
            <a:r>
              <a:rPr b="0" lang="fr-FR" sz="4400" strike="noStrike" u="none">
                <a:solidFill>
                  <a:srgbClr val="000000"/>
                </a:solidFill>
                <a:effectLst/>
                <a:uFillTx/>
                <a:latin typeface="Arial"/>
              </a:rPr>
              <a:t>e</a:t>
            </a:r>
            <a:r>
              <a:rPr b="0" lang="fr-FR" sz="4400" strike="noStrike" u="none">
                <a:solidFill>
                  <a:srgbClr val="000000"/>
                </a:solidFill>
                <a:effectLst/>
                <a:uFillTx/>
                <a:latin typeface="Arial"/>
              </a:rPr>
              <a:t>x</a:t>
            </a:r>
            <a:r>
              <a:rPr b="0" lang="fr-FR" sz="4400" strike="noStrike" u="none">
                <a:solidFill>
                  <a:srgbClr val="000000"/>
                </a:solidFill>
                <a:effectLst/>
                <a:uFillTx/>
                <a:latin typeface="Arial"/>
              </a:rPr>
              <a:t>t</a:t>
            </a:r>
            <a:r>
              <a:rPr b="0" lang="fr-FR" sz="4400" strike="noStrike" u="none">
                <a:solidFill>
                  <a:srgbClr val="000000"/>
                </a:solidFill>
                <a:effectLst/>
                <a:uFillTx/>
                <a:latin typeface="Arial"/>
              </a:rPr>
              <a:t>e</a:t>
            </a:r>
            <a:r>
              <a:rPr b="0" lang="fr-FR" sz="4400" strike="noStrike" u="none">
                <a:solidFill>
                  <a:srgbClr val="000000"/>
                </a:solidFill>
                <a:effectLst/>
                <a:uFillTx/>
                <a:latin typeface="Arial"/>
              </a:rPr>
              <a:t>-</a:t>
            </a:r>
            <a:r>
              <a:rPr b="0" lang="fr-FR" sz="4400" strike="noStrike" u="none">
                <a:solidFill>
                  <a:srgbClr val="000000"/>
                </a:solidFill>
                <a:effectLst/>
                <a:uFillTx/>
                <a:latin typeface="Arial"/>
              </a:rPr>
              <a:t>ti</a:t>
            </a:r>
            <a:r>
              <a:rPr b="0" lang="fr-FR" sz="4400" strike="noStrike" u="none">
                <a:solidFill>
                  <a:srgbClr val="000000"/>
                </a:solidFill>
                <a:effectLst/>
                <a:uFillTx/>
                <a:latin typeface="Arial"/>
              </a:rPr>
              <a:t>t</a:t>
            </a:r>
            <a:r>
              <a:rPr b="0" lang="fr-FR" sz="4400" strike="noStrike" u="none">
                <a:solidFill>
                  <a:srgbClr val="000000"/>
                </a:solidFill>
                <a:effectLst/>
                <a:uFillTx/>
                <a:latin typeface="Arial"/>
              </a:rPr>
              <a:t>r</a:t>
            </a:r>
            <a:r>
              <a:rPr b="0" lang="fr-FR" sz="4400" strike="noStrike" u="none">
                <a:solidFill>
                  <a:srgbClr val="000000"/>
                </a:solidFill>
                <a:effectLst/>
                <a:uFillTx/>
                <a:latin typeface="Arial"/>
              </a:rPr>
              <a:t>e</a:t>
            </a:r>
            <a:endParaRPr b="0" lang="fr-FR" sz="4400" strike="noStrike" u="none">
              <a:solidFill>
                <a:srgbClr val="000000"/>
              </a:solidFill>
              <a:effectLst/>
              <a:uFillTx/>
              <a:latin typeface="Arial"/>
            </a:endParaRPr>
          </a:p>
        </p:txBody>
      </p:sp>
      <p:sp>
        <p:nvSpPr>
          <p:cNvPr id="1"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fr-FR" sz="3200" strike="noStrike" u="none">
                <a:solidFill>
                  <a:srgbClr val="000000"/>
                </a:solidFill>
                <a:effectLst/>
                <a:uFillTx/>
                <a:latin typeface="Arial"/>
              </a:rPr>
              <a:t>Cliquez pour éditer le format du plan de texte</a:t>
            </a:r>
            <a:endParaRPr b="0" lang="fr-FR"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fr-FR" sz="2800" strike="noStrike" u="none">
                <a:solidFill>
                  <a:srgbClr val="000000"/>
                </a:solidFill>
                <a:effectLst/>
                <a:uFillTx/>
                <a:latin typeface="Arial"/>
              </a:rPr>
              <a:t>Second niveau de plan</a:t>
            </a:r>
            <a:endParaRPr b="0" lang="fr-FR" sz="2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fr-FR" sz="2400" strike="noStrike" u="none">
                <a:solidFill>
                  <a:srgbClr val="000000"/>
                </a:solidFill>
                <a:effectLst/>
                <a:uFillTx/>
                <a:latin typeface="Arial"/>
              </a:rPr>
              <a:t>Troisième niveau de plan</a:t>
            </a:r>
            <a:endParaRPr b="0" lang="fr-FR" sz="24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fr-FR" sz="2000" strike="noStrike" u="none">
                <a:solidFill>
                  <a:srgbClr val="000000"/>
                </a:solidFill>
                <a:effectLst/>
                <a:uFillTx/>
                <a:latin typeface="Arial"/>
              </a:rPr>
              <a:t>Quatrième niveau de plan</a:t>
            </a:r>
            <a:endParaRPr b="0" lang="fr-FR"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fr-FR" sz="2000" strike="noStrike" u="none">
                <a:solidFill>
                  <a:srgbClr val="000000"/>
                </a:solidFill>
                <a:effectLst/>
                <a:uFillTx/>
                <a:latin typeface="Arial"/>
              </a:rPr>
              <a:t>Cinquième niveau de plan</a:t>
            </a:r>
            <a:endParaRPr b="0" lang="fr-FR"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fr-FR" sz="2000" strike="noStrike" u="none">
                <a:solidFill>
                  <a:srgbClr val="000000"/>
                </a:solidFill>
                <a:effectLst/>
                <a:uFillTx/>
                <a:latin typeface="Arial"/>
              </a:rPr>
              <a:t>Sixième niveau de plan</a:t>
            </a:r>
            <a:endParaRPr b="0" lang="fr-FR"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fr-FR" sz="2000" strike="noStrike" u="none">
                <a:solidFill>
                  <a:srgbClr val="000000"/>
                </a:solidFill>
                <a:effectLst/>
                <a:uFillTx/>
                <a:latin typeface="Arial"/>
              </a:rPr>
              <a:t>Septième niveau de plan</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Standard">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561600"/>
            <a:ext cx="9070920" cy="274680"/>
          </a:xfrm>
          <a:prstGeom prst="rect">
            <a:avLst/>
          </a:prstGeom>
          <a:noFill/>
          <a:ln w="0">
            <a:noFill/>
          </a:ln>
        </p:spPr>
        <p:txBody>
          <a:bodyPr lIns="0" rIns="0" tIns="0" bIns="0" anchor="ctr">
            <a:spAutoFit/>
          </a:bodyPr>
          <a:p>
            <a:pPr indent="0">
              <a:lnSpc>
                <a:spcPct val="100000"/>
              </a:lnSpc>
              <a:buNone/>
              <a:tabLst>
                <a:tab algn="l" pos="0"/>
              </a:tabLst>
            </a:pPr>
            <a:r>
              <a:rPr b="0" lang="fr-FR" sz="1800" strike="noStrike" u="none">
                <a:solidFill>
                  <a:srgbClr val="000000"/>
                </a:solidFill>
                <a:effectLst/>
                <a:uFillTx/>
                <a:latin typeface="Arial"/>
              </a:rPr>
              <a:t>Cliquez pour éditer le format du texte-titre</a:t>
            </a:r>
            <a:endParaRPr b="0" lang="fr-FR" sz="1800" strike="noStrike" u="none">
              <a:solidFill>
                <a:srgbClr val="000000"/>
              </a:solidFill>
              <a:effectLst/>
              <a:uFillTx/>
              <a:latin typeface="Arial"/>
            </a:endParaRPr>
          </a:p>
        </p:txBody>
      </p:sp>
      <p:sp>
        <p:nvSpPr>
          <p:cNvPr id="3"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fr-FR" sz="3200" strike="noStrike" u="none">
                <a:solidFill>
                  <a:srgbClr val="000000"/>
                </a:solidFill>
                <a:effectLst/>
                <a:uFillTx/>
                <a:latin typeface="Arial"/>
              </a:rPr>
              <a:t>Cliquez pour éditer le format du plan de texte</a:t>
            </a:r>
            <a:endParaRPr b="0" lang="fr-FR"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fr-FR" sz="2800" strike="noStrike" u="none">
                <a:solidFill>
                  <a:srgbClr val="000000"/>
                </a:solidFill>
                <a:effectLst/>
                <a:uFillTx/>
                <a:latin typeface="Arial"/>
              </a:rPr>
              <a:t>Second niveau de plan</a:t>
            </a:r>
            <a:endParaRPr b="0" lang="fr-FR" sz="2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fr-FR" sz="2400" strike="noStrike" u="none">
                <a:solidFill>
                  <a:srgbClr val="000000"/>
                </a:solidFill>
                <a:effectLst/>
                <a:uFillTx/>
                <a:latin typeface="Arial"/>
              </a:rPr>
              <a:t>Troisième niveau de plan</a:t>
            </a:r>
            <a:endParaRPr b="0" lang="fr-FR" sz="24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fr-FR" sz="2000" strike="noStrike" u="none">
                <a:solidFill>
                  <a:srgbClr val="000000"/>
                </a:solidFill>
                <a:effectLst/>
                <a:uFillTx/>
                <a:latin typeface="Arial"/>
              </a:rPr>
              <a:t>Quatrième niveau de plan</a:t>
            </a:r>
            <a:endParaRPr b="0" lang="fr-FR"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fr-FR" sz="2000" strike="noStrike" u="none">
                <a:solidFill>
                  <a:srgbClr val="000000"/>
                </a:solidFill>
                <a:effectLst/>
                <a:uFillTx/>
                <a:latin typeface="Arial"/>
              </a:rPr>
              <a:t>Cinquième niveau de plan</a:t>
            </a:r>
            <a:endParaRPr b="0" lang="fr-FR"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fr-FR" sz="2000" strike="noStrike" u="none">
                <a:solidFill>
                  <a:srgbClr val="000000"/>
                </a:solidFill>
                <a:effectLst/>
                <a:uFillTx/>
                <a:latin typeface="Arial"/>
              </a:rPr>
              <a:t>Sixième niveau de plan</a:t>
            </a:r>
            <a:endParaRPr b="0" lang="fr-FR"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fr-FR" sz="2000" strike="noStrike" u="none">
                <a:solidFill>
                  <a:srgbClr val="000000"/>
                </a:solidFill>
                <a:effectLst/>
                <a:uFillTx/>
                <a:latin typeface="Arial"/>
              </a:rPr>
              <a:t>Septième niveau de plan</a:t>
            </a:r>
            <a:endParaRPr b="0" lang="fr-FR" sz="20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10"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11"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EXTENDED TNC2 / RXT</a:t>
            </a:r>
            <a:endParaRPr b="0" lang="fr-FR" sz="1200" strike="noStrike" u="none">
              <a:solidFill>
                <a:srgbClr val="ffffff"/>
              </a:solidFill>
              <a:effectLst/>
              <a:uFillTx/>
              <a:latin typeface="Arial"/>
            </a:endParaRPr>
          </a:p>
        </p:txBody>
      </p:sp>
      <p:sp>
        <p:nvSpPr>
          <p:cNvPr id="12"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01</a:t>
            </a:r>
            <a:endParaRPr b="0" lang="fr-FR" sz="1200" strike="noStrike" u="none">
              <a:solidFill>
                <a:srgbClr val="ffffff"/>
              </a:solidFill>
              <a:effectLst/>
              <a:uFillTx/>
              <a:latin typeface="Arial"/>
            </a:endParaRPr>
          </a:p>
        </p:txBody>
      </p:sp>
      <p:sp>
        <p:nvSpPr>
          <p:cNvPr id="13"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Extended LoRa APRS</a:t>
            </a:r>
            <a:endParaRPr b="0" lang="fr-FR" sz="3200" strike="noStrike" u="none">
              <a:solidFill>
                <a:srgbClr val="ffffff"/>
              </a:solidFill>
              <a:effectLst/>
              <a:uFillTx/>
              <a:latin typeface="Arial"/>
            </a:endParaRPr>
          </a:p>
        </p:txBody>
      </p:sp>
      <p:sp>
        <p:nvSpPr>
          <p:cNvPr id="14" name=""/>
          <p:cNvSpPr/>
          <p:nvPr/>
        </p:nvSpPr>
        <p:spPr>
          <a:xfrm>
            <a:off x="324000" y="882000"/>
            <a:ext cx="9323280" cy="7909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Plain-text TNC2 • iGate • RXT (Remote Receiver telemetry) • station telemetry • Graywolf</a:t>
            </a:r>
            <a:endParaRPr b="0" lang="fr-FR" sz="2000" strike="noStrike" u="none">
              <a:solidFill>
                <a:srgbClr val="ffffff"/>
              </a:solidFill>
              <a:effectLst/>
              <a:uFillTx/>
              <a:latin typeface="Arial"/>
            </a:endParaRPr>
          </a:p>
        </p:txBody>
      </p:sp>
      <p:sp>
        <p:nvSpPr>
          <p:cNvPr id="15"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For radio amateurs | Technical review: Jon Adams, N7UV | September 2026</a:t>
            </a:r>
            <a:endParaRPr b="0" lang="fr-FR" sz="1000" strike="noStrike" u="none">
              <a:solidFill>
                <a:srgbClr val="ffffff"/>
              </a:solidFill>
              <a:effectLst/>
              <a:uFillTx/>
              <a:latin typeface="Arial"/>
            </a:endParaRPr>
          </a:p>
        </p:txBody>
      </p:sp>
      <p:sp>
        <p:nvSpPr>
          <p:cNvPr id="16" name=""/>
          <p:cNvSpPr/>
          <p:nvPr/>
        </p:nvSpPr>
        <p:spPr>
          <a:xfrm>
            <a:off x="324000" y="2448000"/>
            <a:ext cx="9395280" cy="277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7" name=""/>
          <p:cNvSpPr/>
          <p:nvPr/>
        </p:nvSpPr>
        <p:spPr>
          <a:xfrm>
            <a:off x="612000" y="2803320"/>
            <a:ext cx="8711280" cy="1335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400" strike="noStrike" u="none">
                <a:solidFill>
                  <a:srgbClr val="f5f8fc"/>
                </a:solidFill>
                <a:effectLst/>
                <a:uFillTx/>
                <a:latin typeface="DejaVu Sans"/>
                <a:ea typeface="DejaVu Sans"/>
              </a:rPr>
              <a:t>From a packet on the air</a:t>
            </a:r>
            <a:endParaRPr b="0" lang="fr-FR" sz="3400" strike="noStrike" u="none">
              <a:solidFill>
                <a:srgbClr val="ffffff"/>
              </a:solidFill>
              <a:effectLst/>
              <a:uFillTx/>
              <a:latin typeface="Arial"/>
            </a:endParaRPr>
          </a:p>
          <a:p>
            <a:pPr>
              <a:lnSpc>
                <a:spcPct val="115000"/>
              </a:lnSpc>
              <a:spcAft>
                <a:spcPts val="709"/>
              </a:spcAft>
            </a:pPr>
            <a:r>
              <a:rPr b="1" lang="fr-FR" sz="3400" strike="noStrike" u="none">
                <a:solidFill>
                  <a:srgbClr val="f5f8fc"/>
                </a:solidFill>
                <a:effectLst/>
                <a:uFillTx/>
                <a:latin typeface="DejaVu Sans"/>
                <a:ea typeface="DejaVu Sans"/>
              </a:rPr>
              <a:t>to an understandable RF network</a:t>
            </a:r>
            <a:endParaRPr b="0" lang="fr-FR" sz="3400" strike="noStrike" u="none">
              <a:solidFill>
                <a:srgbClr val="ffffff"/>
              </a:solidFill>
              <a:effectLst/>
              <a:uFillTx/>
              <a:latin typeface="Arial"/>
            </a:endParaRPr>
          </a:p>
        </p:txBody>
      </p:sp>
      <p:sp>
        <p:nvSpPr>
          <p:cNvPr id="18" name=""/>
          <p:cNvSpPr/>
          <p:nvPr/>
        </p:nvSpPr>
        <p:spPr>
          <a:xfrm>
            <a:off x="540000" y="4320000"/>
            <a:ext cx="8639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A project overview for radio amateurs</a:t>
            </a:r>
            <a:endParaRPr b="0" lang="fr-FR" sz="2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19"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0"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EXTENDED TNC2 / RXT</a:t>
            </a:r>
            <a:endParaRPr b="0" lang="fr-FR" sz="1200" strike="noStrike" u="none">
              <a:solidFill>
                <a:srgbClr val="ffffff"/>
              </a:solidFill>
              <a:effectLst/>
              <a:uFillTx/>
              <a:latin typeface="Arial"/>
            </a:endParaRPr>
          </a:p>
        </p:txBody>
      </p:sp>
      <p:sp>
        <p:nvSpPr>
          <p:cNvPr id="21"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02</a:t>
            </a:r>
            <a:endParaRPr b="0" lang="fr-FR" sz="1200" strike="noStrike" u="none">
              <a:solidFill>
                <a:srgbClr val="ffffff"/>
              </a:solidFill>
              <a:effectLst/>
              <a:uFillTx/>
              <a:latin typeface="Arial"/>
            </a:endParaRPr>
          </a:p>
        </p:txBody>
      </p:sp>
      <p:sp>
        <p:nvSpPr>
          <p:cNvPr id="22"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Why we started</a:t>
            </a:r>
            <a:endParaRPr b="0" lang="fr-FR" sz="3200" strike="noStrike" u="none">
              <a:solidFill>
                <a:srgbClr val="ffffff"/>
              </a:solidFill>
              <a:effectLst/>
              <a:uFillTx/>
              <a:latin typeface="Arial"/>
            </a:endParaRPr>
          </a:p>
        </p:txBody>
      </p:sp>
      <p:sp>
        <p:nvSpPr>
          <p:cNvPr id="23"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Jon’s Arizona network makes the use case concrete.</a:t>
            </a:r>
            <a:endParaRPr b="0" lang="fr-FR" sz="2000" strike="noStrike" u="none">
              <a:solidFill>
                <a:srgbClr val="ffffff"/>
              </a:solidFill>
              <a:effectLst/>
              <a:uFillTx/>
              <a:latin typeface="Arial"/>
            </a:endParaRPr>
          </a:p>
        </p:txBody>
      </p:sp>
      <p:sp>
        <p:nvSpPr>
          <p:cNvPr id="24"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Source: Jon Adams (N7UV), field notes supplied for this review; CA2RXU iGate discussion #287</a:t>
            </a:r>
            <a:endParaRPr b="0" lang="fr-FR" sz="1000" strike="noStrike" u="none">
              <a:solidFill>
                <a:srgbClr val="ffffff"/>
              </a:solidFill>
              <a:effectLst/>
              <a:uFillTx/>
              <a:latin typeface="Arial"/>
            </a:endParaRPr>
          </a:p>
        </p:txBody>
      </p:sp>
      <p:sp>
        <p:nvSpPr>
          <p:cNvPr id="25" name=""/>
          <p:cNvSpPr/>
          <p:nvPr/>
        </p:nvSpPr>
        <p:spPr>
          <a:xfrm>
            <a:off x="324000" y="1332000"/>
            <a:ext cx="6047280" cy="3203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6" name=""/>
          <p:cNvSpPr/>
          <p:nvPr/>
        </p:nvSpPr>
        <p:spPr>
          <a:xfrm>
            <a:off x="576000" y="1620000"/>
            <a:ext cx="5507280" cy="1414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600" strike="noStrike" u="none">
                <a:solidFill>
                  <a:srgbClr val="f5f8fc"/>
                </a:solidFill>
                <a:effectLst/>
                <a:uFillTx/>
                <a:latin typeface="DejaVu Sans"/>
                <a:ea typeface="DejaVu Sans"/>
              </a:rPr>
              <a:t>“What goes into and comes out of the transceiver is plain text.”</a:t>
            </a:r>
            <a:endParaRPr b="0" lang="fr-FR" sz="2600" strike="noStrike" u="none">
              <a:solidFill>
                <a:srgbClr val="ffffff"/>
              </a:solidFill>
              <a:effectLst/>
              <a:uFillTx/>
              <a:latin typeface="Arial"/>
            </a:endParaRPr>
          </a:p>
        </p:txBody>
      </p:sp>
      <p:sp>
        <p:nvSpPr>
          <p:cNvPr id="27" name=""/>
          <p:cNvSpPr/>
          <p:nvPr/>
        </p:nvSpPr>
        <p:spPr>
          <a:xfrm>
            <a:off x="576000" y="3240000"/>
            <a:ext cx="5507280" cy="827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Keep the on-air packet readable.</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Make each reception useful to operators.</a:t>
            </a:r>
            <a:endParaRPr b="0" lang="fr-FR" sz="1700" strike="noStrike" u="none">
              <a:solidFill>
                <a:srgbClr val="ffffff"/>
              </a:solidFill>
              <a:effectLst/>
              <a:uFillTx/>
              <a:latin typeface="Arial"/>
            </a:endParaRPr>
          </a:p>
        </p:txBody>
      </p:sp>
      <p:sp>
        <p:nvSpPr>
          <p:cNvPr id="28" name=""/>
          <p:cNvSpPr/>
          <p:nvPr/>
        </p:nvSpPr>
        <p:spPr>
          <a:xfrm>
            <a:off x="6552000" y="1332000"/>
            <a:ext cx="3167280" cy="3203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9" name=""/>
          <p:cNvSpPr/>
          <p:nvPr/>
        </p:nvSpPr>
        <p:spPr>
          <a:xfrm>
            <a:off x="6804000" y="1584000"/>
            <a:ext cx="2591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FIELD REALITY</a:t>
            </a:r>
            <a:endParaRPr b="0" lang="fr-FR" sz="2200" strike="noStrike" u="none">
              <a:solidFill>
                <a:srgbClr val="ffffff"/>
              </a:solidFill>
              <a:effectLst/>
              <a:uFillTx/>
              <a:latin typeface="Arial"/>
            </a:endParaRPr>
          </a:p>
        </p:txBody>
      </p:sp>
      <p:sp>
        <p:nvSpPr>
          <p:cNvPr id="30" name=""/>
          <p:cNvSpPr/>
          <p:nvPr/>
        </p:nvSpPr>
        <p:spPr>
          <a:xfrm>
            <a:off x="6804000" y="2016000"/>
            <a:ext cx="2591280" cy="223164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94"/>
              </a:spcAft>
            </a:pPr>
            <a:r>
              <a:rPr b="0" lang="fr-FR" sz="2100" strike="noStrike" u="none">
                <a:solidFill>
                  <a:srgbClr val="f5f8fc"/>
                </a:solidFill>
                <a:effectLst/>
                <a:uFillTx/>
                <a:latin typeface="DejaVu Sans"/>
                <a:ea typeface="DejaVu Sans"/>
              </a:rPr>
              <a:t>Good antennas</a:t>
            </a:r>
            <a:endParaRPr b="0" lang="fr-FR" sz="2100" strike="noStrike" u="none">
              <a:solidFill>
                <a:srgbClr val="ffffff"/>
              </a:solidFill>
              <a:effectLst/>
              <a:uFillTx/>
              <a:latin typeface="Arial"/>
            </a:endParaRPr>
          </a:p>
          <a:p>
            <a:pPr>
              <a:lnSpc>
                <a:spcPct val="115000"/>
              </a:lnSpc>
              <a:spcAft>
                <a:spcPts val="794"/>
              </a:spcAft>
            </a:pPr>
            <a:r>
              <a:rPr b="0" lang="fr-FR" sz="2100" strike="noStrike" u="none">
                <a:solidFill>
                  <a:srgbClr val="f5f8fc"/>
                </a:solidFill>
                <a:effectLst/>
                <a:uFillTx/>
                <a:latin typeface="DejaVu Sans"/>
                <a:ea typeface="DejaVu Sans"/>
              </a:rPr>
              <a:t>Good sites</a:t>
            </a:r>
            <a:endParaRPr b="0" lang="fr-FR" sz="2100" strike="noStrike" u="none">
              <a:solidFill>
                <a:srgbClr val="ffffff"/>
              </a:solidFill>
              <a:effectLst/>
              <a:uFillTx/>
              <a:latin typeface="Arial"/>
            </a:endParaRPr>
          </a:p>
          <a:p>
            <a:pPr>
              <a:lnSpc>
                <a:spcPct val="115000"/>
              </a:lnSpc>
              <a:spcAft>
                <a:spcPts val="794"/>
              </a:spcAft>
            </a:pPr>
            <a:r>
              <a:rPr b="0" lang="fr-FR" sz="2100" strike="noStrike" u="none">
                <a:solidFill>
                  <a:srgbClr val="f5f8fc"/>
                </a:solidFill>
                <a:effectLst/>
                <a:uFillTx/>
                <a:latin typeface="DejaVu Sans"/>
                <a:ea typeface="DejaVu Sans"/>
              </a:rPr>
              <a:t>Good RF filtering</a:t>
            </a:r>
            <a:endParaRPr b="0" lang="fr-FR" sz="2100" strike="noStrike" u="none">
              <a:solidFill>
                <a:srgbClr val="ffffff"/>
              </a:solidFill>
              <a:effectLst/>
              <a:uFillTx/>
              <a:latin typeface="Arial"/>
            </a:endParaRPr>
          </a:p>
          <a:p>
            <a:pPr>
              <a:lnSpc>
                <a:spcPct val="115000"/>
              </a:lnSpc>
              <a:spcAft>
                <a:spcPts val="794"/>
              </a:spcAft>
            </a:pPr>
            <a:r>
              <a:rPr b="0" lang="fr-FR" sz="2100" strike="noStrike" u="none">
                <a:solidFill>
                  <a:srgbClr val="f5f8fc"/>
                </a:solidFill>
                <a:effectLst/>
                <a:uFillTx/>
                <a:latin typeface="DejaVu Sans"/>
                <a:ea typeface="DejaVu Sans"/>
              </a:rPr>
              <a:t>Useful diagnostics</a:t>
            </a:r>
            <a:endParaRPr b="0" lang="fr-FR" sz="2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31"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32"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EXTENDED TNC2 / RXT</a:t>
            </a:r>
            <a:endParaRPr b="0" lang="fr-FR" sz="1200" strike="noStrike" u="none">
              <a:solidFill>
                <a:srgbClr val="ffffff"/>
              </a:solidFill>
              <a:effectLst/>
              <a:uFillTx/>
              <a:latin typeface="Arial"/>
            </a:endParaRPr>
          </a:p>
        </p:txBody>
      </p:sp>
      <p:sp>
        <p:nvSpPr>
          <p:cNvPr id="33"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03</a:t>
            </a:r>
            <a:endParaRPr b="0" lang="fr-FR" sz="1200" strike="noStrike" u="none">
              <a:solidFill>
                <a:srgbClr val="ffffff"/>
              </a:solidFill>
              <a:effectLst/>
              <a:uFillTx/>
              <a:latin typeface="Arial"/>
            </a:endParaRPr>
          </a:p>
        </p:txBody>
      </p:sp>
      <p:sp>
        <p:nvSpPr>
          <p:cNvPr id="34"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The whole project in one view</a:t>
            </a:r>
            <a:endParaRPr b="0" lang="fr-FR" sz="3200" strike="noStrike" u="none">
              <a:solidFill>
                <a:srgbClr val="ffffff"/>
              </a:solidFill>
              <a:effectLst/>
              <a:uFillTx/>
              <a:latin typeface="Arial"/>
            </a:endParaRPr>
          </a:p>
        </p:txBody>
      </p:sp>
      <p:sp>
        <p:nvSpPr>
          <p:cNvPr id="35"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One RF packet, several complementary ways to use it.</a:t>
            </a:r>
            <a:endParaRPr b="0" lang="fr-FR" sz="2000" strike="noStrike" u="none">
              <a:solidFill>
                <a:srgbClr val="ffffff"/>
              </a:solidFill>
              <a:effectLst/>
              <a:uFillTx/>
              <a:latin typeface="Arial"/>
            </a:endParaRPr>
          </a:p>
        </p:txBody>
      </p:sp>
      <p:sp>
        <p:nvSpPr>
          <p:cNvPr id="36"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Sources: LoRa APRS JSON protocol draft; CA2RXU iGate RXT documentation; Graywolf RXT guide</a:t>
            </a:r>
            <a:endParaRPr b="0" lang="fr-FR" sz="1000" strike="noStrike" u="none">
              <a:solidFill>
                <a:srgbClr val="ffffff"/>
              </a:solidFill>
              <a:effectLst/>
              <a:uFillTx/>
              <a:latin typeface="Arial"/>
            </a:endParaRPr>
          </a:p>
        </p:txBody>
      </p:sp>
      <p:sp>
        <p:nvSpPr>
          <p:cNvPr id="37" name=""/>
          <p:cNvSpPr/>
          <p:nvPr/>
        </p:nvSpPr>
        <p:spPr>
          <a:xfrm>
            <a:off x="324000" y="1800000"/>
            <a:ext cx="1979280" cy="151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8" name=""/>
          <p:cNvSpPr/>
          <p:nvPr/>
        </p:nvSpPr>
        <p:spPr>
          <a:xfrm>
            <a:off x="450000" y="2088000"/>
            <a:ext cx="172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TRACKER</a:t>
            </a:r>
            <a:endParaRPr b="0" lang="fr-FR" sz="2200" strike="noStrike" u="none">
              <a:solidFill>
                <a:srgbClr val="ffffff"/>
              </a:solidFill>
              <a:effectLst/>
              <a:uFillTx/>
              <a:latin typeface="Arial"/>
            </a:endParaRPr>
          </a:p>
        </p:txBody>
      </p:sp>
      <p:sp>
        <p:nvSpPr>
          <p:cNvPr id="39" name=""/>
          <p:cNvSpPr/>
          <p:nvPr/>
        </p:nvSpPr>
        <p:spPr>
          <a:xfrm>
            <a:off x="450000" y="2556000"/>
            <a:ext cx="1727280" cy="69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originates packet</a:t>
            </a:r>
            <a:endParaRPr b="0" lang="fr-FR" sz="1800" strike="noStrike" u="none">
              <a:solidFill>
                <a:srgbClr val="ffffff"/>
              </a:solidFill>
              <a:effectLst/>
              <a:uFillTx/>
              <a:latin typeface="Arial"/>
            </a:endParaRPr>
          </a:p>
        </p:txBody>
      </p:sp>
      <p:sp>
        <p:nvSpPr>
          <p:cNvPr id="40" name=""/>
          <p:cNvSpPr/>
          <p:nvPr/>
        </p:nvSpPr>
        <p:spPr>
          <a:xfrm>
            <a:off x="2556000" y="1800000"/>
            <a:ext cx="1979280" cy="151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41" name=""/>
          <p:cNvSpPr/>
          <p:nvPr/>
        </p:nvSpPr>
        <p:spPr>
          <a:xfrm>
            <a:off x="2682000" y="2088000"/>
            <a:ext cx="172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DIGI</a:t>
            </a:r>
            <a:endParaRPr b="0" lang="fr-FR" sz="2200" strike="noStrike" u="none">
              <a:solidFill>
                <a:srgbClr val="ffffff"/>
              </a:solidFill>
              <a:effectLst/>
              <a:uFillTx/>
              <a:latin typeface="Arial"/>
            </a:endParaRPr>
          </a:p>
        </p:txBody>
      </p:sp>
      <p:sp>
        <p:nvSpPr>
          <p:cNvPr id="42" name=""/>
          <p:cNvSpPr/>
          <p:nvPr/>
        </p:nvSpPr>
        <p:spPr>
          <a:xfrm>
            <a:off x="2682000" y="2556000"/>
            <a:ext cx="1727280" cy="431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relays + RXT</a:t>
            </a:r>
            <a:endParaRPr b="0" lang="fr-FR" sz="1800" strike="noStrike" u="none">
              <a:solidFill>
                <a:srgbClr val="ffffff"/>
              </a:solidFill>
              <a:effectLst/>
              <a:uFillTx/>
              <a:latin typeface="Arial"/>
            </a:endParaRPr>
          </a:p>
        </p:txBody>
      </p:sp>
      <p:sp>
        <p:nvSpPr>
          <p:cNvPr id="43" name=""/>
          <p:cNvSpPr/>
          <p:nvPr/>
        </p:nvSpPr>
        <p:spPr>
          <a:xfrm>
            <a:off x="4788000" y="1800000"/>
            <a:ext cx="1979280" cy="151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44" name=""/>
          <p:cNvSpPr/>
          <p:nvPr/>
        </p:nvSpPr>
        <p:spPr>
          <a:xfrm>
            <a:off x="4914000" y="2088000"/>
            <a:ext cx="172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iGATE</a:t>
            </a:r>
            <a:endParaRPr b="0" lang="fr-FR" sz="2200" strike="noStrike" u="none">
              <a:solidFill>
                <a:srgbClr val="ffffff"/>
              </a:solidFill>
              <a:effectLst/>
              <a:uFillTx/>
              <a:latin typeface="Arial"/>
            </a:endParaRPr>
          </a:p>
        </p:txBody>
      </p:sp>
      <p:sp>
        <p:nvSpPr>
          <p:cNvPr id="45" name=""/>
          <p:cNvSpPr/>
          <p:nvPr/>
        </p:nvSpPr>
        <p:spPr>
          <a:xfrm>
            <a:off x="4914000" y="2556000"/>
            <a:ext cx="1727280" cy="69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receives + exports</a:t>
            </a:r>
            <a:endParaRPr b="0" lang="fr-FR" sz="1800" strike="noStrike" u="none">
              <a:solidFill>
                <a:srgbClr val="ffffff"/>
              </a:solidFill>
              <a:effectLst/>
              <a:uFillTx/>
              <a:latin typeface="Arial"/>
            </a:endParaRPr>
          </a:p>
        </p:txBody>
      </p:sp>
      <p:sp>
        <p:nvSpPr>
          <p:cNvPr id="46" name=""/>
          <p:cNvSpPr/>
          <p:nvPr/>
        </p:nvSpPr>
        <p:spPr>
          <a:xfrm>
            <a:off x="7020000" y="1800000"/>
            <a:ext cx="2699280" cy="151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47" name=""/>
          <p:cNvSpPr/>
          <p:nvPr/>
        </p:nvSpPr>
        <p:spPr>
          <a:xfrm>
            <a:off x="7146000" y="2088000"/>
            <a:ext cx="244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GRAYWOLF</a:t>
            </a:r>
            <a:endParaRPr b="0" lang="fr-FR" sz="2200" strike="noStrike" u="none">
              <a:solidFill>
                <a:srgbClr val="ffffff"/>
              </a:solidFill>
              <a:effectLst/>
              <a:uFillTx/>
              <a:latin typeface="Arial"/>
            </a:endParaRPr>
          </a:p>
        </p:txBody>
      </p:sp>
      <p:sp>
        <p:nvSpPr>
          <p:cNvPr id="48" name=""/>
          <p:cNvSpPr/>
          <p:nvPr/>
        </p:nvSpPr>
        <p:spPr>
          <a:xfrm>
            <a:off x="7146000" y="2556000"/>
            <a:ext cx="2447280" cy="431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log + map + links</a:t>
            </a:r>
            <a:endParaRPr b="0" lang="fr-FR" sz="1800" strike="noStrike" u="none">
              <a:solidFill>
                <a:srgbClr val="ffffff"/>
              </a:solidFill>
              <a:effectLst/>
              <a:uFillTx/>
              <a:latin typeface="Arial"/>
            </a:endParaRPr>
          </a:p>
        </p:txBody>
      </p:sp>
      <p:sp>
        <p:nvSpPr>
          <p:cNvPr id="49" name=""/>
          <p:cNvSpPr/>
          <p:nvPr/>
        </p:nvSpPr>
        <p:spPr>
          <a:xfrm>
            <a:off x="2322000" y="2232000"/>
            <a:ext cx="251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a:t>
            </a:r>
            <a:endParaRPr b="0" lang="fr-FR" sz="2800" strike="noStrike" u="none">
              <a:solidFill>
                <a:srgbClr val="ffffff"/>
              </a:solidFill>
              <a:effectLst/>
              <a:uFillTx/>
              <a:latin typeface="Arial"/>
            </a:endParaRPr>
          </a:p>
        </p:txBody>
      </p:sp>
      <p:sp>
        <p:nvSpPr>
          <p:cNvPr id="50" name=""/>
          <p:cNvSpPr/>
          <p:nvPr/>
        </p:nvSpPr>
        <p:spPr>
          <a:xfrm>
            <a:off x="4554000" y="2232000"/>
            <a:ext cx="251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a:t>
            </a:r>
            <a:endParaRPr b="0" lang="fr-FR" sz="2800" strike="noStrike" u="none">
              <a:solidFill>
                <a:srgbClr val="ffffff"/>
              </a:solidFill>
              <a:effectLst/>
              <a:uFillTx/>
              <a:latin typeface="Arial"/>
            </a:endParaRPr>
          </a:p>
        </p:txBody>
      </p:sp>
      <p:sp>
        <p:nvSpPr>
          <p:cNvPr id="51" name=""/>
          <p:cNvSpPr/>
          <p:nvPr/>
        </p:nvSpPr>
        <p:spPr>
          <a:xfrm>
            <a:off x="6786000" y="2232000"/>
            <a:ext cx="251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a:t>
            </a:r>
            <a:endParaRPr b="0" lang="fr-FR" sz="2800" strike="noStrike" u="none">
              <a:solidFill>
                <a:srgbClr val="ffffff"/>
              </a:solidFill>
              <a:effectLst/>
              <a:uFillTx/>
              <a:latin typeface="Arial"/>
            </a:endParaRPr>
          </a:p>
        </p:txBody>
      </p:sp>
      <p:sp>
        <p:nvSpPr>
          <p:cNvPr id="52" name=""/>
          <p:cNvSpPr/>
          <p:nvPr/>
        </p:nvSpPr>
        <p:spPr>
          <a:xfrm>
            <a:off x="1152000" y="3672000"/>
            <a:ext cx="7775280" cy="118764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53" name=""/>
          <p:cNvSpPr/>
          <p:nvPr/>
        </p:nvSpPr>
        <p:spPr>
          <a:xfrm>
            <a:off x="1332000" y="3852000"/>
            <a:ext cx="7451280" cy="801000"/>
          </a:xfrm>
          <a:prstGeom prst="rect">
            <a:avLst/>
          </a:prstGeom>
          <a:noFill/>
          <a:ln w="0">
            <a:noFill/>
          </a:ln>
        </p:spPr>
        <p:style>
          <a:lnRef idx="0"/>
          <a:fillRef idx="0"/>
          <a:effectRef idx="0"/>
          <a:fontRef idx="minor"/>
        </p:style>
        <p:txBody>
          <a:bodyPr lIns="90000" rIns="90000" tIns="45000" bIns="45000" anchor="t">
            <a:spAutoFit/>
          </a:bodyPr>
          <a:p>
            <a:pPr algn="ctr">
              <a:lnSpc>
                <a:spcPct val="115000"/>
              </a:lnSpc>
              <a:spcAft>
                <a:spcPts val="283"/>
              </a:spcAft>
            </a:pPr>
            <a:r>
              <a:rPr b="1" lang="fr-FR" sz="2100" strike="noStrike" u="none">
                <a:solidFill>
                  <a:srgbClr val="f5f8fc"/>
                </a:solidFill>
                <a:effectLst/>
                <a:uFillTx/>
                <a:latin typeface="DejaVu Sans"/>
                <a:ea typeface="DejaVu Sans"/>
              </a:rPr>
              <a:t>RF path + exact identity + LoRa metadata — no forced AX.25 core</a:t>
            </a:r>
            <a:endParaRPr b="0" lang="fr-FR" sz="2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54"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55"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EXTENDED TNC2 / RXT</a:t>
            </a:r>
            <a:endParaRPr b="0" lang="fr-FR" sz="1200" strike="noStrike" u="none">
              <a:solidFill>
                <a:srgbClr val="ffffff"/>
              </a:solidFill>
              <a:effectLst/>
              <a:uFillTx/>
              <a:latin typeface="Arial"/>
            </a:endParaRPr>
          </a:p>
        </p:txBody>
      </p:sp>
      <p:sp>
        <p:nvSpPr>
          <p:cNvPr id="56"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04</a:t>
            </a:r>
            <a:endParaRPr b="0" lang="fr-FR" sz="1200" strike="noStrike" u="none">
              <a:solidFill>
                <a:srgbClr val="ffffff"/>
              </a:solidFill>
              <a:effectLst/>
              <a:uFillTx/>
              <a:latin typeface="Arial"/>
            </a:endParaRPr>
          </a:p>
        </p:txBody>
      </p:sp>
      <p:sp>
        <p:nvSpPr>
          <p:cNvPr id="57"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What is a TNC2 packet?</a:t>
            </a:r>
            <a:endParaRPr b="0" lang="fr-FR" sz="3200" strike="noStrike" u="none">
              <a:solidFill>
                <a:srgbClr val="ffffff"/>
              </a:solidFill>
              <a:effectLst/>
              <a:uFillTx/>
              <a:latin typeface="Arial"/>
            </a:endParaRPr>
          </a:p>
        </p:txBody>
      </p:sp>
      <p:sp>
        <p:nvSpPr>
          <p:cNvPr id="58" name=""/>
          <p:cNvSpPr/>
          <p:nvPr/>
        </p:nvSpPr>
        <p:spPr>
          <a:xfrm>
            <a:off x="324000" y="882000"/>
            <a:ext cx="9323280" cy="441000"/>
          </a:xfrm>
          <a:prstGeom prst="rect">
            <a:avLst/>
          </a:prstGeom>
          <a:noFill/>
          <a:ln w="0">
            <a:no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0" lang="fr-FR" sz="2000" strike="noStrike" u="none">
                <a:solidFill>
                  <a:srgbClr val="b8c9d5"/>
                </a:solidFill>
                <a:effectLst/>
                <a:uFillTx/>
                <a:latin typeface="DejaVu Sans"/>
                <a:ea typeface="DejaVu Sans"/>
              </a:rPr>
              <a:t>A TNC2 packet is carried as a readable line of text.</a:t>
            </a:r>
            <a:endParaRPr b="0" lang="fr-FR" sz="2000" strike="noStrike" u="none">
              <a:solidFill>
                <a:srgbClr val="ffffff"/>
              </a:solidFill>
              <a:effectLst/>
              <a:uFillTx/>
              <a:latin typeface="Arial"/>
            </a:endParaRPr>
          </a:p>
        </p:txBody>
      </p:sp>
      <p:sp>
        <p:nvSpPr>
          <p:cNvPr id="59"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Source: LoRa APRS JSON protocol draft §3; CA2RXU LoRa receive path</a:t>
            </a:r>
            <a:endParaRPr b="0" lang="fr-FR" sz="1000" strike="noStrike" u="none">
              <a:solidFill>
                <a:srgbClr val="ffffff"/>
              </a:solidFill>
              <a:effectLst/>
              <a:uFillTx/>
              <a:latin typeface="Arial"/>
            </a:endParaRPr>
          </a:p>
        </p:txBody>
      </p:sp>
      <p:sp>
        <p:nvSpPr>
          <p:cNvPr id="60" name=""/>
          <p:cNvSpPr/>
          <p:nvPr/>
        </p:nvSpPr>
        <p:spPr>
          <a:xfrm>
            <a:off x="324000" y="1404000"/>
            <a:ext cx="9395280" cy="1115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61" name=""/>
          <p:cNvSpPr/>
          <p:nvPr/>
        </p:nvSpPr>
        <p:spPr>
          <a:xfrm>
            <a:off x="576000" y="1710000"/>
            <a:ext cx="8855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000" strike="noStrike" u="none">
                <a:solidFill>
                  <a:srgbClr val="ffd18a"/>
                </a:solidFill>
                <a:effectLst/>
                <a:uFillTx/>
                <a:latin typeface="DejaVu Sans"/>
                <a:ea typeface="DejaVu Sans"/>
              </a:rPr>
              <a:t>F4MLV-7&gt;APRS,WIDE1-1:&gt;Hello from LoRa</a:t>
            </a:r>
            <a:endParaRPr b="0" lang="fr-FR" sz="2000" strike="noStrike" u="none">
              <a:solidFill>
                <a:srgbClr val="ffffff"/>
              </a:solidFill>
              <a:effectLst/>
              <a:uFillTx/>
              <a:latin typeface="Arial"/>
            </a:endParaRPr>
          </a:p>
        </p:txBody>
      </p:sp>
      <p:sp>
        <p:nvSpPr>
          <p:cNvPr id="62" name=""/>
          <p:cNvSpPr/>
          <p:nvPr/>
        </p:nvSpPr>
        <p:spPr>
          <a:xfrm>
            <a:off x="360000" y="2880000"/>
            <a:ext cx="2087280" cy="1295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63" name=""/>
          <p:cNvSpPr/>
          <p:nvPr/>
        </p:nvSpPr>
        <p:spPr>
          <a:xfrm>
            <a:off x="468000" y="3042000"/>
            <a:ext cx="1871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F4MLV-7</a:t>
            </a:r>
            <a:endParaRPr b="0" lang="fr-FR" sz="2200" strike="noStrike" u="none">
              <a:solidFill>
                <a:srgbClr val="ffffff"/>
              </a:solidFill>
              <a:effectLst/>
              <a:uFillTx/>
              <a:latin typeface="Arial"/>
            </a:endParaRPr>
          </a:p>
        </p:txBody>
      </p:sp>
      <p:sp>
        <p:nvSpPr>
          <p:cNvPr id="64" name=""/>
          <p:cNvSpPr/>
          <p:nvPr/>
        </p:nvSpPr>
        <p:spPr>
          <a:xfrm>
            <a:off x="468000" y="3402000"/>
            <a:ext cx="1871280" cy="395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source</a:t>
            </a:r>
            <a:endParaRPr b="0" lang="fr-FR" sz="1800" strike="noStrike" u="none">
              <a:solidFill>
                <a:srgbClr val="ffffff"/>
              </a:solidFill>
              <a:effectLst/>
              <a:uFillTx/>
              <a:latin typeface="Arial"/>
            </a:endParaRPr>
          </a:p>
        </p:txBody>
      </p:sp>
      <p:sp>
        <p:nvSpPr>
          <p:cNvPr id="65" name=""/>
          <p:cNvSpPr/>
          <p:nvPr/>
        </p:nvSpPr>
        <p:spPr>
          <a:xfrm>
            <a:off x="2592000" y="2880000"/>
            <a:ext cx="1871280" cy="1295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66" name=""/>
          <p:cNvSpPr/>
          <p:nvPr/>
        </p:nvSpPr>
        <p:spPr>
          <a:xfrm>
            <a:off x="2700000" y="3042000"/>
            <a:ext cx="1655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APRS</a:t>
            </a:r>
            <a:endParaRPr b="0" lang="fr-FR" sz="2200" strike="noStrike" u="none">
              <a:solidFill>
                <a:srgbClr val="ffffff"/>
              </a:solidFill>
              <a:effectLst/>
              <a:uFillTx/>
              <a:latin typeface="Arial"/>
            </a:endParaRPr>
          </a:p>
        </p:txBody>
      </p:sp>
      <p:sp>
        <p:nvSpPr>
          <p:cNvPr id="67" name=""/>
          <p:cNvSpPr/>
          <p:nvPr/>
        </p:nvSpPr>
        <p:spPr>
          <a:xfrm>
            <a:off x="2700000" y="3402000"/>
            <a:ext cx="1655280" cy="395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destination</a:t>
            </a:r>
            <a:endParaRPr b="0" lang="fr-FR" sz="1800" strike="noStrike" u="none">
              <a:solidFill>
                <a:srgbClr val="ffffff"/>
              </a:solidFill>
              <a:effectLst/>
              <a:uFillTx/>
              <a:latin typeface="Arial"/>
            </a:endParaRPr>
          </a:p>
        </p:txBody>
      </p:sp>
      <p:sp>
        <p:nvSpPr>
          <p:cNvPr id="68" name=""/>
          <p:cNvSpPr/>
          <p:nvPr/>
        </p:nvSpPr>
        <p:spPr>
          <a:xfrm>
            <a:off x="4608000" y="2880000"/>
            <a:ext cx="2087280" cy="1295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69" name=""/>
          <p:cNvSpPr/>
          <p:nvPr/>
        </p:nvSpPr>
        <p:spPr>
          <a:xfrm>
            <a:off x="4716000" y="3042000"/>
            <a:ext cx="1871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WIDE1-1</a:t>
            </a:r>
            <a:endParaRPr b="0" lang="fr-FR" sz="2200" strike="noStrike" u="none">
              <a:solidFill>
                <a:srgbClr val="ffffff"/>
              </a:solidFill>
              <a:effectLst/>
              <a:uFillTx/>
              <a:latin typeface="Arial"/>
            </a:endParaRPr>
          </a:p>
        </p:txBody>
      </p:sp>
      <p:sp>
        <p:nvSpPr>
          <p:cNvPr id="70" name=""/>
          <p:cNvSpPr/>
          <p:nvPr/>
        </p:nvSpPr>
        <p:spPr>
          <a:xfrm>
            <a:off x="4716000" y="3402000"/>
            <a:ext cx="1871280" cy="395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path</a:t>
            </a:r>
            <a:endParaRPr b="0" lang="fr-FR" sz="1800" strike="noStrike" u="none">
              <a:solidFill>
                <a:srgbClr val="ffffff"/>
              </a:solidFill>
              <a:effectLst/>
              <a:uFillTx/>
              <a:latin typeface="Arial"/>
            </a:endParaRPr>
          </a:p>
        </p:txBody>
      </p:sp>
      <p:sp>
        <p:nvSpPr>
          <p:cNvPr id="71" name=""/>
          <p:cNvSpPr/>
          <p:nvPr/>
        </p:nvSpPr>
        <p:spPr>
          <a:xfrm>
            <a:off x="6840000" y="2880000"/>
            <a:ext cx="2555280" cy="1295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72" name=""/>
          <p:cNvSpPr/>
          <p:nvPr/>
        </p:nvSpPr>
        <p:spPr>
          <a:xfrm>
            <a:off x="6948000" y="3042000"/>
            <a:ext cx="233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&gt;Hello…</a:t>
            </a:r>
            <a:endParaRPr b="0" lang="fr-FR" sz="2200" strike="noStrike" u="none">
              <a:solidFill>
                <a:srgbClr val="ffffff"/>
              </a:solidFill>
              <a:effectLst/>
              <a:uFillTx/>
              <a:latin typeface="Arial"/>
            </a:endParaRPr>
          </a:p>
        </p:txBody>
      </p:sp>
      <p:sp>
        <p:nvSpPr>
          <p:cNvPr id="73" name=""/>
          <p:cNvSpPr/>
          <p:nvPr/>
        </p:nvSpPr>
        <p:spPr>
          <a:xfrm>
            <a:off x="6948000" y="3402000"/>
            <a:ext cx="2339280" cy="395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information</a:t>
            </a:r>
            <a:endParaRPr b="0" lang="fr-FR"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74"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75"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EXTENDED TNC2 / RXT</a:t>
            </a:r>
            <a:endParaRPr b="0" lang="fr-FR" sz="1200" strike="noStrike" u="none">
              <a:solidFill>
                <a:srgbClr val="ffffff"/>
              </a:solidFill>
              <a:effectLst/>
              <a:uFillTx/>
              <a:latin typeface="Arial"/>
            </a:endParaRPr>
          </a:p>
        </p:txBody>
      </p:sp>
      <p:sp>
        <p:nvSpPr>
          <p:cNvPr id="76"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05</a:t>
            </a:r>
            <a:endParaRPr b="0" lang="fr-FR" sz="1200" strike="noStrike" u="none">
              <a:solidFill>
                <a:srgbClr val="ffffff"/>
              </a:solidFill>
              <a:effectLst/>
              <a:uFillTx/>
              <a:latin typeface="Arial"/>
            </a:endParaRPr>
          </a:p>
        </p:txBody>
      </p:sp>
      <p:sp>
        <p:nvSpPr>
          <p:cNvPr id="77"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The extended identity model</a:t>
            </a:r>
            <a:endParaRPr b="0" lang="fr-FR" sz="3200" strike="noStrike" u="none">
              <a:solidFill>
                <a:srgbClr val="ffffff"/>
              </a:solidFill>
              <a:effectLst/>
              <a:uFillTx/>
              <a:latin typeface="Arial"/>
            </a:endParaRPr>
          </a:p>
        </p:txBody>
      </p:sp>
      <p:sp>
        <p:nvSpPr>
          <p:cNvPr id="78" name=""/>
          <p:cNvSpPr/>
          <p:nvPr/>
        </p:nvSpPr>
        <p:spPr>
          <a:xfrm>
            <a:off x="324000" y="882000"/>
            <a:ext cx="9323280" cy="441000"/>
          </a:xfrm>
          <a:prstGeom prst="rect">
            <a:avLst/>
          </a:prstGeom>
          <a:noFill/>
          <a:ln w="0">
            <a:no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0" lang="fr-FR" sz="2000" strike="noStrike" u="none">
                <a:solidFill>
                  <a:srgbClr val="b8c9d5"/>
                </a:solidFill>
                <a:effectLst/>
                <a:uFillTx/>
                <a:latin typeface="DejaVu Sans"/>
                <a:ea typeface="DejaVu Sans"/>
              </a:rPr>
              <a:t>The identity is preserved exactly as transmitted.</a:t>
            </a:r>
            <a:endParaRPr b="0" lang="fr-FR" sz="2000" strike="noStrike" u="none">
              <a:solidFill>
                <a:srgbClr val="ffffff"/>
              </a:solidFill>
              <a:effectLst/>
              <a:uFillTx/>
              <a:latin typeface="Arial"/>
            </a:endParaRPr>
          </a:p>
        </p:txBody>
      </p:sp>
      <p:sp>
        <p:nvSpPr>
          <p:cNvPr id="79"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Sources: LoRa APRS JSON protocol draft §3; Graywolf tnc2.PacketAddress</a:t>
            </a:r>
            <a:endParaRPr b="0" lang="fr-FR" sz="1000" strike="noStrike" u="none">
              <a:solidFill>
                <a:srgbClr val="ffffff"/>
              </a:solidFill>
              <a:effectLst/>
              <a:uFillTx/>
              <a:latin typeface="Arial"/>
            </a:endParaRPr>
          </a:p>
        </p:txBody>
      </p:sp>
      <p:sp>
        <p:nvSpPr>
          <p:cNvPr id="80" name=""/>
          <p:cNvSpPr/>
          <p:nvPr/>
        </p:nvSpPr>
        <p:spPr>
          <a:xfrm>
            <a:off x="360000" y="1440000"/>
            <a:ext cx="2987280" cy="187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81" name=""/>
          <p:cNvSpPr/>
          <p:nvPr/>
        </p:nvSpPr>
        <p:spPr>
          <a:xfrm>
            <a:off x="522000" y="1800000"/>
            <a:ext cx="2699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000" strike="noStrike" u="none">
                <a:solidFill>
                  <a:srgbClr val="ffd18a"/>
                </a:solidFill>
                <a:effectLst/>
                <a:uFillTx/>
                <a:latin typeface="DejaVu Sans"/>
                <a:ea typeface="DejaVu Sans"/>
              </a:rPr>
              <a:t>F4JJE-16</a:t>
            </a:r>
            <a:endParaRPr b="0" lang="fr-FR" sz="2000" strike="noStrike" u="none">
              <a:solidFill>
                <a:srgbClr val="ffffff"/>
              </a:solidFill>
              <a:effectLst/>
              <a:uFillTx/>
              <a:latin typeface="Arial"/>
            </a:endParaRPr>
          </a:p>
        </p:txBody>
      </p:sp>
      <p:sp>
        <p:nvSpPr>
          <p:cNvPr id="82" name=""/>
          <p:cNvSpPr/>
          <p:nvPr/>
        </p:nvSpPr>
        <p:spPr>
          <a:xfrm>
            <a:off x="522000" y="2412000"/>
            <a:ext cx="2663280" cy="69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numeric suffix beyond 15</a:t>
            </a:r>
            <a:endParaRPr b="0" lang="fr-FR" sz="1800" strike="noStrike" u="none">
              <a:solidFill>
                <a:srgbClr val="ffffff"/>
              </a:solidFill>
              <a:effectLst/>
              <a:uFillTx/>
              <a:latin typeface="Arial"/>
            </a:endParaRPr>
          </a:p>
        </p:txBody>
      </p:sp>
      <p:sp>
        <p:nvSpPr>
          <p:cNvPr id="83" name=""/>
          <p:cNvSpPr/>
          <p:nvPr/>
        </p:nvSpPr>
        <p:spPr>
          <a:xfrm>
            <a:off x="3528000" y="1440000"/>
            <a:ext cx="2987280" cy="187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84" name=""/>
          <p:cNvSpPr/>
          <p:nvPr/>
        </p:nvSpPr>
        <p:spPr>
          <a:xfrm>
            <a:off x="3690000" y="1800000"/>
            <a:ext cx="2699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000" strike="noStrike" u="none">
                <a:solidFill>
                  <a:srgbClr val="ffd18a"/>
                </a:solidFill>
                <a:effectLst/>
                <a:uFillTx/>
                <a:latin typeface="DejaVu Sans"/>
                <a:ea typeface="DejaVu Sans"/>
              </a:rPr>
              <a:t>NN7LE-GS</a:t>
            </a:r>
            <a:endParaRPr b="0" lang="fr-FR" sz="2000" strike="noStrike" u="none">
              <a:solidFill>
                <a:srgbClr val="ffffff"/>
              </a:solidFill>
              <a:effectLst/>
              <a:uFillTx/>
              <a:latin typeface="Arial"/>
            </a:endParaRPr>
          </a:p>
        </p:txBody>
      </p:sp>
      <p:sp>
        <p:nvSpPr>
          <p:cNvPr id="85" name=""/>
          <p:cNvSpPr/>
          <p:nvPr/>
        </p:nvSpPr>
        <p:spPr>
          <a:xfrm>
            <a:off x="3690000" y="2412000"/>
            <a:ext cx="2663280" cy="539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letters in the suffix</a:t>
            </a:r>
            <a:endParaRPr b="0" lang="fr-FR" sz="1800" strike="noStrike" u="none">
              <a:solidFill>
                <a:srgbClr val="ffffff"/>
              </a:solidFill>
              <a:effectLst/>
              <a:uFillTx/>
              <a:latin typeface="Arial"/>
            </a:endParaRPr>
          </a:p>
        </p:txBody>
      </p:sp>
      <p:sp>
        <p:nvSpPr>
          <p:cNvPr id="86" name=""/>
          <p:cNvSpPr/>
          <p:nvPr/>
        </p:nvSpPr>
        <p:spPr>
          <a:xfrm>
            <a:off x="6696000" y="1440000"/>
            <a:ext cx="2987280" cy="187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87" name=""/>
          <p:cNvSpPr/>
          <p:nvPr/>
        </p:nvSpPr>
        <p:spPr>
          <a:xfrm>
            <a:off x="6858000" y="1800000"/>
            <a:ext cx="2699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000" strike="noStrike" u="none">
                <a:solidFill>
                  <a:srgbClr val="ffd18a"/>
                </a:solidFill>
                <a:effectLst/>
                <a:uFillTx/>
                <a:latin typeface="DejaVu Sans"/>
                <a:ea typeface="DejaVu Sans"/>
              </a:rPr>
              <a:t>NN7LE-S*</a:t>
            </a:r>
            <a:endParaRPr b="0" lang="fr-FR" sz="2000" strike="noStrike" u="none">
              <a:solidFill>
                <a:srgbClr val="ffffff"/>
              </a:solidFill>
              <a:effectLst/>
              <a:uFillTx/>
              <a:latin typeface="Arial"/>
            </a:endParaRPr>
          </a:p>
        </p:txBody>
      </p:sp>
      <p:sp>
        <p:nvSpPr>
          <p:cNvPr id="88" name=""/>
          <p:cNvSpPr/>
          <p:nvPr/>
        </p:nvSpPr>
        <p:spPr>
          <a:xfrm>
            <a:off x="6858000" y="2412000"/>
            <a:ext cx="2663280" cy="539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relay mark retained</a:t>
            </a:r>
            <a:endParaRPr b="0" lang="fr-FR" sz="1800" strike="noStrike" u="none">
              <a:solidFill>
                <a:srgbClr val="ffffff"/>
              </a:solidFill>
              <a:effectLst/>
              <a:uFillTx/>
              <a:latin typeface="Arial"/>
            </a:endParaRPr>
          </a:p>
        </p:txBody>
      </p:sp>
      <p:sp>
        <p:nvSpPr>
          <p:cNvPr id="89" name=""/>
          <p:cNvSpPr/>
          <p:nvPr/>
        </p:nvSpPr>
        <p:spPr>
          <a:xfrm>
            <a:off x="864000" y="3708000"/>
            <a:ext cx="8315280" cy="115164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90" name=""/>
          <p:cNvSpPr/>
          <p:nvPr/>
        </p:nvSpPr>
        <p:spPr>
          <a:xfrm>
            <a:off x="1008000" y="3870000"/>
            <a:ext cx="8063280" cy="801000"/>
          </a:xfrm>
          <a:prstGeom prst="rect">
            <a:avLst/>
          </a:prstGeom>
          <a:noFill/>
          <a:ln w="0">
            <a:noFill/>
          </a:ln>
        </p:spPr>
        <p:style>
          <a:lnRef idx="0"/>
          <a:fillRef idx="0"/>
          <a:effectRef idx="0"/>
          <a:fontRef idx="minor"/>
        </p:style>
        <p:txBody>
          <a:bodyPr lIns="90000" rIns="90000" tIns="45000" bIns="45000" anchor="t">
            <a:spAutoFit/>
          </a:bodyPr>
          <a:p>
            <a:pPr algn="ctr">
              <a:lnSpc>
                <a:spcPct val="115000"/>
              </a:lnSpc>
              <a:spcAft>
                <a:spcPts val="283"/>
              </a:spcAft>
            </a:pPr>
            <a:r>
              <a:rPr b="1" lang="fr-FR" sz="2100" strike="noStrike" u="none">
                <a:solidFill>
                  <a:srgbClr val="f5f8fc"/>
                </a:solidFill>
                <a:effectLst/>
                <a:uFillTx/>
                <a:latin typeface="DejaVu Sans"/>
                <a:ea typeface="DejaVu Sans"/>
              </a:rPr>
              <a:t>Preserved on TNC2/JSON; rejected—not rewritten—at AX.25 boundaries.</a:t>
            </a:r>
            <a:endParaRPr b="0" lang="fr-FR" sz="2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91"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92"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EXTENDED TNC2 / RXT</a:t>
            </a:r>
            <a:endParaRPr b="0" lang="fr-FR" sz="1200" strike="noStrike" u="none">
              <a:solidFill>
                <a:srgbClr val="ffffff"/>
              </a:solidFill>
              <a:effectLst/>
              <a:uFillTx/>
              <a:latin typeface="Arial"/>
            </a:endParaRPr>
          </a:p>
        </p:txBody>
      </p:sp>
      <p:sp>
        <p:nvSpPr>
          <p:cNvPr id="93"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06</a:t>
            </a:r>
            <a:endParaRPr b="0" lang="fr-FR" sz="1200" strike="noStrike" u="none">
              <a:solidFill>
                <a:srgbClr val="ffffff"/>
              </a:solidFill>
              <a:effectLst/>
              <a:uFillTx/>
              <a:latin typeface="Arial"/>
            </a:endParaRPr>
          </a:p>
        </p:txBody>
      </p:sp>
      <p:sp>
        <p:nvSpPr>
          <p:cNvPr id="94"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AX.25 is a boundary—not the LoRa core</a:t>
            </a:r>
            <a:endParaRPr b="0" lang="fr-FR" sz="3200" strike="noStrike" u="none">
              <a:solidFill>
                <a:srgbClr val="ffffff"/>
              </a:solidFill>
              <a:effectLst/>
              <a:uFillTx/>
              <a:latin typeface="Arial"/>
            </a:endParaRPr>
          </a:p>
        </p:txBody>
      </p:sp>
      <p:sp>
        <p:nvSpPr>
          <p:cNvPr id="95"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LoRa APRS is already a native digital path.</a:t>
            </a:r>
            <a:endParaRPr b="0" lang="fr-FR" sz="2000" strike="noStrike" u="none">
              <a:solidFill>
                <a:srgbClr val="ffffff"/>
              </a:solidFill>
              <a:effectLst/>
              <a:uFillTx/>
              <a:latin typeface="Arial"/>
            </a:endParaRPr>
          </a:p>
        </p:txBody>
      </p:sp>
      <p:sp>
        <p:nvSpPr>
          <p:cNvPr id="96"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Sources: Graywolf direct LoRa TNC2 and RXT guides; LoRa APRS JSON protocol draft</a:t>
            </a:r>
            <a:endParaRPr b="0" lang="fr-FR" sz="1000" strike="noStrike" u="none">
              <a:solidFill>
                <a:srgbClr val="ffffff"/>
              </a:solidFill>
              <a:effectLst/>
              <a:uFillTx/>
              <a:latin typeface="Arial"/>
            </a:endParaRPr>
          </a:p>
        </p:txBody>
      </p:sp>
      <p:sp>
        <p:nvSpPr>
          <p:cNvPr id="97" name=""/>
          <p:cNvSpPr/>
          <p:nvPr/>
        </p:nvSpPr>
        <p:spPr>
          <a:xfrm>
            <a:off x="360360" y="1311840"/>
            <a:ext cx="9359280" cy="102780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98" name=""/>
          <p:cNvSpPr/>
          <p:nvPr/>
        </p:nvSpPr>
        <p:spPr>
          <a:xfrm>
            <a:off x="558000" y="145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01</a:t>
            </a:r>
            <a:endParaRPr b="0" lang="fr-FR" sz="2800" strike="noStrike" u="none">
              <a:solidFill>
                <a:srgbClr val="ffffff"/>
              </a:solidFill>
              <a:effectLst/>
              <a:uFillTx/>
              <a:latin typeface="Arial"/>
            </a:endParaRPr>
          </a:p>
        </p:txBody>
      </p:sp>
      <p:sp>
        <p:nvSpPr>
          <p:cNvPr id="99" name=""/>
          <p:cNvSpPr/>
          <p:nvPr/>
        </p:nvSpPr>
        <p:spPr>
          <a:xfrm>
            <a:off x="1440000" y="145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Native LoRa core</a:t>
            </a:r>
            <a:endParaRPr b="0" lang="fr-FR" sz="2200" strike="noStrike" u="none">
              <a:solidFill>
                <a:srgbClr val="ffffff"/>
              </a:solidFill>
              <a:effectLst/>
              <a:uFillTx/>
              <a:latin typeface="Arial"/>
            </a:endParaRPr>
          </a:p>
        </p:txBody>
      </p:sp>
      <p:sp>
        <p:nvSpPr>
          <p:cNvPr id="100" name=""/>
          <p:cNvSpPr/>
          <p:nvPr/>
        </p:nvSpPr>
        <p:spPr>
          <a:xfrm>
            <a:off x="3780000" y="1494000"/>
            <a:ext cx="568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Exact identities + RSSI/SNR/FO/TTH stay attached.</a:t>
            </a:r>
            <a:endParaRPr b="0" lang="fr-FR" sz="1700" strike="noStrike" u="none">
              <a:solidFill>
                <a:srgbClr val="ffffff"/>
              </a:solidFill>
              <a:effectLst/>
              <a:uFillTx/>
              <a:latin typeface="Arial"/>
            </a:endParaRPr>
          </a:p>
        </p:txBody>
      </p:sp>
      <p:sp>
        <p:nvSpPr>
          <p:cNvPr id="101" name=""/>
          <p:cNvSpPr/>
          <p:nvPr/>
        </p:nvSpPr>
        <p:spPr>
          <a:xfrm>
            <a:off x="360000" y="2412000"/>
            <a:ext cx="9359280" cy="100764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02" name=""/>
          <p:cNvSpPr/>
          <p:nvPr/>
        </p:nvSpPr>
        <p:spPr>
          <a:xfrm>
            <a:off x="558000" y="253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02</a:t>
            </a:r>
            <a:endParaRPr b="0" lang="fr-FR" sz="2800" strike="noStrike" u="none">
              <a:solidFill>
                <a:srgbClr val="ffffff"/>
              </a:solidFill>
              <a:effectLst/>
              <a:uFillTx/>
              <a:latin typeface="Arial"/>
            </a:endParaRPr>
          </a:p>
        </p:txBody>
      </p:sp>
      <p:sp>
        <p:nvSpPr>
          <p:cNvPr id="103" name=""/>
          <p:cNvSpPr/>
          <p:nvPr/>
        </p:nvSpPr>
        <p:spPr>
          <a:xfrm>
            <a:off x="1440000" y="253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No forced detour</a:t>
            </a:r>
            <a:endParaRPr b="0" lang="fr-FR" sz="2200" strike="noStrike" u="none">
              <a:solidFill>
                <a:srgbClr val="ffffff"/>
              </a:solidFill>
              <a:effectLst/>
              <a:uFillTx/>
              <a:latin typeface="Arial"/>
            </a:endParaRPr>
          </a:p>
        </p:txBody>
      </p:sp>
      <p:sp>
        <p:nvSpPr>
          <p:cNvPr id="104" name=""/>
          <p:cNvSpPr/>
          <p:nvPr/>
        </p:nvSpPr>
        <p:spPr>
          <a:xfrm>
            <a:off x="3780000" y="2574000"/>
            <a:ext cx="568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Avoid TNC2 → AX.25 → KISS → AX.25 → TNC2.</a:t>
            </a:r>
            <a:endParaRPr b="0" lang="fr-FR" sz="1700" strike="noStrike" u="none">
              <a:solidFill>
                <a:srgbClr val="ffffff"/>
              </a:solidFill>
              <a:effectLst/>
              <a:uFillTx/>
              <a:latin typeface="Arial"/>
            </a:endParaRPr>
          </a:p>
        </p:txBody>
      </p:sp>
      <p:sp>
        <p:nvSpPr>
          <p:cNvPr id="105" name=""/>
          <p:cNvSpPr/>
          <p:nvPr/>
        </p:nvSpPr>
        <p:spPr>
          <a:xfrm>
            <a:off x="360000" y="3492000"/>
            <a:ext cx="9359280" cy="100764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06" name=""/>
          <p:cNvSpPr/>
          <p:nvPr/>
        </p:nvSpPr>
        <p:spPr>
          <a:xfrm>
            <a:off x="558000" y="3618000"/>
            <a:ext cx="86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03</a:t>
            </a:r>
            <a:endParaRPr b="0" lang="fr-FR" sz="2800" strike="noStrike" u="none">
              <a:solidFill>
                <a:srgbClr val="ffffff"/>
              </a:solidFill>
              <a:effectLst/>
              <a:uFillTx/>
              <a:latin typeface="Arial"/>
            </a:endParaRPr>
          </a:p>
        </p:txBody>
      </p:sp>
      <p:sp>
        <p:nvSpPr>
          <p:cNvPr id="107" name=""/>
          <p:cNvSpPr/>
          <p:nvPr/>
        </p:nvSpPr>
        <p:spPr>
          <a:xfrm>
            <a:off x="1440000" y="3618000"/>
            <a:ext cx="2339280" cy="836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AX.25 at the edge</a:t>
            </a:r>
            <a:endParaRPr b="0" lang="fr-FR" sz="2200" strike="noStrike" u="none">
              <a:solidFill>
                <a:srgbClr val="ffffff"/>
              </a:solidFill>
              <a:effectLst/>
              <a:uFillTx/>
              <a:latin typeface="Arial"/>
            </a:endParaRPr>
          </a:p>
        </p:txBody>
      </p:sp>
      <p:sp>
        <p:nvSpPr>
          <p:cNvPr id="108" name=""/>
          <p:cNvSpPr/>
          <p:nvPr/>
        </p:nvSpPr>
        <p:spPr>
          <a:xfrm>
            <a:off x="3780000" y="3654000"/>
            <a:ext cx="5687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Convert only where equipment or a protocol requires it.</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109"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110"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EXTENDED TNC2 / RXT</a:t>
            </a:r>
            <a:endParaRPr b="0" lang="fr-FR" sz="1200" strike="noStrike" u="none">
              <a:solidFill>
                <a:srgbClr val="ffffff"/>
              </a:solidFill>
              <a:effectLst/>
              <a:uFillTx/>
              <a:latin typeface="Arial"/>
            </a:endParaRPr>
          </a:p>
        </p:txBody>
      </p:sp>
      <p:sp>
        <p:nvSpPr>
          <p:cNvPr id="111"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07</a:t>
            </a:r>
            <a:endParaRPr b="0" lang="fr-FR" sz="1200" strike="noStrike" u="none">
              <a:solidFill>
                <a:srgbClr val="ffffff"/>
              </a:solidFill>
              <a:effectLst/>
              <a:uFillTx/>
              <a:latin typeface="Arial"/>
            </a:endParaRPr>
          </a:p>
        </p:txBody>
      </p:sp>
      <p:sp>
        <p:nvSpPr>
          <p:cNvPr id="112"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The iGate at the centre</a:t>
            </a:r>
            <a:endParaRPr b="0" lang="fr-FR" sz="3200" strike="noStrike" u="none">
              <a:solidFill>
                <a:srgbClr val="ffffff"/>
              </a:solidFill>
              <a:effectLst/>
              <a:uFillTx/>
              <a:latin typeface="Arial"/>
            </a:endParaRPr>
          </a:p>
        </p:txBody>
      </p:sp>
      <p:sp>
        <p:nvSpPr>
          <p:cNvPr id="113" name=""/>
          <p:cNvSpPr/>
          <p:nvPr/>
        </p:nvSpPr>
        <p:spPr>
          <a:xfrm>
            <a:off x="324000" y="882000"/>
            <a:ext cx="9323280" cy="790920"/>
          </a:xfrm>
          <a:prstGeom prst="rect">
            <a:avLst/>
          </a:prstGeom>
          <a:noFill/>
          <a:ln w="0">
            <a:no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0" lang="fr-FR" sz="2000" strike="noStrike" u="none">
                <a:solidFill>
                  <a:srgbClr val="b8c9d5"/>
                </a:solidFill>
                <a:effectLst/>
                <a:uFillTx/>
                <a:latin typeface="DejaVu Sans"/>
                <a:ea typeface="DejaVu Sans"/>
              </a:rPr>
              <a:t>The iGate associates received packets with radio measurements and exports both.</a:t>
            </a:r>
            <a:endParaRPr b="0" lang="fr-FR" sz="2000" strike="noStrike" u="none">
              <a:solidFill>
                <a:srgbClr val="ffffff"/>
              </a:solidFill>
              <a:effectLst/>
              <a:uFillTx/>
              <a:latin typeface="Arial"/>
            </a:endParaRPr>
          </a:p>
        </p:txBody>
      </p:sp>
      <p:sp>
        <p:nvSpPr>
          <p:cNvPr id="114"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Sources: CA2RXU iGate README and docs/RXT.md; Graywolf TNC2 release notes 546556a6</a:t>
            </a:r>
            <a:endParaRPr b="0" lang="fr-FR" sz="1000" strike="noStrike" u="none">
              <a:solidFill>
                <a:srgbClr val="ffffff"/>
              </a:solidFill>
              <a:effectLst/>
              <a:uFillTx/>
              <a:latin typeface="Arial"/>
            </a:endParaRPr>
          </a:p>
        </p:txBody>
      </p:sp>
      <p:sp>
        <p:nvSpPr>
          <p:cNvPr id="115" name=""/>
          <p:cNvSpPr/>
          <p:nvPr/>
        </p:nvSpPr>
        <p:spPr>
          <a:xfrm>
            <a:off x="360000" y="1800000"/>
            <a:ext cx="4607280" cy="126000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16" name=""/>
          <p:cNvSpPr/>
          <p:nvPr/>
        </p:nvSpPr>
        <p:spPr>
          <a:xfrm>
            <a:off x="540000" y="1800000"/>
            <a:ext cx="4175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RECEIVE</a:t>
            </a:r>
            <a:endParaRPr b="0" lang="fr-FR" sz="2200" strike="noStrike" u="none">
              <a:solidFill>
                <a:srgbClr val="ffffff"/>
              </a:solidFill>
              <a:effectLst/>
              <a:uFillTx/>
              <a:latin typeface="Arial"/>
            </a:endParaRPr>
          </a:p>
        </p:txBody>
      </p:sp>
      <p:sp>
        <p:nvSpPr>
          <p:cNvPr id="117" name=""/>
          <p:cNvSpPr/>
          <p:nvPr/>
        </p:nvSpPr>
        <p:spPr>
          <a:xfrm>
            <a:off x="504720" y="2340000"/>
            <a:ext cx="4175280" cy="467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LoRa packet + local RSSI/SNR/FO</a:t>
            </a:r>
            <a:endParaRPr b="0" lang="fr-FR" sz="1800" strike="noStrike" u="none">
              <a:solidFill>
                <a:srgbClr val="ffffff"/>
              </a:solidFill>
              <a:effectLst/>
              <a:uFillTx/>
              <a:latin typeface="Arial"/>
            </a:endParaRPr>
          </a:p>
        </p:txBody>
      </p:sp>
      <p:sp>
        <p:nvSpPr>
          <p:cNvPr id="118" name=""/>
          <p:cNvSpPr/>
          <p:nvPr/>
        </p:nvSpPr>
        <p:spPr>
          <a:xfrm>
            <a:off x="5112000" y="1800000"/>
            <a:ext cx="4607280" cy="126000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19" name=""/>
          <p:cNvSpPr/>
          <p:nvPr/>
        </p:nvSpPr>
        <p:spPr>
          <a:xfrm>
            <a:off x="5348880" y="1808280"/>
            <a:ext cx="4175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RELAY</a:t>
            </a:r>
            <a:endParaRPr b="0" lang="fr-FR" sz="2200" strike="noStrike" u="none">
              <a:solidFill>
                <a:srgbClr val="ffffff"/>
              </a:solidFill>
              <a:effectLst/>
              <a:uFillTx/>
              <a:latin typeface="Arial"/>
            </a:endParaRPr>
          </a:p>
        </p:txBody>
      </p:sp>
      <p:sp>
        <p:nvSpPr>
          <p:cNvPr id="120" name=""/>
          <p:cNvSpPr/>
          <p:nvPr/>
        </p:nvSpPr>
        <p:spPr>
          <a:xfrm>
            <a:off x="5364720" y="2340000"/>
            <a:ext cx="4175280" cy="467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Eligible packets, with RXT on RF</a:t>
            </a:r>
            <a:endParaRPr b="0" lang="fr-FR" sz="1800" strike="noStrike" u="none">
              <a:solidFill>
                <a:srgbClr val="ffffff"/>
              </a:solidFill>
              <a:effectLst/>
              <a:uFillTx/>
              <a:latin typeface="Arial"/>
            </a:endParaRPr>
          </a:p>
        </p:txBody>
      </p:sp>
      <p:sp>
        <p:nvSpPr>
          <p:cNvPr id="121" name=""/>
          <p:cNvSpPr/>
          <p:nvPr/>
        </p:nvSpPr>
        <p:spPr>
          <a:xfrm>
            <a:off x="360000" y="3240000"/>
            <a:ext cx="4607280" cy="144000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22" name=""/>
          <p:cNvSpPr/>
          <p:nvPr/>
        </p:nvSpPr>
        <p:spPr>
          <a:xfrm>
            <a:off x="558000" y="3240000"/>
            <a:ext cx="4175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EXPORT</a:t>
            </a:r>
            <a:endParaRPr b="0" lang="fr-FR" sz="2200" strike="noStrike" u="none">
              <a:solidFill>
                <a:srgbClr val="ffffff"/>
              </a:solidFill>
              <a:effectLst/>
              <a:uFillTx/>
              <a:latin typeface="Arial"/>
            </a:endParaRPr>
          </a:p>
        </p:txBody>
      </p:sp>
      <p:sp>
        <p:nvSpPr>
          <p:cNvPr id="123" name=""/>
          <p:cNvSpPr/>
          <p:nvPr/>
        </p:nvSpPr>
        <p:spPr>
          <a:xfrm>
            <a:off x="540000" y="3780000"/>
            <a:ext cx="4175280" cy="69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Clean packet + structured measurements</a:t>
            </a:r>
            <a:endParaRPr b="0" lang="fr-FR" sz="1800" strike="noStrike" u="none">
              <a:solidFill>
                <a:srgbClr val="ffffff"/>
              </a:solidFill>
              <a:effectLst/>
              <a:uFillTx/>
              <a:latin typeface="Arial"/>
            </a:endParaRPr>
          </a:p>
        </p:txBody>
      </p:sp>
      <p:sp>
        <p:nvSpPr>
          <p:cNvPr id="124" name=""/>
          <p:cNvSpPr/>
          <p:nvPr/>
        </p:nvSpPr>
        <p:spPr>
          <a:xfrm>
            <a:off x="5112720" y="3240000"/>
            <a:ext cx="4607280" cy="144000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25" name=""/>
          <p:cNvSpPr/>
          <p:nvPr/>
        </p:nvSpPr>
        <p:spPr>
          <a:xfrm>
            <a:off x="5310000" y="3240000"/>
            <a:ext cx="4175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CONNECT</a:t>
            </a:r>
            <a:endParaRPr b="0" lang="fr-FR" sz="2200" strike="noStrike" u="none">
              <a:solidFill>
                <a:srgbClr val="ffffff"/>
              </a:solidFill>
              <a:effectLst/>
              <a:uFillTx/>
              <a:latin typeface="Arial"/>
            </a:endParaRPr>
          </a:p>
        </p:txBody>
      </p:sp>
      <p:sp>
        <p:nvSpPr>
          <p:cNvPr id="126" name=""/>
          <p:cNvSpPr/>
          <p:nvPr/>
        </p:nvSpPr>
        <p:spPr>
          <a:xfrm>
            <a:off x="5310000" y="3780000"/>
            <a:ext cx="4175280" cy="467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Native TNC2 TCP/serial, RX + TX</a:t>
            </a:r>
            <a:endParaRPr b="0" lang="fr-FR"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127"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128"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EXTENDED TNC2 / RXT</a:t>
            </a:r>
            <a:endParaRPr b="0" lang="fr-FR" sz="1200" strike="noStrike" u="none">
              <a:solidFill>
                <a:srgbClr val="ffffff"/>
              </a:solidFill>
              <a:effectLst/>
              <a:uFillTx/>
              <a:latin typeface="Arial"/>
            </a:endParaRPr>
          </a:p>
        </p:txBody>
      </p:sp>
      <p:sp>
        <p:nvSpPr>
          <p:cNvPr id="129"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08</a:t>
            </a:r>
            <a:endParaRPr b="0" lang="fr-FR" sz="1200" strike="noStrike" u="none">
              <a:solidFill>
                <a:srgbClr val="ffffff"/>
              </a:solidFill>
              <a:effectLst/>
              <a:uFillTx/>
              <a:latin typeface="Arial"/>
            </a:endParaRPr>
          </a:p>
        </p:txBody>
      </p:sp>
      <p:sp>
        <p:nvSpPr>
          <p:cNvPr id="130"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RXT follows the real RF path</a:t>
            </a:r>
            <a:endParaRPr b="0" lang="fr-FR" sz="3200" strike="noStrike" u="none">
              <a:solidFill>
                <a:srgbClr val="ffffff"/>
              </a:solidFill>
              <a:effectLst/>
              <a:uFillTx/>
              <a:latin typeface="Arial"/>
            </a:endParaRPr>
          </a:p>
        </p:txBody>
      </p:sp>
      <p:sp>
        <p:nvSpPr>
          <p:cNvPr id="131"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Remote Receiver Telemetry was developed by Jon Adams, N7UV.</a:t>
            </a:r>
            <a:endParaRPr b="0" lang="fr-FR" sz="2000" strike="noStrike" u="none">
              <a:solidFill>
                <a:srgbClr val="ffffff"/>
              </a:solidFill>
              <a:effectLst/>
              <a:uFillTx/>
              <a:latin typeface="Arial"/>
            </a:endParaRPr>
          </a:p>
        </p:txBody>
      </p:sp>
      <p:sp>
        <p:nvSpPr>
          <p:cNvPr id="132"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Sources: CA2RXU iGate docs/RXT.md; LoRa APRS JSON protocol draft §6</a:t>
            </a:r>
            <a:endParaRPr b="0" lang="fr-FR" sz="1000" strike="noStrike" u="none">
              <a:solidFill>
                <a:srgbClr val="ffffff"/>
              </a:solidFill>
              <a:effectLst/>
              <a:uFillTx/>
              <a:latin typeface="Arial"/>
            </a:endParaRPr>
          </a:p>
        </p:txBody>
      </p:sp>
      <p:sp>
        <p:nvSpPr>
          <p:cNvPr id="133" name=""/>
          <p:cNvSpPr/>
          <p:nvPr/>
        </p:nvSpPr>
        <p:spPr>
          <a:xfrm>
            <a:off x="324000" y="1368000"/>
            <a:ext cx="9395280" cy="115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34" name=""/>
          <p:cNvSpPr/>
          <p:nvPr/>
        </p:nvSpPr>
        <p:spPr>
          <a:xfrm>
            <a:off x="540000" y="1620000"/>
            <a:ext cx="8927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400" strike="noStrike" u="none">
                <a:solidFill>
                  <a:srgbClr val="f5f8fc"/>
                </a:solidFill>
                <a:effectLst/>
                <a:uFillTx/>
                <a:latin typeface="DejaVu Sans"/>
                <a:ea typeface="DejaVu Sans"/>
              </a:rPr>
              <a:t>CAVECR → SOMTNX → TSRXBX</a:t>
            </a:r>
            <a:endParaRPr b="0" lang="fr-FR" sz="3400" strike="noStrike" u="none">
              <a:solidFill>
                <a:srgbClr val="ffffff"/>
              </a:solidFill>
              <a:effectLst/>
              <a:uFillTx/>
              <a:latin typeface="Arial"/>
            </a:endParaRPr>
          </a:p>
        </p:txBody>
      </p:sp>
      <p:sp>
        <p:nvSpPr>
          <p:cNvPr id="135" name=""/>
          <p:cNvSpPr/>
          <p:nvPr/>
        </p:nvSpPr>
        <p:spPr>
          <a:xfrm>
            <a:off x="468000" y="2880000"/>
            <a:ext cx="8963280" cy="1079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Jon’s example at SOMTNX: −71 dBm • ≥ 12 dB • +241 Hz • 594 ms.</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The digi forwarded the packet to TSRXBX without Internet at the relay.</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136"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137"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EXTENDED TNC2 / RXT</a:t>
            </a:r>
            <a:endParaRPr b="0" lang="fr-FR" sz="1200" strike="noStrike" u="none">
              <a:solidFill>
                <a:srgbClr val="ffffff"/>
              </a:solidFill>
              <a:effectLst/>
              <a:uFillTx/>
              <a:latin typeface="Arial"/>
            </a:endParaRPr>
          </a:p>
        </p:txBody>
      </p:sp>
      <p:sp>
        <p:nvSpPr>
          <p:cNvPr id="138"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09</a:t>
            </a:r>
            <a:endParaRPr b="0" lang="fr-FR" sz="1200" strike="noStrike" u="none">
              <a:solidFill>
                <a:srgbClr val="ffffff"/>
              </a:solidFill>
              <a:effectLst/>
              <a:uFillTx/>
              <a:latin typeface="Arial"/>
            </a:endParaRPr>
          </a:p>
        </p:txBody>
      </p:sp>
      <p:sp>
        <p:nvSpPr>
          <p:cNvPr id="139"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Four numbers, four questions</a:t>
            </a:r>
            <a:endParaRPr b="0" lang="fr-FR" sz="3200" strike="noStrike" u="none">
              <a:solidFill>
                <a:srgbClr val="ffffff"/>
              </a:solidFill>
              <a:effectLst/>
              <a:uFillTx/>
              <a:latin typeface="Arial"/>
            </a:endParaRPr>
          </a:p>
        </p:txBody>
      </p:sp>
      <p:sp>
        <p:nvSpPr>
          <p:cNvPr id="140"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What happened at this relay?</a:t>
            </a:r>
            <a:endParaRPr b="0" lang="fr-FR" sz="2000" strike="noStrike" u="none">
              <a:solidFill>
                <a:srgbClr val="ffffff"/>
              </a:solidFill>
              <a:effectLst/>
              <a:uFillTx/>
              <a:latin typeface="Arial"/>
            </a:endParaRPr>
          </a:p>
        </p:txBody>
      </p:sp>
      <p:sp>
        <p:nvSpPr>
          <p:cNvPr id="141"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Source: CA2RXU iGate docs/RXT.md §RF format</a:t>
            </a:r>
            <a:endParaRPr b="0" lang="fr-FR" sz="1000" strike="noStrike" u="none">
              <a:solidFill>
                <a:srgbClr val="ffffff"/>
              </a:solidFill>
              <a:effectLst/>
              <a:uFillTx/>
              <a:latin typeface="Arial"/>
            </a:endParaRPr>
          </a:p>
        </p:txBody>
      </p:sp>
      <p:sp>
        <p:nvSpPr>
          <p:cNvPr id="142" name=""/>
          <p:cNvSpPr/>
          <p:nvPr/>
        </p:nvSpPr>
        <p:spPr>
          <a:xfrm>
            <a:off x="360000" y="1368000"/>
            <a:ext cx="4607280" cy="125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43" name=""/>
          <p:cNvSpPr/>
          <p:nvPr/>
        </p:nvSpPr>
        <p:spPr>
          <a:xfrm>
            <a:off x="522000" y="1519200"/>
            <a:ext cx="1169280" cy="4975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400" strike="noStrike" u="none">
                <a:solidFill>
                  <a:srgbClr val="ffd18a"/>
                </a:solidFill>
                <a:effectLst/>
                <a:uFillTx/>
                <a:latin typeface="DejaVu Sans"/>
                <a:ea typeface="DejaVu Sans"/>
              </a:rPr>
              <a:t>RSSI</a:t>
            </a:r>
            <a:endParaRPr b="0" lang="fr-FR" sz="2400" strike="noStrike" u="none">
              <a:solidFill>
                <a:srgbClr val="ffffff"/>
              </a:solidFill>
              <a:effectLst/>
              <a:uFillTx/>
              <a:latin typeface="Arial"/>
            </a:endParaRPr>
          </a:p>
        </p:txBody>
      </p:sp>
      <p:sp>
        <p:nvSpPr>
          <p:cNvPr id="144" name=""/>
          <p:cNvSpPr/>
          <p:nvPr/>
        </p:nvSpPr>
        <p:spPr>
          <a:xfrm>
            <a:off x="1728000" y="1519200"/>
            <a:ext cx="293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Signal level</a:t>
            </a:r>
            <a:endParaRPr b="0" lang="fr-FR" sz="2200" strike="noStrike" u="none">
              <a:solidFill>
                <a:srgbClr val="ffffff"/>
              </a:solidFill>
              <a:effectLst/>
              <a:uFillTx/>
              <a:latin typeface="Arial"/>
            </a:endParaRPr>
          </a:p>
        </p:txBody>
      </p:sp>
      <p:sp>
        <p:nvSpPr>
          <p:cNvPr id="145" name=""/>
          <p:cNvSpPr/>
          <p:nvPr/>
        </p:nvSpPr>
        <p:spPr>
          <a:xfrm>
            <a:off x="1728000" y="1926000"/>
            <a:ext cx="2933280" cy="69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How strongly was it heard?</a:t>
            </a:r>
            <a:endParaRPr b="0" lang="fr-FR" sz="1800" strike="noStrike" u="none">
              <a:solidFill>
                <a:srgbClr val="ffffff"/>
              </a:solidFill>
              <a:effectLst/>
              <a:uFillTx/>
              <a:latin typeface="Arial"/>
            </a:endParaRPr>
          </a:p>
        </p:txBody>
      </p:sp>
      <p:sp>
        <p:nvSpPr>
          <p:cNvPr id="146" name=""/>
          <p:cNvSpPr/>
          <p:nvPr/>
        </p:nvSpPr>
        <p:spPr>
          <a:xfrm>
            <a:off x="5112000" y="1368000"/>
            <a:ext cx="4607280" cy="125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47" name=""/>
          <p:cNvSpPr/>
          <p:nvPr/>
        </p:nvSpPr>
        <p:spPr>
          <a:xfrm>
            <a:off x="5274000" y="1519200"/>
            <a:ext cx="1169280" cy="4975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400" strike="noStrike" u="none">
                <a:solidFill>
                  <a:srgbClr val="ffd18a"/>
                </a:solidFill>
                <a:effectLst/>
                <a:uFillTx/>
                <a:latin typeface="DejaVu Sans"/>
                <a:ea typeface="DejaVu Sans"/>
              </a:rPr>
              <a:t>SNR</a:t>
            </a:r>
            <a:endParaRPr b="0" lang="fr-FR" sz="2400" strike="noStrike" u="none">
              <a:solidFill>
                <a:srgbClr val="ffffff"/>
              </a:solidFill>
              <a:effectLst/>
              <a:uFillTx/>
              <a:latin typeface="Arial"/>
            </a:endParaRPr>
          </a:p>
        </p:txBody>
      </p:sp>
      <p:sp>
        <p:nvSpPr>
          <p:cNvPr id="148" name=""/>
          <p:cNvSpPr/>
          <p:nvPr/>
        </p:nvSpPr>
        <p:spPr>
          <a:xfrm>
            <a:off x="6480000" y="1519200"/>
            <a:ext cx="293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Signal / noise</a:t>
            </a:r>
            <a:endParaRPr b="0" lang="fr-FR" sz="2200" strike="noStrike" u="none">
              <a:solidFill>
                <a:srgbClr val="ffffff"/>
              </a:solidFill>
              <a:effectLst/>
              <a:uFillTx/>
              <a:latin typeface="Arial"/>
            </a:endParaRPr>
          </a:p>
        </p:txBody>
      </p:sp>
      <p:sp>
        <p:nvSpPr>
          <p:cNvPr id="149" name=""/>
          <p:cNvSpPr/>
          <p:nvPr/>
        </p:nvSpPr>
        <p:spPr>
          <a:xfrm>
            <a:off x="6480000" y="1926000"/>
            <a:ext cx="2933280" cy="467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How clear was it?</a:t>
            </a:r>
            <a:endParaRPr b="0" lang="fr-FR" sz="1800" strike="noStrike" u="none">
              <a:solidFill>
                <a:srgbClr val="ffffff"/>
              </a:solidFill>
              <a:effectLst/>
              <a:uFillTx/>
              <a:latin typeface="Arial"/>
            </a:endParaRPr>
          </a:p>
        </p:txBody>
      </p:sp>
      <p:sp>
        <p:nvSpPr>
          <p:cNvPr id="150" name=""/>
          <p:cNvSpPr/>
          <p:nvPr/>
        </p:nvSpPr>
        <p:spPr>
          <a:xfrm>
            <a:off x="360000" y="2880000"/>
            <a:ext cx="4607280" cy="125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51" name=""/>
          <p:cNvSpPr/>
          <p:nvPr/>
        </p:nvSpPr>
        <p:spPr>
          <a:xfrm>
            <a:off x="522000" y="3031200"/>
            <a:ext cx="1169280" cy="4975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400" strike="noStrike" u="none">
                <a:solidFill>
                  <a:srgbClr val="ffd18a"/>
                </a:solidFill>
                <a:effectLst/>
                <a:uFillTx/>
                <a:latin typeface="DejaVu Sans"/>
                <a:ea typeface="DejaVu Sans"/>
              </a:rPr>
              <a:t>FO</a:t>
            </a:r>
            <a:endParaRPr b="0" lang="fr-FR" sz="2400" strike="noStrike" u="none">
              <a:solidFill>
                <a:srgbClr val="ffffff"/>
              </a:solidFill>
              <a:effectLst/>
              <a:uFillTx/>
              <a:latin typeface="Arial"/>
            </a:endParaRPr>
          </a:p>
        </p:txBody>
      </p:sp>
      <p:sp>
        <p:nvSpPr>
          <p:cNvPr id="152" name=""/>
          <p:cNvSpPr/>
          <p:nvPr/>
        </p:nvSpPr>
        <p:spPr>
          <a:xfrm>
            <a:off x="1728000" y="3031200"/>
            <a:ext cx="293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Frequency offset</a:t>
            </a:r>
            <a:endParaRPr b="0" lang="fr-FR" sz="2200" strike="noStrike" u="none">
              <a:solidFill>
                <a:srgbClr val="ffffff"/>
              </a:solidFill>
              <a:effectLst/>
              <a:uFillTx/>
              <a:latin typeface="Arial"/>
            </a:endParaRPr>
          </a:p>
        </p:txBody>
      </p:sp>
      <p:sp>
        <p:nvSpPr>
          <p:cNvPr id="153" name=""/>
          <p:cNvSpPr/>
          <p:nvPr/>
        </p:nvSpPr>
        <p:spPr>
          <a:xfrm>
            <a:off x="1728000" y="3438000"/>
            <a:ext cx="2933280" cy="721080"/>
          </a:xfrm>
          <a:prstGeom prst="rect">
            <a:avLst/>
          </a:prstGeom>
          <a:noFill/>
          <a:ln w="0">
            <a:no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0" lang="fr-FR" sz="1800" strike="noStrike" u="none">
                <a:solidFill>
                  <a:srgbClr val="f5f8fc"/>
                </a:solidFill>
                <a:effectLst/>
                <a:uFillTx/>
                <a:latin typeface="DejaVu Sans"/>
                <a:ea typeface="DejaVu Sans"/>
              </a:rPr>
              <a:t>What frequency offset was measured?</a:t>
            </a:r>
            <a:endParaRPr b="0" lang="fr-FR" sz="1800" strike="noStrike" u="none">
              <a:solidFill>
                <a:srgbClr val="ffffff"/>
              </a:solidFill>
              <a:effectLst/>
              <a:uFillTx/>
              <a:latin typeface="Arial"/>
            </a:endParaRPr>
          </a:p>
        </p:txBody>
      </p:sp>
      <p:sp>
        <p:nvSpPr>
          <p:cNvPr id="154" name=""/>
          <p:cNvSpPr/>
          <p:nvPr/>
        </p:nvSpPr>
        <p:spPr>
          <a:xfrm>
            <a:off x="5112000" y="2880000"/>
            <a:ext cx="4607280" cy="125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55" name=""/>
          <p:cNvSpPr/>
          <p:nvPr/>
        </p:nvSpPr>
        <p:spPr>
          <a:xfrm>
            <a:off x="5274000" y="3031200"/>
            <a:ext cx="1169280" cy="4975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400" strike="noStrike" u="none">
                <a:solidFill>
                  <a:srgbClr val="ffd18a"/>
                </a:solidFill>
                <a:effectLst/>
                <a:uFillTx/>
                <a:latin typeface="DejaVu Sans"/>
                <a:ea typeface="DejaVu Sans"/>
              </a:rPr>
              <a:t>TTH</a:t>
            </a:r>
            <a:endParaRPr b="0" lang="fr-FR" sz="2400" strike="noStrike" u="none">
              <a:solidFill>
                <a:srgbClr val="ffffff"/>
              </a:solidFill>
              <a:effectLst/>
              <a:uFillTx/>
              <a:latin typeface="Arial"/>
            </a:endParaRPr>
          </a:p>
        </p:txBody>
      </p:sp>
      <p:sp>
        <p:nvSpPr>
          <p:cNvPr id="156" name=""/>
          <p:cNvSpPr/>
          <p:nvPr/>
        </p:nvSpPr>
        <p:spPr>
          <a:xfrm>
            <a:off x="6480000" y="3031200"/>
            <a:ext cx="293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Time to hop</a:t>
            </a:r>
            <a:endParaRPr b="0" lang="fr-FR" sz="2200" strike="noStrike" u="none">
              <a:solidFill>
                <a:srgbClr val="ffffff"/>
              </a:solidFill>
              <a:effectLst/>
              <a:uFillTx/>
              <a:latin typeface="Arial"/>
            </a:endParaRPr>
          </a:p>
        </p:txBody>
      </p:sp>
      <p:sp>
        <p:nvSpPr>
          <p:cNvPr id="157" name=""/>
          <p:cNvSpPr/>
          <p:nvPr/>
        </p:nvSpPr>
        <p:spPr>
          <a:xfrm>
            <a:off x="6480000" y="3438000"/>
            <a:ext cx="2933280" cy="69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How long until the relay finished?</a:t>
            </a:r>
            <a:endParaRPr b="0" lang="fr-FR"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158"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159"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EXTENDED TNC2 / RXT</a:t>
            </a:r>
            <a:endParaRPr b="0" lang="fr-FR" sz="1200" strike="noStrike" u="none">
              <a:solidFill>
                <a:srgbClr val="ffffff"/>
              </a:solidFill>
              <a:effectLst/>
              <a:uFillTx/>
              <a:latin typeface="Arial"/>
            </a:endParaRPr>
          </a:p>
        </p:txBody>
      </p:sp>
      <p:sp>
        <p:nvSpPr>
          <p:cNvPr id="160"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10</a:t>
            </a:r>
            <a:endParaRPr b="0" lang="fr-FR" sz="1200" strike="noStrike" u="none">
              <a:solidFill>
                <a:srgbClr val="ffffff"/>
              </a:solidFill>
              <a:effectLst/>
              <a:uFillTx/>
              <a:latin typeface="Arial"/>
            </a:endParaRPr>
          </a:p>
        </p:txBody>
      </p:sp>
      <p:sp>
        <p:nvSpPr>
          <p:cNvPr id="161"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RXT makes the route visible</a:t>
            </a:r>
            <a:endParaRPr b="0" lang="fr-FR" sz="3200" strike="noStrike" u="none">
              <a:solidFill>
                <a:srgbClr val="ffffff"/>
              </a:solidFill>
              <a:effectLst/>
              <a:uFillTx/>
              <a:latin typeface="Arial"/>
            </a:endParaRPr>
          </a:p>
        </p:txBody>
      </p:sp>
      <p:sp>
        <p:nvSpPr>
          <p:cNvPr id="162"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A schematic of Jon’s RF-only relay example.</a:t>
            </a:r>
            <a:endParaRPr b="0" lang="fr-FR" sz="2000" strike="noStrike" u="none">
              <a:solidFill>
                <a:srgbClr val="ffffff"/>
              </a:solidFill>
              <a:effectLst/>
              <a:uFillTx/>
              <a:latin typeface="Arial"/>
            </a:endParaRPr>
          </a:p>
        </p:txBody>
      </p:sp>
      <p:sp>
        <p:nvSpPr>
          <p:cNvPr id="163"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Schematic based on Jon Adams (N7UV) field notes; node positions are illustrative</a:t>
            </a:r>
            <a:endParaRPr b="0" lang="fr-FR" sz="1000" strike="noStrike" u="none">
              <a:solidFill>
                <a:srgbClr val="ffffff"/>
              </a:solidFill>
              <a:effectLst/>
              <a:uFillTx/>
              <a:latin typeface="Arial"/>
            </a:endParaRPr>
          </a:p>
        </p:txBody>
      </p:sp>
      <p:sp>
        <p:nvSpPr>
          <p:cNvPr id="164" name=""/>
          <p:cNvSpPr/>
          <p:nvPr/>
        </p:nvSpPr>
        <p:spPr>
          <a:xfrm>
            <a:off x="360000" y="1584000"/>
            <a:ext cx="2879280" cy="1583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65" name=""/>
          <p:cNvSpPr/>
          <p:nvPr/>
        </p:nvSpPr>
        <p:spPr>
          <a:xfrm>
            <a:off x="558000" y="1872000"/>
            <a:ext cx="248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CAVECR</a:t>
            </a:r>
            <a:endParaRPr b="0" lang="fr-FR" sz="2200" strike="noStrike" u="none">
              <a:solidFill>
                <a:srgbClr val="ffffff"/>
              </a:solidFill>
              <a:effectLst/>
              <a:uFillTx/>
              <a:latin typeface="Arial"/>
            </a:endParaRPr>
          </a:p>
        </p:txBody>
      </p:sp>
      <p:sp>
        <p:nvSpPr>
          <p:cNvPr id="166" name=""/>
          <p:cNvSpPr/>
          <p:nvPr/>
        </p:nvSpPr>
        <p:spPr>
          <a:xfrm>
            <a:off x="558000" y="2358000"/>
            <a:ext cx="2483280" cy="3945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originating station</a:t>
            </a:r>
            <a:endParaRPr b="0" lang="fr-FR" sz="1800" strike="noStrike" u="none">
              <a:solidFill>
                <a:srgbClr val="ffffff"/>
              </a:solidFill>
              <a:effectLst/>
              <a:uFillTx/>
              <a:latin typeface="Arial"/>
            </a:endParaRPr>
          </a:p>
        </p:txBody>
      </p:sp>
      <p:sp>
        <p:nvSpPr>
          <p:cNvPr id="167" name=""/>
          <p:cNvSpPr/>
          <p:nvPr/>
        </p:nvSpPr>
        <p:spPr>
          <a:xfrm>
            <a:off x="3600000" y="1584000"/>
            <a:ext cx="2879280" cy="1583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68" name=""/>
          <p:cNvSpPr/>
          <p:nvPr/>
        </p:nvSpPr>
        <p:spPr>
          <a:xfrm>
            <a:off x="3798000" y="1872000"/>
            <a:ext cx="248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SOMTNX</a:t>
            </a:r>
            <a:endParaRPr b="0" lang="fr-FR" sz="2200" strike="noStrike" u="none">
              <a:solidFill>
                <a:srgbClr val="ffffff"/>
              </a:solidFill>
              <a:effectLst/>
              <a:uFillTx/>
              <a:latin typeface="Arial"/>
            </a:endParaRPr>
          </a:p>
        </p:txBody>
      </p:sp>
      <p:sp>
        <p:nvSpPr>
          <p:cNvPr id="169" name=""/>
          <p:cNvSpPr/>
          <p:nvPr/>
        </p:nvSpPr>
        <p:spPr>
          <a:xfrm>
            <a:off x="3798000" y="2358000"/>
            <a:ext cx="2483280" cy="3945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RF-only digipeater</a:t>
            </a:r>
            <a:endParaRPr b="0" lang="fr-FR" sz="1800" strike="noStrike" u="none">
              <a:solidFill>
                <a:srgbClr val="ffffff"/>
              </a:solidFill>
              <a:effectLst/>
              <a:uFillTx/>
              <a:latin typeface="Arial"/>
            </a:endParaRPr>
          </a:p>
        </p:txBody>
      </p:sp>
      <p:sp>
        <p:nvSpPr>
          <p:cNvPr id="170" name=""/>
          <p:cNvSpPr/>
          <p:nvPr/>
        </p:nvSpPr>
        <p:spPr>
          <a:xfrm>
            <a:off x="6840000" y="1584000"/>
            <a:ext cx="2879280" cy="1583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71" name=""/>
          <p:cNvSpPr/>
          <p:nvPr/>
        </p:nvSpPr>
        <p:spPr>
          <a:xfrm>
            <a:off x="7038000" y="1872000"/>
            <a:ext cx="248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TSRXBX</a:t>
            </a:r>
            <a:endParaRPr b="0" lang="fr-FR" sz="2200" strike="noStrike" u="none">
              <a:solidFill>
                <a:srgbClr val="ffffff"/>
              </a:solidFill>
              <a:effectLst/>
              <a:uFillTx/>
              <a:latin typeface="Arial"/>
            </a:endParaRPr>
          </a:p>
        </p:txBody>
      </p:sp>
      <p:sp>
        <p:nvSpPr>
          <p:cNvPr id="172" name=""/>
          <p:cNvSpPr/>
          <p:nvPr/>
        </p:nvSpPr>
        <p:spPr>
          <a:xfrm>
            <a:off x="7038000" y="2358000"/>
            <a:ext cx="2483280" cy="3945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receiving station</a:t>
            </a:r>
            <a:endParaRPr b="0" lang="fr-FR" sz="1800" strike="noStrike" u="none">
              <a:solidFill>
                <a:srgbClr val="ffffff"/>
              </a:solidFill>
              <a:effectLst/>
              <a:uFillTx/>
              <a:latin typeface="Arial"/>
            </a:endParaRPr>
          </a:p>
        </p:txBody>
      </p:sp>
      <p:sp>
        <p:nvSpPr>
          <p:cNvPr id="173" name=""/>
          <p:cNvSpPr/>
          <p:nvPr/>
        </p:nvSpPr>
        <p:spPr>
          <a:xfrm>
            <a:off x="3006000" y="1980000"/>
            <a:ext cx="395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a:t>
            </a:r>
            <a:endParaRPr b="0" lang="fr-FR" sz="2800" strike="noStrike" u="none">
              <a:solidFill>
                <a:srgbClr val="ffffff"/>
              </a:solidFill>
              <a:effectLst/>
              <a:uFillTx/>
              <a:latin typeface="Arial"/>
            </a:endParaRPr>
          </a:p>
        </p:txBody>
      </p:sp>
      <p:sp>
        <p:nvSpPr>
          <p:cNvPr id="174" name=""/>
          <p:cNvSpPr/>
          <p:nvPr/>
        </p:nvSpPr>
        <p:spPr>
          <a:xfrm>
            <a:off x="6246000" y="1980000"/>
            <a:ext cx="395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a:t>
            </a:r>
            <a:endParaRPr b="0" lang="fr-FR" sz="2800" strike="noStrike" u="none">
              <a:solidFill>
                <a:srgbClr val="ffffff"/>
              </a:solidFill>
              <a:effectLst/>
              <a:uFillTx/>
              <a:latin typeface="Arial"/>
            </a:endParaRPr>
          </a:p>
        </p:txBody>
      </p:sp>
      <p:sp>
        <p:nvSpPr>
          <p:cNvPr id="175" name=""/>
          <p:cNvSpPr/>
          <p:nvPr/>
        </p:nvSpPr>
        <p:spPr>
          <a:xfrm>
            <a:off x="720000" y="3600000"/>
            <a:ext cx="8639280" cy="863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76" name=""/>
          <p:cNvSpPr/>
          <p:nvPr/>
        </p:nvSpPr>
        <p:spPr>
          <a:xfrm>
            <a:off x="900000" y="3798000"/>
            <a:ext cx="8279280" cy="445320"/>
          </a:xfrm>
          <a:prstGeom prst="rect">
            <a:avLst/>
          </a:prstGeom>
          <a:noFill/>
          <a:ln w="0">
            <a:noFill/>
          </a:ln>
        </p:spPr>
        <p:style>
          <a:lnRef idx="0"/>
          <a:fillRef idx="0"/>
          <a:effectRef idx="0"/>
          <a:fontRef idx="minor"/>
        </p:style>
        <p:txBody>
          <a:bodyPr lIns="90000" rIns="90000" tIns="45000" bIns="45000" anchor="t">
            <a:spAutoFit/>
          </a:bodyPr>
          <a:p>
            <a:pPr algn="ctr">
              <a:lnSpc>
                <a:spcPct val="115000"/>
              </a:lnSpc>
              <a:spcAft>
                <a:spcPts val="283"/>
              </a:spcAft>
            </a:pPr>
            <a:r>
              <a:rPr b="1" lang="fr-FR" sz="2100" strike="noStrike" u="none">
                <a:solidFill>
                  <a:srgbClr val="f5f8fc"/>
                </a:solidFill>
                <a:effectLst/>
                <a:uFillTx/>
                <a:latin typeface="DejaVu Sans"/>
                <a:ea typeface="DejaVu Sans"/>
              </a:rPr>
              <a:t>RXT shows how each relay received the packet.</a:t>
            </a:r>
            <a:endParaRPr b="0" lang="fr-FR" sz="2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177"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178"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EXTENDED TNC2 / RXT</a:t>
            </a:r>
            <a:endParaRPr b="0" lang="fr-FR" sz="1200" strike="noStrike" u="none">
              <a:solidFill>
                <a:srgbClr val="ffffff"/>
              </a:solidFill>
              <a:effectLst/>
              <a:uFillTx/>
              <a:latin typeface="Arial"/>
            </a:endParaRPr>
          </a:p>
        </p:txBody>
      </p:sp>
      <p:sp>
        <p:nvSpPr>
          <p:cNvPr id="179"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11</a:t>
            </a:r>
            <a:endParaRPr b="0" lang="fr-FR" sz="1200" strike="noStrike" u="none">
              <a:solidFill>
                <a:srgbClr val="ffffff"/>
              </a:solidFill>
              <a:effectLst/>
              <a:uFillTx/>
              <a:latin typeface="Arial"/>
            </a:endParaRPr>
          </a:p>
        </p:txBody>
      </p:sp>
      <p:sp>
        <p:nvSpPr>
          <p:cNvPr id="180"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Read one measured hop</a:t>
            </a:r>
            <a:endParaRPr b="0" lang="fr-FR" sz="3200" strike="noStrike" u="none">
              <a:solidFill>
                <a:srgbClr val="ffffff"/>
              </a:solidFill>
              <a:effectLst/>
              <a:uFillTx/>
              <a:latin typeface="Arial"/>
            </a:endParaRPr>
          </a:p>
        </p:txBody>
      </p:sp>
      <p:sp>
        <p:nvSpPr>
          <p:cNvPr id="181"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The numbers come from Jon’s CAVECR → SOMTNX example.</a:t>
            </a:r>
            <a:endParaRPr b="0" lang="fr-FR" sz="2000" strike="noStrike" u="none">
              <a:solidFill>
                <a:srgbClr val="ffffff"/>
              </a:solidFill>
              <a:effectLst/>
              <a:uFillTx/>
              <a:latin typeface="Arial"/>
            </a:endParaRPr>
          </a:p>
        </p:txBody>
      </p:sp>
      <p:sp>
        <p:nvSpPr>
          <p:cNvPr id="182"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Source: Jon Adams (N7UV), field notes supplied for this review; values are one observed packet</a:t>
            </a:r>
            <a:endParaRPr b="0" lang="fr-FR" sz="1000" strike="noStrike" u="none">
              <a:solidFill>
                <a:srgbClr val="ffffff"/>
              </a:solidFill>
              <a:effectLst/>
              <a:uFillTx/>
              <a:latin typeface="Arial"/>
            </a:endParaRPr>
          </a:p>
        </p:txBody>
      </p:sp>
      <p:sp>
        <p:nvSpPr>
          <p:cNvPr id="183" name=""/>
          <p:cNvSpPr/>
          <p:nvPr/>
        </p:nvSpPr>
        <p:spPr>
          <a:xfrm>
            <a:off x="360000" y="1368000"/>
            <a:ext cx="9359280" cy="71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84" name=""/>
          <p:cNvSpPr/>
          <p:nvPr/>
        </p:nvSpPr>
        <p:spPr>
          <a:xfrm>
            <a:off x="576000" y="1530000"/>
            <a:ext cx="8927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000" strike="noStrike" u="none">
                <a:solidFill>
                  <a:srgbClr val="ffd18a"/>
                </a:solidFill>
                <a:effectLst/>
                <a:uFillTx/>
                <a:latin typeface="DejaVu Sans"/>
                <a:ea typeface="DejaVu Sans"/>
              </a:rPr>
              <a:t>CAVECR → SOMTNX</a:t>
            </a:r>
            <a:endParaRPr b="0" lang="fr-FR" sz="2000" strike="noStrike" u="none">
              <a:solidFill>
                <a:srgbClr val="ffffff"/>
              </a:solidFill>
              <a:effectLst/>
              <a:uFillTx/>
              <a:latin typeface="Arial"/>
            </a:endParaRPr>
          </a:p>
        </p:txBody>
      </p:sp>
      <p:sp>
        <p:nvSpPr>
          <p:cNvPr id="185" name=""/>
          <p:cNvSpPr/>
          <p:nvPr/>
        </p:nvSpPr>
        <p:spPr>
          <a:xfrm>
            <a:off x="360000" y="2340000"/>
            <a:ext cx="2159280" cy="1583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86" name=""/>
          <p:cNvSpPr/>
          <p:nvPr/>
        </p:nvSpPr>
        <p:spPr>
          <a:xfrm>
            <a:off x="486000" y="2502000"/>
            <a:ext cx="190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RSSI</a:t>
            </a:r>
            <a:endParaRPr b="0" lang="fr-FR" sz="2200" strike="noStrike" u="none">
              <a:solidFill>
                <a:srgbClr val="ffffff"/>
              </a:solidFill>
              <a:effectLst/>
              <a:uFillTx/>
              <a:latin typeface="Arial"/>
            </a:endParaRPr>
          </a:p>
        </p:txBody>
      </p:sp>
      <p:sp>
        <p:nvSpPr>
          <p:cNvPr id="187" name=""/>
          <p:cNvSpPr/>
          <p:nvPr/>
        </p:nvSpPr>
        <p:spPr>
          <a:xfrm>
            <a:off x="486000" y="2862000"/>
            <a:ext cx="1907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−71</a:t>
            </a:r>
            <a:endParaRPr b="0" lang="fr-FR" sz="2800" strike="noStrike" u="none">
              <a:solidFill>
                <a:srgbClr val="ffffff"/>
              </a:solidFill>
              <a:effectLst/>
              <a:uFillTx/>
              <a:latin typeface="Arial"/>
            </a:endParaRPr>
          </a:p>
        </p:txBody>
      </p:sp>
      <p:sp>
        <p:nvSpPr>
          <p:cNvPr id="188" name=""/>
          <p:cNvSpPr/>
          <p:nvPr/>
        </p:nvSpPr>
        <p:spPr>
          <a:xfrm>
            <a:off x="486000" y="3366000"/>
            <a:ext cx="190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dBm</a:t>
            </a:r>
            <a:endParaRPr b="0" lang="fr-FR" sz="1700" strike="noStrike" u="none">
              <a:solidFill>
                <a:srgbClr val="ffffff"/>
              </a:solidFill>
              <a:effectLst/>
              <a:uFillTx/>
              <a:latin typeface="Arial"/>
            </a:endParaRPr>
          </a:p>
        </p:txBody>
      </p:sp>
      <p:sp>
        <p:nvSpPr>
          <p:cNvPr id="189" name=""/>
          <p:cNvSpPr/>
          <p:nvPr/>
        </p:nvSpPr>
        <p:spPr>
          <a:xfrm>
            <a:off x="2700000" y="2340000"/>
            <a:ext cx="2159280" cy="1583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90" name=""/>
          <p:cNvSpPr/>
          <p:nvPr/>
        </p:nvSpPr>
        <p:spPr>
          <a:xfrm>
            <a:off x="2826000" y="2502000"/>
            <a:ext cx="190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SNR</a:t>
            </a:r>
            <a:endParaRPr b="0" lang="fr-FR" sz="2200" strike="noStrike" u="none">
              <a:solidFill>
                <a:srgbClr val="ffffff"/>
              </a:solidFill>
              <a:effectLst/>
              <a:uFillTx/>
              <a:latin typeface="Arial"/>
            </a:endParaRPr>
          </a:p>
        </p:txBody>
      </p:sp>
      <p:sp>
        <p:nvSpPr>
          <p:cNvPr id="191" name=""/>
          <p:cNvSpPr/>
          <p:nvPr/>
        </p:nvSpPr>
        <p:spPr>
          <a:xfrm>
            <a:off x="2826000" y="2862000"/>
            <a:ext cx="1907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 +12</a:t>
            </a:r>
            <a:endParaRPr b="0" lang="fr-FR" sz="2800" strike="noStrike" u="none">
              <a:solidFill>
                <a:srgbClr val="ffffff"/>
              </a:solidFill>
              <a:effectLst/>
              <a:uFillTx/>
              <a:latin typeface="Arial"/>
            </a:endParaRPr>
          </a:p>
        </p:txBody>
      </p:sp>
      <p:sp>
        <p:nvSpPr>
          <p:cNvPr id="192" name=""/>
          <p:cNvSpPr/>
          <p:nvPr/>
        </p:nvSpPr>
        <p:spPr>
          <a:xfrm>
            <a:off x="2826000" y="3366000"/>
            <a:ext cx="190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dB</a:t>
            </a:r>
            <a:endParaRPr b="0" lang="fr-FR" sz="1700" strike="noStrike" u="none">
              <a:solidFill>
                <a:srgbClr val="ffffff"/>
              </a:solidFill>
              <a:effectLst/>
              <a:uFillTx/>
              <a:latin typeface="Arial"/>
            </a:endParaRPr>
          </a:p>
        </p:txBody>
      </p:sp>
      <p:sp>
        <p:nvSpPr>
          <p:cNvPr id="193" name=""/>
          <p:cNvSpPr/>
          <p:nvPr/>
        </p:nvSpPr>
        <p:spPr>
          <a:xfrm>
            <a:off x="5040000" y="2340000"/>
            <a:ext cx="2159280" cy="1583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94" name=""/>
          <p:cNvSpPr/>
          <p:nvPr/>
        </p:nvSpPr>
        <p:spPr>
          <a:xfrm>
            <a:off x="5166000" y="2502000"/>
            <a:ext cx="190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FO</a:t>
            </a:r>
            <a:endParaRPr b="0" lang="fr-FR" sz="2200" strike="noStrike" u="none">
              <a:solidFill>
                <a:srgbClr val="ffffff"/>
              </a:solidFill>
              <a:effectLst/>
              <a:uFillTx/>
              <a:latin typeface="Arial"/>
            </a:endParaRPr>
          </a:p>
        </p:txBody>
      </p:sp>
      <p:sp>
        <p:nvSpPr>
          <p:cNvPr id="195" name=""/>
          <p:cNvSpPr/>
          <p:nvPr/>
        </p:nvSpPr>
        <p:spPr>
          <a:xfrm>
            <a:off x="5166000" y="2862000"/>
            <a:ext cx="1907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+241</a:t>
            </a:r>
            <a:endParaRPr b="0" lang="fr-FR" sz="2800" strike="noStrike" u="none">
              <a:solidFill>
                <a:srgbClr val="ffffff"/>
              </a:solidFill>
              <a:effectLst/>
              <a:uFillTx/>
              <a:latin typeface="Arial"/>
            </a:endParaRPr>
          </a:p>
        </p:txBody>
      </p:sp>
      <p:sp>
        <p:nvSpPr>
          <p:cNvPr id="196" name=""/>
          <p:cNvSpPr/>
          <p:nvPr/>
        </p:nvSpPr>
        <p:spPr>
          <a:xfrm>
            <a:off x="5166000" y="3366000"/>
            <a:ext cx="190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Hz</a:t>
            </a:r>
            <a:endParaRPr b="0" lang="fr-FR" sz="1700" strike="noStrike" u="none">
              <a:solidFill>
                <a:srgbClr val="ffffff"/>
              </a:solidFill>
              <a:effectLst/>
              <a:uFillTx/>
              <a:latin typeface="Arial"/>
            </a:endParaRPr>
          </a:p>
        </p:txBody>
      </p:sp>
      <p:sp>
        <p:nvSpPr>
          <p:cNvPr id="197" name=""/>
          <p:cNvSpPr/>
          <p:nvPr/>
        </p:nvSpPr>
        <p:spPr>
          <a:xfrm>
            <a:off x="7380000" y="2340000"/>
            <a:ext cx="2339280" cy="1583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198" name=""/>
          <p:cNvSpPr/>
          <p:nvPr/>
        </p:nvSpPr>
        <p:spPr>
          <a:xfrm>
            <a:off x="7506000" y="2502000"/>
            <a:ext cx="208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TTH</a:t>
            </a:r>
            <a:endParaRPr b="0" lang="fr-FR" sz="2200" strike="noStrike" u="none">
              <a:solidFill>
                <a:srgbClr val="ffffff"/>
              </a:solidFill>
              <a:effectLst/>
              <a:uFillTx/>
              <a:latin typeface="Arial"/>
            </a:endParaRPr>
          </a:p>
        </p:txBody>
      </p:sp>
      <p:sp>
        <p:nvSpPr>
          <p:cNvPr id="199" name=""/>
          <p:cNvSpPr/>
          <p:nvPr/>
        </p:nvSpPr>
        <p:spPr>
          <a:xfrm>
            <a:off x="7506000" y="2862000"/>
            <a:ext cx="2087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594</a:t>
            </a:r>
            <a:endParaRPr b="0" lang="fr-FR" sz="2800" strike="noStrike" u="none">
              <a:solidFill>
                <a:srgbClr val="ffffff"/>
              </a:solidFill>
              <a:effectLst/>
              <a:uFillTx/>
              <a:latin typeface="Arial"/>
            </a:endParaRPr>
          </a:p>
        </p:txBody>
      </p:sp>
      <p:sp>
        <p:nvSpPr>
          <p:cNvPr id="200" name=""/>
          <p:cNvSpPr/>
          <p:nvPr/>
        </p:nvSpPr>
        <p:spPr>
          <a:xfrm>
            <a:off x="7506000" y="3366000"/>
            <a:ext cx="2087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ms</a:t>
            </a:r>
            <a:endParaRPr b="0" lang="fr-FR" sz="1700" strike="noStrike" u="none">
              <a:solidFill>
                <a:srgbClr val="ffffff"/>
              </a:solidFill>
              <a:effectLst/>
              <a:uFillTx/>
              <a:latin typeface="Arial"/>
            </a:endParaRPr>
          </a:p>
        </p:txBody>
      </p:sp>
      <p:sp>
        <p:nvSpPr>
          <p:cNvPr id="201" name=""/>
          <p:cNvSpPr/>
          <p:nvPr/>
        </p:nvSpPr>
        <p:spPr>
          <a:xfrm>
            <a:off x="432000" y="4212000"/>
            <a:ext cx="9071280" cy="359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0" lang="fr-FR" sz="1500" strike="noStrike" u="none">
                <a:solidFill>
                  <a:srgbClr val="b8c9d5"/>
                </a:solidFill>
                <a:effectLst/>
                <a:uFillTx/>
                <a:latin typeface="DejaVu Sans"/>
                <a:ea typeface="DejaVu Sans"/>
              </a:rPr>
              <a:t>One packet, one relay, four measured values.</a:t>
            </a:r>
            <a:endParaRPr b="0" lang="fr-FR" sz="15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202"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03"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EXTENDED TNC2 / RXT</a:t>
            </a:r>
            <a:endParaRPr b="0" lang="fr-FR" sz="1200" strike="noStrike" u="none">
              <a:solidFill>
                <a:srgbClr val="ffffff"/>
              </a:solidFill>
              <a:effectLst/>
              <a:uFillTx/>
              <a:latin typeface="Arial"/>
            </a:endParaRPr>
          </a:p>
        </p:txBody>
      </p:sp>
      <p:sp>
        <p:nvSpPr>
          <p:cNvPr id="204"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12</a:t>
            </a:r>
            <a:endParaRPr b="0" lang="fr-FR" sz="1200" strike="noStrike" u="none">
              <a:solidFill>
                <a:srgbClr val="ffffff"/>
              </a:solidFill>
              <a:effectLst/>
              <a:uFillTx/>
              <a:latin typeface="Arial"/>
            </a:endParaRPr>
          </a:p>
        </p:txBody>
      </p:sp>
      <p:sp>
        <p:nvSpPr>
          <p:cNvPr id="205"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RXT and APRS telemetry</a:t>
            </a:r>
            <a:endParaRPr b="0" lang="fr-FR" sz="3200" strike="noStrike" u="none">
              <a:solidFill>
                <a:srgbClr val="ffffff"/>
              </a:solidFill>
              <a:effectLst/>
              <a:uFillTx/>
              <a:latin typeface="Arial"/>
            </a:endParaRPr>
          </a:p>
        </p:txBody>
      </p:sp>
      <p:sp>
        <p:nvSpPr>
          <p:cNvPr id="206"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Two useful answers to different operator questions.</a:t>
            </a:r>
            <a:endParaRPr b="0" lang="fr-FR" sz="2000" strike="noStrike" u="none">
              <a:solidFill>
                <a:srgbClr val="ffffff"/>
              </a:solidFill>
              <a:effectLst/>
              <a:uFillTx/>
              <a:latin typeface="Arial"/>
            </a:endParaRPr>
          </a:p>
        </p:txBody>
      </p:sp>
      <p:sp>
        <p:nvSpPr>
          <p:cNvPr id="207"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Sources: CA2RXU iGate docs/RXT.md §§RF format, APRS telemetry activity rates</a:t>
            </a:r>
            <a:endParaRPr b="0" lang="fr-FR" sz="1000" strike="noStrike" u="none">
              <a:solidFill>
                <a:srgbClr val="ffffff"/>
              </a:solidFill>
              <a:effectLst/>
              <a:uFillTx/>
              <a:latin typeface="Arial"/>
            </a:endParaRPr>
          </a:p>
        </p:txBody>
      </p:sp>
      <p:sp>
        <p:nvSpPr>
          <p:cNvPr id="208" name=""/>
          <p:cNvSpPr/>
          <p:nvPr/>
        </p:nvSpPr>
        <p:spPr>
          <a:xfrm>
            <a:off x="360000" y="1584360"/>
            <a:ext cx="4571280" cy="2735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09" name=""/>
          <p:cNvSpPr/>
          <p:nvPr/>
        </p:nvSpPr>
        <p:spPr>
          <a:xfrm>
            <a:off x="540360" y="1696680"/>
            <a:ext cx="413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RXT</a:t>
            </a:r>
            <a:endParaRPr b="0" lang="fr-FR" sz="2200" strike="noStrike" u="none">
              <a:solidFill>
                <a:srgbClr val="ffffff"/>
              </a:solidFill>
              <a:effectLst/>
              <a:uFillTx/>
              <a:latin typeface="Arial"/>
            </a:endParaRPr>
          </a:p>
        </p:txBody>
      </p:sp>
      <p:sp>
        <p:nvSpPr>
          <p:cNvPr id="210" name=""/>
          <p:cNvSpPr/>
          <p:nvPr/>
        </p:nvSpPr>
        <p:spPr>
          <a:xfrm>
            <a:off x="540000" y="2340000"/>
            <a:ext cx="4103280" cy="1713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94"/>
              </a:spcAft>
            </a:pPr>
            <a:r>
              <a:rPr b="0" lang="fr-FR" sz="2100" strike="noStrike" u="none">
                <a:solidFill>
                  <a:srgbClr val="f5f8fc"/>
                </a:solidFill>
                <a:effectLst/>
                <a:uFillTx/>
                <a:latin typeface="DejaVu Sans"/>
                <a:ea typeface="DejaVu Sans"/>
              </a:rPr>
              <a:t>One packet, one RF hop</a:t>
            </a:r>
            <a:endParaRPr b="0" lang="fr-FR" sz="2100" strike="noStrike" u="none">
              <a:solidFill>
                <a:srgbClr val="ffffff"/>
              </a:solidFill>
              <a:effectLst/>
              <a:uFillTx/>
              <a:latin typeface="Arial"/>
            </a:endParaRPr>
          </a:p>
          <a:p>
            <a:pPr>
              <a:lnSpc>
                <a:spcPct val="115000"/>
              </a:lnSpc>
              <a:spcAft>
                <a:spcPts val="794"/>
              </a:spcAft>
            </a:pPr>
            <a:r>
              <a:rPr b="0" lang="fr-FR" sz="2100" strike="noStrike" u="none">
                <a:solidFill>
                  <a:srgbClr val="f5f8fc"/>
                </a:solidFill>
                <a:effectLst/>
                <a:uFillTx/>
                <a:latin typeface="DejaVu Sans"/>
                <a:ea typeface="DejaVu Sans"/>
              </a:rPr>
              <a:t>RSSI • SNR • FO • TTH</a:t>
            </a:r>
            <a:endParaRPr b="0" lang="fr-FR" sz="2100" strike="noStrike" u="none">
              <a:solidFill>
                <a:srgbClr val="ffffff"/>
              </a:solidFill>
              <a:effectLst/>
              <a:uFillTx/>
              <a:latin typeface="Arial"/>
            </a:endParaRPr>
          </a:p>
          <a:p>
            <a:pPr>
              <a:lnSpc>
                <a:spcPct val="115000"/>
              </a:lnSpc>
              <a:spcAft>
                <a:spcPts val="794"/>
              </a:spcAft>
            </a:pPr>
            <a:r>
              <a:rPr b="0" lang="fr-FR" sz="2100" strike="noStrike" u="none">
                <a:solidFill>
                  <a:srgbClr val="f5f8fc"/>
                </a:solidFill>
                <a:effectLst/>
                <a:uFillTx/>
                <a:latin typeface="DejaVu Sans"/>
                <a:ea typeface="DejaVu Sans"/>
              </a:rPr>
              <a:t>“How well did the digi hear me?”</a:t>
            </a:r>
            <a:endParaRPr b="0" lang="fr-FR" sz="2100" strike="noStrike" u="none">
              <a:solidFill>
                <a:srgbClr val="ffffff"/>
              </a:solidFill>
              <a:effectLst/>
              <a:uFillTx/>
              <a:latin typeface="Arial"/>
            </a:endParaRPr>
          </a:p>
        </p:txBody>
      </p:sp>
      <p:sp>
        <p:nvSpPr>
          <p:cNvPr id="211" name=""/>
          <p:cNvSpPr/>
          <p:nvPr/>
        </p:nvSpPr>
        <p:spPr>
          <a:xfrm>
            <a:off x="5148360" y="1584360"/>
            <a:ext cx="4571280" cy="2735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12" name=""/>
          <p:cNvSpPr/>
          <p:nvPr/>
        </p:nvSpPr>
        <p:spPr>
          <a:xfrm>
            <a:off x="5364000" y="1696680"/>
            <a:ext cx="413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APRS TELEMETRY</a:t>
            </a:r>
            <a:endParaRPr b="0" lang="fr-FR" sz="2200" strike="noStrike" u="none">
              <a:solidFill>
                <a:srgbClr val="ffffff"/>
              </a:solidFill>
              <a:effectLst/>
              <a:uFillTx/>
              <a:latin typeface="Arial"/>
            </a:endParaRPr>
          </a:p>
        </p:txBody>
      </p:sp>
      <p:sp>
        <p:nvSpPr>
          <p:cNvPr id="213" name=""/>
          <p:cNvSpPr/>
          <p:nvPr/>
        </p:nvSpPr>
        <p:spPr>
          <a:xfrm>
            <a:off x="5400000" y="2245680"/>
            <a:ext cx="4103280" cy="1713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94"/>
              </a:spcAft>
            </a:pPr>
            <a:r>
              <a:rPr b="0" lang="fr-FR" sz="2100" strike="noStrike" u="none">
                <a:solidFill>
                  <a:srgbClr val="f5f8fc"/>
                </a:solidFill>
                <a:effectLst/>
                <a:uFillTx/>
                <a:latin typeface="DejaVu Sans"/>
                <a:ea typeface="DejaVu Sans"/>
              </a:rPr>
              <a:t>Station health and activity</a:t>
            </a:r>
            <a:endParaRPr b="0" lang="fr-FR" sz="2100" strike="noStrike" u="none">
              <a:solidFill>
                <a:srgbClr val="ffffff"/>
              </a:solidFill>
              <a:effectLst/>
              <a:uFillTx/>
              <a:latin typeface="Arial"/>
            </a:endParaRPr>
          </a:p>
          <a:p>
            <a:pPr>
              <a:lnSpc>
                <a:spcPct val="115000"/>
              </a:lnSpc>
              <a:spcAft>
                <a:spcPts val="794"/>
              </a:spcAft>
            </a:pPr>
            <a:r>
              <a:rPr b="0" lang="fr-FR" sz="2100" strike="noStrike" u="none">
                <a:solidFill>
                  <a:srgbClr val="f5f8fc"/>
                </a:solidFill>
                <a:effectLst/>
                <a:uFillTx/>
                <a:latin typeface="DejaVu Sans"/>
                <a:ea typeface="DejaVu Sans"/>
              </a:rPr>
              <a:t>Battery • received • relayed • dropped</a:t>
            </a:r>
            <a:endParaRPr b="0" lang="fr-FR" sz="2100" strike="noStrike" u="none">
              <a:solidFill>
                <a:srgbClr val="ffffff"/>
              </a:solidFill>
              <a:effectLst/>
              <a:uFillTx/>
              <a:latin typeface="Arial"/>
            </a:endParaRPr>
          </a:p>
          <a:p>
            <a:pPr>
              <a:lnSpc>
                <a:spcPct val="115000"/>
              </a:lnSpc>
              <a:spcAft>
                <a:spcPts val="794"/>
              </a:spcAft>
            </a:pPr>
            <a:r>
              <a:rPr b="0" lang="fr-FR" sz="2100" strike="noStrike" u="none">
                <a:solidFill>
                  <a:srgbClr val="f5f8fc"/>
                </a:solidFill>
                <a:effectLst/>
                <a:uFillTx/>
                <a:latin typeface="DejaVu Sans"/>
                <a:ea typeface="DejaVu Sans"/>
              </a:rPr>
              <a:t>“How is the site doing?”</a:t>
            </a:r>
            <a:endParaRPr b="0" lang="fr-FR" sz="2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214"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15"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EXTENDED TNC2 / RXT</a:t>
            </a:r>
            <a:endParaRPr b="0" lang="fr-FR" sz="1200" strike="noStrike" u="none">
              <a:solidFill>
                <a:srgbClr val="ffffff"/>
              </a:solidFill>
              <a:effectLst/>
              <a:uFillTx/>
              <a:latin typeface="Arial"/>
            </a:endParaRPr>
          </a:p>
        </p:txBody>
      </p:sp>
      <p:sp>
        <p:nvSpPr>
          <p:cNvPr id="216"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13</a:t>
            </a:r>
            <a:endParaRPr b="0" lang="fr-FR" sz="1200" strike="noStrike" u="none">
              <a:solidFill>
                <a:srgbClr val="ffffff"/>
              </a:solidFill>
              <a:effectLst/>
              <a:uFillTx/>
              <a:latin typeface="Arial"/>
            </a:endParaRPr>
          </a:p>
        </p:txBody>
      </p:sp>
      <p:sp>
        <p:nvSpPr>
          <p:cNvPr id="217"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Station telemetry in practice</a:t>
            </a:r>
            <a:endParaRPr b="0" lang="fr-FR" sz="3200" strike="noStrike" u="none">
              <a:solidFill>
                <a:srgbClr val="ffffff"/>
              </a:solidFill>
              <a:effectLst/>
              <a:uFillTx/>
              <a:latin typeface="Arial"/>
            </a:endParaRPr>
          </a:p>
        </p:txBody>
      </p:sp>
      <p:sp>
        <p:nvSpPr>
          <p:cNvPr id="218"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The iGate can show named measurements and their units.</a:t>
            </a:r>
            <a:endParaRPr b="0" lang="fr-FR" sz="2000" strike="noStrike" u="none">
              <a:solidFill>
                <a:srgbClr val="ffffff"/>
              </a:solidFill>
              <a:effectLst/>
              <a:uFillTx/>
              <a:latin typeface="Arial"/>
            </a:endParaRPr>
          </a:p>
        </p:txBody>
      </p:sp>
      <p:sp>
        <p:nvSpPr>
          <p:cNvPr id="219"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Visual: CA2RXU iGate APRS Telemetry dashboard, field screenshot, 2026-09-23</a:t>
            </a:r>
            <a:endParaRPr b="0" lang="fr-FR" sz="1000" strike="noStrike" u="none">
              <a:solidFill>
                <a:srgbClr val="ffffff"/>
              </a:solidFill>
              <a:effectLst/>
              <a:uFillTx/>
              <a:latin typeface="Arial"/>
            </a:endParaRPr>
          </a:p>
        </p:txBody>
      </p:sp>
      <p:pic>
        <p:nvPicPr>
          <p:cNvPr id="220" name="" descr=""/>
          <p:cNvPicPr/>
          <p:nvPr/>
        </p:nvPicPr>
        <p:blipFill>
          <a:blip r:embed="rId1"/>
          <a:stretch/>
        </p:blipFill>
        <p:spPr>
          <a:xfrm>
            <a:off x="324000" y="1332000"/>
            <a:ext cx="9395280" cy="3095280"/>
          </a:xfrm>
          <a:prstGeom prst="rect">
            <a:avLst/>
          </a:prstGeom>
          <a:solidFill>
            <a:srgbClr val="193149"/>
          </a:solidFill>
          <a:ln w="7200">
            <a:noFill/>
          </a:ln>
        </p:spPr>
      </p:pic>
      <p:sp>
        <p:nvSpPr>
          <p:cNvPr id="221" name=""/>
          <p:cNvSpPr/>
          <p:nvPr/>
        </p:nvSpPr>
        <p:spPr>
          <a:xfrm>
            <a:off x="432000" y="4554000"/>
            <a:ext cx="9179280" cy="343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0" lang="fr-FR" sz="1500" strike="noStrike" u="none">
                <a:solidFill>
                  <a:srgbClr val="b8c9d5"/>
                </a:solidFill>
                <a:effectLst/>
                <a:uFillTx/>
                <a:latin typeface="DejaVu Sans"/>
                <a:ea typeface="DejaVu Sans"/>
              </a:rPr>
              <a:t>Battery voltage and traffic rates describe the site; RXT describes radio hops.</a:t>
            </a:r>
            <a:endParaRPr b="0" lang="fr-FR" sz="15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222"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23"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EXTENDED TNC2 / RXT</a:t>
            </a:r>
            <a:endParaRPr b="0" lang="fr-FR" sz="1200" strike="noStrike" u="none">
              <a:solidFill>
                <a:srgbClr val="ffffff"/>
              </a:solidFill>
              <a:effectLst/>
              <a:uFillTx/>
              <a:latin typeface="Arial"/>
            </a:endParaRPr>
          </a:p>
        </p:txBody>
      </p:sp>
      <p:sp>
        <p:nvSpPr>
          <p:cNvPr id="224"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14</a:t>
            </a:r>
            <a:endParaRPr b="0" lang="fr-FR" sz="1200" strike="noStrike" u="none">
              <a:solidFill>
                <a:srgbClr val="ffffff"/>
              </a:solidFill>
              <a:effectLst/>
              <a:uFillTx/>
              <a:latin typeface="Arial"/>
            </a:endParaRPr>
          </a:p>
        </p:txBody>
      </p:sp>
      <p:sp>
        <p:nvSpPr>
          <p:cNvPr id="225"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Why add a JSON stream?</a:t>
            </a:r>
            <a:endParaRPr b="0" lang="fr-FR" sz="3200" strike="noStrike" u="none">
              <a:solidFill>
                <a:srgbClr val="ffffff"/>
              </a:solidFill>
              <a:effectLst/>
              <a:uFillTx/>
              <a:latin typeface="Arial"/>
            </a:endParaRPr>
          </a:p>
        </p:txBody>
      </p:sp>
      <p:sp>
        <p:nvSpPr>
          <p:cNvPr id="226"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Keep the packet and the radio context together.</a:t>
            </a:r>
            <a:endParaRPr b="0" lang="fr-FR" sz="2000" strike="noStrike" u="none">
              <a:solidFill>
                <a:srgbClr val="ffffff"/>
              </a:solidFill>
              <a:effectLst/>
              <a:uFillTx/>
              <a:latin typeface="Arial"/>
            </a:endParaRPr>
          </a:p>
        </p:txBody>
      </p:sp>
      <p:sp>
        <p:nvSpPr>
          <p:cNvPr id="227"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Source: LoRa APRS JSON Event Protocol draft 1.0 and VALIDATION.md</a:t>
            </a:r>
            <a:endParaRPr b="0" lang="fr-FR" sz="1000" strike="noStrike" u="none">
              <a:solidFill>
                <a:srgbClr val="ffffff"/>
              </a:solidFill>
              <a:effectLst/>
              <a:uFillTx/>
              <a:latin typeface="Arial"/>
            </a:endParaRPr>
          </a:p>
        </p:txBody>
      </p:sp>
      <p:sp>
        <p:nvSpPr>
          <p:cNvPr id="228" name=""/>
          <p:cNvSpPr/>
          <p:nvPr/>
        </p:nvSpPr>
        <p:spPr>
          <a:xfrm>
            <a:off x="360000" y="1440000"/>
            <a:ext cx="2987280" cy="2267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29" name=""/>
          <p:cNvSpPr/>
          <p:nvPr/>
        </p:nvSpPr>
        <p:spPr>
          <a:xfrm>
            <a:off x="522000" y="1674000"/>
            <a:ext cx="50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1</a:t>
            </a:r>
            <a:endParaRPr b="0" lang="fr-FR" sz="2800" strike="noStrike" u="none">
              <a:solidFill>
                <a:srgbClr val="ffffff"/>
              </a:solidFill>
              <a:effectLst/>
              <a:uFillTx/>
              <a:latin typeface="Arial"/>
            </a:endParaRPr>
          </a:p>
        </p:txBody>
      </p:sp>
      <p:sp>
        <p:nvSpPr>
          <p:cNvPr id="230" name=""/>
          <p:cNvSpPr/>
          <p:nvPr/>
        </p:nvSpPr>
        <p:spPr>
          <a:xfrm>
            <a:off x="522000" y="2070000"/>
            <a:ext cx="262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Exact packet</a:t>
            </a:r>
            <a:endParaRPr b="0" lang="fr-FR" sz="2200" strike="noStrike" u="none">
              <a:solidFill>
                <a:srgbClr val="ffffff"/>
              </a:solidFill>
              <a:effectLst/>
              <a:uFillTx/>
              <a:latin typeface="Arial"/>
            </a:endParaRPr>
          </a:p>
        </p:txBody>
      </p:sp>
      <p:sp>
        <p:nvSpPr>
          <p:cNvPr id="231" name=""/>
          <p:cNvSpPr/>
          <p:nvPr/>
        </p:nvSpPr>
        <p:spPr>
          <a:xfrm>
            <a:off x="522000" y="2520000"/>
            <a:ext cx="2591280" cy="8103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including binary</a:t>
            </a:r>
            <a:endParaRPr b="0" lang="fr-FR" sz="1800" strike="noStrike" u="none">
              <a:solidFill>
                <a:srgbClr val="ffffff"/>
              </a:solidFill>
              <a:effectLst/>
              <a:uFillTx/>
              <a:latin typeface="Arial"/>
            </a:endParaRPr>
          </a:p>
          <a:p>
            <a:pPr>
              <a:lnSpc>
                <a:spcPct val="115000"/>
              </a:lnSpc>
              <a:spcAft>
                <a:spcPts val="709"/>
              </a:spcAft>
            </a:pPr>
            <a:r>
              <a:rPr b="0" lang="fr-FR" sz="1800" strike="noStrike" u="none">
                <a:solidFill>
                  <a:srgbClr val="f5f8fc"/>
                </a:solidFill>
                <a:effectLst/>
                <a:uFillTx/>
                <a:latin typeface="DejaVu Sans"/>
                <a:ea typeface="DejaVu Sans"/>
              </a:rPr>
              <a:t>Mic-E</a:t>
            </a:r>
            <a:endParaRPr b="0" lang="fr-FR" sz="1800" strike="noStrike" u="none">
              <a:solidFill>
                <a:srgbClr val="ffffff"/>
              </a:solidFill>
              <a:effectLst/>
              <a:uFillTx/>
              <a:latin typeface="Arial"/>
            </a:endParaRPr>
          </a:p>
        </p:txBody>
      </p:sp>
      <p:sp>
        <p:nvSpPr>
          <p:cNvPr id="232" name=""/>
          <p:cNvSpPr/>
          <p:nvPr/>
        </p:nvSpPr>
        <p:spPr>
          <a:xfrm>
            <a:off x="3528000" y="1440000"/>
            <a:ext cx="2987280" cy="2267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33" name=""/>
          <p:cNvSpPr/>
          <p:nvPr/>
        </p:nvSpPr>
        <p:spPr>
          <a:xfrm>
            <a:off x="3690000" y="1674000"/>
            <a:ext cx="50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2</a:t>
            </a:r>
            <a:endParaRPr b="0" lang="fr-FR" sz="2800" strike="noStrike" u="none">
              <a:solidFill>
                <a:srgbClr val="ffffff"/>
              </a:solidFill>
              <a:effectLst/>
              <a:uFillTx/>
              <a:latin typeface="Arial"/>
            </a:endParaRPr>
          </a:p>
        </p:txBody>
      </p:sp>
      <p:sp>
        <p:nvSpPr>
          <p:cNvPr id="234" name=""/>
          <p:cNvSpPr/>
          <p:nvPr/>
        </p:nvSpPr>
        <p:spPr>
          <a:xfrm>
            <a:off x="3690000" y="2070000"/>
            <a:ext cx="262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Radio context</a:t>
            </a:r>
            <a:endParaRPr b="0" lang="fr-FR" sz="2200" strike="noStrike" u="none">
              <a:solidFill>
                <a:srgbClr val="ffffff"/>
              </a:solidFill>
              <a:effectLst/>
              <a:uFillTx/>
              <a:latin typeface="Arial"/>
            </a:endParaRPr>
          </a:p>
        </p:txBody>
      </p:sp>
      <p:sp>
        <p:nvSpPr>
          <p:cNvPr id="235" name=""/>
          <p:cNvSpPr/>
          <p:nvPr/>
        </p:nvSpPr>
        <p:spPr>
          <a:xfrm>
            <a:off x="3690000" y="2520000"/>
            <a:ext cx="2591280" cy="647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local RX + RXT hops</a:t>
            </a:r>
            <a:endParaRPr b="0" lang="fr-FR" sz="1800" strike="noStrike" u="none">
              <a:solidFill>
                <a:srgbClr val="ffffff"/>
              </a:solidFill>
              <a:effectLst/>
              <a:uFillTx/>
              <a:latin typeface="Arial"/>
            </a:endParaRPr>
          </a:p>
        </p:txBody>
      </p:sp>
      <p:sp>
        <p:nvSpPr>
          <p:cNvPr id="236" name=""/>
          <p:cNvSpPr/>
          <p:nvPr/>
        </p:nvSpPr>
        <p:spPr>
          <a:xfrm>
            <a:off x="6696000" y="1440000"/>
            <a:ext cx="2987280" cy="2267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37" name=""/>
          <p:cNvSpPr/>
          <p:nvPr/>
        </p:nvSpPr>
        <p:spPr>
          <a:xfrm>
            <a:off x="6858000" y="1674000"/>
            <a:ext cx="503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3</a:t>
            </a:r>
            <a:endParaRPr b="0" lang="fr-FR" sz="2800" strike="noStrike" u="none">
              <a:solidFill>
                <a:srgbClr val="ffffff"/>
              </a:solidFill>
              <a:effectLst/>
              <a:uFillTx/>
              <a:latin typeface="Arial"/>
            </a:endParaRPr>
          </a:p>
        </p:txBody>
      </p:sp>
      <p:sp>
        <p:nvSpPr>
          <p:cNvPr id="238" name=""/>
          <p:cNvSpPr/>
          <p:nvPr/>
        </p:nvSpPr>
        <p:spPr>
          <a:xfrm>
            <a:off x="6858000" y="2070000"/>
            <a:ext cx="262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Continuity</a:t>
            </a:r>
            <a:endParaRPr b="0" lang="fr-FR" sz="2200" strike="noStrike" u="none">
              <a:solidFill>
                <a:srgbClr val="ffffff"/>
              </a:solidFill>
              <a:effectLst/>
              <a:uFillTx/>
              <a:latin typeface="Arial"/>
            </a:endParaRPr>
          </a:p>
        </p:txBody>
      </p:sp>
      <p:sp>
        <p:nvSpPr>
          <p:cNvPr id="239" name=""/>
          <p:cNvSpPr/>
          <p:nvPr/>
        </p:nvSpPr>
        <p:spPr>
          <a:xfrm>
            <a:off x="6858000" y="2520000"/>
            <a:ext cx="2591280" cy="69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resume after disconnect</a:t>
            </a:r>
            <a:endParaRPr b="0" lang="fr-FR" sz="1800" strike="noStrike" u="none">
              <a:solidFill>
                <a:srgbClr val="ffffff"/>
              </a:solidFill>
              <a:effectLst/>
              <a:uFillTx/>
              <a:latin typeface="Arial"/>
            </a:endParaRPr>
          </a:p>
        </p:txBody>
      </p:sp>
      <p:sp>
        <p:nvSpPr>
          <p:cNvPr id="240" name=""/>
          <p:cNvSpPr/>
          <p:nvPr/>
        </p:nvSpPr>
        <p:spPr>
          <a:xfrm>
            <a:off x="792000" y="3960000"/>
            <a:ext cx="8495280" cy="107964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41" name=""/>
          <p:cNvSpPr/>
          <p:nvPr/>
        </p:nvSpPr>
        <p:spPr>
          <a:xfrm>
            <a:off x="1008000" y="4086000"/>
            <a:ext cx="8099280" cy="801000"/>
          </a:xfrm>
          <a:prstGeom prst="rect">
            <a:avLst/>
          </a:prstGeom>
          <a:noFill/>
          <a:ln w="0">
            <a:noFill/>
          </a:ln>
        </p:spPr>
        <p:style>
          <a:lnRef idx="0"/>
          <a:fillRef idx="0"/>
          <a:effectRef idx="0"/>
          <a:fontRef idx="minor"/>
        </p:style>
        <p:txBody>
          <a:bodyPr lIns="90000" rIns="90000" tIns="45000" bIns="45000" anchor="t">
            <a:spAutoFit/>
          </a:bodyPr>
          <a:p>
            <a:pPr algn="ctr">
              <a:lnSpc>
                <a:spcPct val="115000"/>
              </a:lnSpc>
              <a:spcAft>
                <a:spcPts val="283"/>
              </a:spcAft>
            </a:pPr>
            <a:r>
              <a:rPr b="1" lang="fr-FR" sz="2100" strike="noStrike" u="none">
                <a:solidFill>
                  <a:srgbClr val="f5f8fc"/>
                </a:solidFill>
                <a:effectLst/>
                <a:uFillTx/>
                <a:latin typeface="DejaVu Sans"/>
                <a:ea typeface="DejaVu Sans"/>
              </a:rPr>
              <a:t>The radio packet stays authoritative. The metadata explains its journey.</a:t>
            </a:r>
            <a:endParaRPr b="0" lang="fr-FR" sz="2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242"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43"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EXTENDED TNC2 / RXT</a:t>
            </a:r>
            <a:endParaRPr b="0" lang="fr-FR" sz="1200" strike="noStrike" u="none">
              <a:solidFill>
                <a:srgbClr val="ffffff"/>
              </a:solidFill>
              <a:effectLst/>
              <a:uFillTx/>
              <a:latin typeface="Arial"/>
            </a:endParaRPr>
          </a:p>
        </p:txBody>
      </p:sp>
      <p:sp>
        <p:nvSpPr>
          <p:cNvPr id="244"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15</a:t>
            </a:r>
            <a:endParaRPr b="0" lang="fr-FR" sz="1200" strike="noStrike" u="none">
              <a:solidFill>
                <a:srgbClr val="ffffff"/>
              </a:solidFill>
              <a:effectLst/>
              <a:uFillTx/>
              <a:latin typeface="Arial"/>
            </a:endParaRPr>
          </a:p>
        </p:txBody>
      </p:sp>
      <p:sp>
        <p:nvSpPr>
          <p:cNvPr id="245"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Graywolf: the operator view</a:t>
            </a:r>
            <a:endParaRPr b="0" lang="fr-FR" sz="3200" strike="noStrike" u="none">
              <a:solidFill>
                <a:srgbClr val="ffffff"/>
              </a:solidFill>
              <a:effectLst/>
              <a:uFillTx/>
              <a:latin typeface="Arial"/>
            </a:endParaRPr>
          </a:p>
        </p:txBody>
      </p:sp>
      <p:sp>
        <p:nvSpPr>
          <p:cNvPr id="246"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One place to inspect packets, stations, and measured links.</a:t>
            </a:r>
            <a:endParaRPr b="0" lang="fr-FR" sz="2000" strike="noStrike" u="none">
              <a:solidFill>
                <a:srgbClr val="ffffff"/>
              </a:solidFill>
              <a:effectLst/>
              <a:uFillTx/>
              <a:latin typeface="Arial"/>
            </a:endParaRPr>
          </a:p>
        </p:txBody>
      </p:sp>
      <p:sp>
        <p:nvSpPr>
          <p:cNvPr id="247"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Sources: Graywolf RXT guide and field-validated Mic-E path, 2026-09-21</a:t>
            </a:r>
            <a:endParaRPr b="0" lang="fr-FR" sz="1000" strike="noStrike" u="none">
              <a:solidFill>
                <a:srgbClr val="ffffff"/>
              </a:solidFill>
              <a:effectLst/>
              <a:uFillTx/>
              <a:latin typeface="Arial"/>
            </a:endParaRPr>
          </a:p>
        </p:txBody>
      </p:sp>
      <p:sp>
        <p:nvSpPr>
          <p:cNvPr id="248" name=""/>
          <p:cNvSpPr/>
          <p:nvPr/>
        </p:nvSpPr>
        <p:spPr>
          <a:xfrm>
            <a:off x="360000" y="1476000"/>
            <a:ext cx="2987280" cy="233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49" name=""/>
          <p:cNvSpPr/>
          <p:nvPr/>
        </p:nvSpPr>
        <p:spPr>
          <a:xfrm>
            <a:off x="522000" y="1728000"/>
            <a:ext cx="266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PACKET LOG</a:t>
            </a:r>
            <a:endParaRPr b="0" lang="fr-FR" sz="2200" strike="noStrike" u="none">
              <a:solidFill>
                <a:srgbClr val="ffffff"/>
              </a:solidFill>
              <a:effectLst/>
              <a:uFillTx/>
              <a:latin typeface="Arial"/>
            </a:endParaRPr>
          </a:p>
        </p:txBody>
      </p:sp>
      <p:sp>
        <p:nvSpPr>
          <p:cNvPr id="250" name=""/>
          <p:cNvSpPr/>
          <p:nvPr/>
        </p:nvSpPr>
        <p:spPr>
          <a:xfrm>
            <a:off x="522000" y="2232000"/>
            <a:ext cx="2591280" cy="10944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Original text</a:t>
            </a:r>
            <a:endParaRPr b="0" lang="fr-FR" sz="1800" strike="noStrike" u="none">
              <a:solidFill>
                <a:srgbClr val="ffffff"/>
              </a:solidFill>
              <a:effectLst/>
              <a:uFillTx/>
              <a:latin typeface="Arial"/>
            </a:endParaRPr>
          </a:p>
          <a:p>
            <a:pPr>
              <a:lnSpc>
                <a:spcPct val="115000"/>
              </a:lnSpc>
              <a:spcAft>
                <a:spcPts val="709"/>
              </a:spcAft>
            </a:pPr>
            <a:r>
              <a:rPr b="0" lang="fr-FR" sz="1800" strike="noStrike" u="none">
                <a:solidFill>
                  <a:srgbClr val="f5f8fc"/>
                </a:solidFill>
                <a:effectLst/>
                <a:uFillTx/>
                <a:latin typeface="DejaVu Sans"/>
                <a:ea typeface="DejaVu Sans"/>
              </a:rPr>
              <a:t>Decoded APRS when possible</a:t>
            </a:r>
            <a:endParaRPr b="0" lang="fr-FR" sz="1800" strike="noStrike" u="none">
              <a:solidFill>
                <a:srgbClr val="ffffff"/>
              </a:solidFill>
              <a:effectLst/>
              <a:uFillTx/>
              <a:latin typeface="Arial"/>
            </a:endParaRPr>
          </a:p>
        </p:txBody>
      </p:sp>
      <p:sp>
        <p:nvSpPr>
          <p:cNvPr id="251" name=""/>
          <p:cNvSpPr/>
          <p:nvPr/>
        </p:nvSpPr>
        <p:spPr>
          <a:xfrm>
            <a:off x="3528000" y="1476000"/>
            <a:ext cx="2987280" cy="233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52" name=""/>
          <p:cNvSpPr/>
          <p:nvPr/>
        </p:nvSpPr>
        <p:spPr>
          <a:xfrm>
            <a:off x="3690000" y="1728000"/>
            <a:ext cx="266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STATION MAP</a:t>
            </a:r>
            <a:endParaRPr b="0" lang="fr-FR" sz="2200" strike="noStrike" u="none">
              <a:solidFill>
                <a:srgbClr val="ffffff"/>
              </a:solidFill>
              <a:effectLst/>
              <a:uFillTx/>
              <a:latin typeface="Arial"/>
            </a:endParaRPr>
          </a:p>
        </p:txBody>
      </p:sp>
      <p:sp>
        <p:nvSpPr>
          <p:cNvPr id="253" name=""/>
          <p:cNvSpPr/>
          <p:nvPr/>
        </p:nvSpPr>
        <p:spPr>
          <a:xfrm>
            <a:off x="3690000" y="2232000"/>
            <a:ext cx="2591280" cy="899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Position and identity</a:t>
            </a:r>
            <a:endParaRPr b="0" lang="fr-FR" sz="1800" strike="noStrike" u="none">
              <a:solidFill>
                <a:srgbClr val="ffffff"/>
              </a:solidFill>
              <a:effectLst/>
              <a:uFillTx/>
              <a:latin typeface="Arial"/>
            </a:endParaRPr>
          </a:p>
          <a:p>
            <a:pPr>
              <a:lnSpc>
                <a:spcPct val="115000"/>
              </a:lnSpc>
              <a:spcAft>
                <a:spcPts val="709"/>
              </a:spcAft>
            </a:pPr>
            <a:r>
              <a:rPr b="0" lang="fr-FR" sz="1800" strike="noStrike" u="none">
                <a:solidFill>
                  <a:srgbClr val="f5f8fc"/>
                </a:solidFill>
                <a:effectLst/>
                <a:uFillTx/>
                <a:latin typeface="DejaVu Sans"/>
                <a:ea typeface="DejaVu Sans"/>
              </a:rPr>
              <a:t>No suffix rewriting</a:t>
            </a:r>
            <a:endParaRPr b="0" lang="fr-FR" sz="1800" strike="noStrike" u="none">
              <a:solidFill>
                <a:srgbClr val="ffffff"/>
              </a:solidFill>
              <a:effectLst/>
              <a:uFillTx/>
              <a:latin typeface="Arial"/>
            </a:endParaRPr>
          </a:p>
        </p:txBody>
      </p:sp>
      <p:sp>
        <p:nvSpPr>
          <p:cNvPr id="254" name=""/>
          <p:cNvSpPr/>
          <p:nvPr/>
        </p:nvSpPr>
        <p:spPr>
          <a:xfrm>
            <a:off x="6696000" y="1476000"/>
            <a:ext cx="2987280" cy="233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55" name=""/>
          <p:cNvSpPr/>
          <p:nvPr/>
        </p:nvSpPr>
        <p:spPr>
          <a:xfrm>
            <a:off x="6858000" y="1728000"/>
            <a:ext cx="2663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RXT VIEW</a:t>
            </a:r>
            <a:endParaRPr b="0" lang="fr-FR" sz="2200" strike="noStrike" u="none">
              <a:solidFill>
                <a:srgbClr val="ffffff"/>
              </a:solidFill>
              <a:effectLst/>
              <a:uFillTx/>
              <a:latin typeface="Arial"/>
            </a:endParaRPr>
          </a:p>
        </p:txBody>
      </p:sp>
      <p:sp>
        <p:nvSpPr>
          <p:cNvPr id="256" name=""/>
          <p:cNvSpPr/>
          <p:nvPr/>
        </p:nvSpPr>
        <p:spPr>
          <a:xfrm>
            <a:off x="6858000" y="2232000"/>
            <a:ext cx="2591280" cy="899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800" strike="noStrike" u="none">
                <a:solidFill>
                  <a:srgbClr val="f5f8fc"/>
                </a:solidFill>
                <a:effectLst/>
                <a:uFillTx/>
                <a:latin typeface="DejaVu Sans"/>
                <a:ea typeface="DejaVu Sans"/>
              </a:rPr>
              <a:t>Measured links</a:t>
            </a:r>
            <a:endParaRPr b="0" lang="fr-FR" sz="1800" strike="noStrike" u="none">
              <a:solidFill>
                <a:srgbClr val="ffffff"/>
              </a:solidFill>
              <a:effectLst/>
              <a:uFillTx/>
              <a:latin typeface="Arial"/>
            </a:endParaRPr>
          </a:p>
          <a:p>
            <a:pPr>
              <a:lnSpc>
                <a:spcPct val="115000"/>
              </a:lnSpc>
              <a:spcAft>
                <a:spcPts val="709"/>
              </a:spcAft>
            </a:pPr>
            <a:r>
              <a:rPr b="0" lang="fr-FR" sz="1800" strike="noStrike" u="none">
                <a:solidFill>
                  <a:srgbClr val="f5f8fc"/>
                </a:solidFill>
                <a:effectLst/>
                <a:uFillTx/>
                <a:latin typeface="DejaVu Sans"/>
                <a:ea typeface="DejaVu Sans"/>
              </a:rPr>
              <a:t>Recent RF history</a:t>
            </a:r>
            <a:endParaRPr b="0" lang="fr-FR"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257"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58"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EXTENDED TNC2 / RXT</a:t>
            </a:r>
            <a:endParaRPr b="0" lang="fr-FR" sz="1200" strike="noStrike" u="none">
              <a:solidFill>
                <a:srgbClr val="ffffff"/>
              </a:solidFill>
              <a:effectLst/>
              <a:uFillTx/>
              <a:latin typeface="Arial"/>
            </a:endParaRPr>
          </a:p>
        </p:txBody>
      </p:sp>
      <p:sp>
        <p:nvSpPr>
          <p:cNvPr id="259"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16</a:t>
            </a:r>
            <a:endParaRPr b="0" lang="fr-FR" sz="1200" strike="noStrike" u="none">
              <a:solidFill>
                <a:srgbClr val="ffffff"/>
              </a:solidFill>
              <a:effectLst/>
              <a:uFillTx/>
              <a:latin typeface="Arial"/>
            </a:endParaRPr>
          </a:p>
        </p:txBody>
      </p:sp>
      <p:sp>
        <p:nvSpPr>
          <p:cNvPr id="260"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Direct TNC2, configured in Graywolf</a:t>
            </a:r>
            <a:endParaRPr b="0" lang="fr-FR" sz="3200" strike="noStrike" u="none">
              <a:solidFill>
                <a:srgbClr val="ffffff"/>
              </a:solidFill>
              <a:effectLst/>
              <a:uFillTx/>
              <a:latin typeface="Arial"/>
            </a:endParaRPr>
          </a:p>
        </p:txBody>
      </p:sp>
      <p:sp>
        <p:nvSpPr>
          <p:cNvPr id="261"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TCP and serial reception; one explicitly authorized transmit path.</a:t>
            </a:r>
            <a:endParaRPr b="0" lang="fr-FR" sz="2000" strike="noStrike" u="none">
              <a:solidFill>
                <a:srgbClr val="ffffff"/>
              </a:solidFill>
              <a:effectLst/>
              <a:uFillTx/>
              <a:latin typeface="Arial"/>
            </a:endParaRPr>
          </a:p>
        </p:txBody>
      </p:sp>
      <p:sp>
        <p:nvSpPr>
          <p:cNvPr id="262"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Source: Graywolf direct LoRa TNC2 guide, commits 058cc9b4–47c741e6, 2026-09-24/25</a:t>
            </a:r>
            <a:endParaRPr b="0" lang="fr-FR" sz="1000" strike="noStrike" u="none">
              <a:solidFill>
                <a:srgbClr val="ffffff"/>
              </a:solidFill>
              <a:effectLst/>
              <a:uFillTx/>
              <a:latin typeface="Arial"/>
            </a:endParaRPr>
          </a:p>
        </p:txBody>
      </p:sp>
      <p:sp>
        <p:nvSpPr>
          <p:cNvPr id="263" name=""/>
          <p:cNvSpPr/>
          <p:nvPr/>
        </p:nvSpPr>
        <p:spPr>
          <a:xfrm>
            <a:off x="360000" y="1440000"/>
            <a:ext cx="4535280" cy="187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64" name=""/>
          <p:cNvSpPr/>
          <p:nvPr/>
        </p:nvSpPr>
        <p:spPr>
          <a:xfrm>
            <a:off x="612000" y="1692000"/>
            <a:ext cx="4067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SETTINGS → TNC2</a:t>
            </a:r>
            <a:endParaRPr b="0" lang="fr-FR" sz="2200" strike="noStrike" u="none">
              <a:solidFill>
                <a:srgbClr val="ffffff"/>
              </a:solidFill>
              <a:effectLst/>
              <a:uFillTx/>
              <a:latin typeface="Arial"/>
            </a:endParaRPr>
          </a:p>
        </p:txBody>
      </p:sp>
      <p:sp>
        <p:nvSpPr>
          <p:cNvPr id="265" name=""/>
          <p:cNvSpPr/>
          <p:nvPr/>
        </p:nvSpPr>
        <p:spPr>
          <a:xfrm>
            <a:off x="612000" y="2160000"/>
            <a:ext cx="4031280" cy="75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TCP + serial RX</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Saved and applied immediately</a:t>
            </a:r>
            <a:endParaRPr b="0" lang="fr-FR" sz="1700" strike="noStrike" u="none">
              <a:solidFill>
                <a:srgbClr val="ffffff"/>
              </a:solidFill>
              <a:effectLst/>
              <a:uFillTx/>
              <a:latin typeface="Arial"/>
            </a:endParaRPr>
          </a:p>
        </p:txBody>
      </p:sp>
      <p:sp>
        <p:nvSpPr>
          <p:cNvPr id="266" name=""/>
          <p:cNvSpPr/>
          <p:nvPr/>
        </p:nvSpPr>
        <p:spPr>
          <a:xfrm>
            <a:off x="5148000" y="1440000"/>
            <a:ext cx="4535280" cy="1871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67" name=""/>
          <p:cNvSpPr/>
          <p:nvPr/>
        </p:nvSpPr>
        <p:spPr>
          <a:xfrm>
            <a:off x="5400000" y="1692000"/>
            <a:ext cx="4031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EXPLICIT TX SAFETY</a:t>
            </a:r>
            <a:endParaRPr b="0" lang="fr-FR" sz="2200" strike="noStrike" u="none">
              <a:solidFill>
                <a:srgbClr val="ffffff"/>
              </a:solidFill>
              <a:effectLst/>
              <a:uFillTx/>
              <a:latin typeface="Arial"/>
            </a:endParaRPr>
          </a:p>
        </p:txBody>
      </p:sp>
      <p:sp>
        <p:nvSpPr>
          <p:cNvPr id="268" name=""/>
          <p:cNvSpPr/>
          <p:nvPr/>
        </p:nvSpPr>
        <p:spPr>
          <a:xfrm>
            <a:off x="5400000" y="2160000"/>
            <a:ext cx="3995280" cy="9270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One transport • source • channel</a:t>
            </a:r>
            <a:endParaRPr b="0" lang="fr-FR" sz="1700" strike="noStrike" u="none">
              <a:solidFill>
                <a:srgbClr val="ffffff"/>
              </a:solidFill>
              <a:effectLst/>
              <a:uFillTx/>
              <a:latin typeface="Arial"/>
            </a:endParaRPr>
          </a:p>
          <a:p>
            <a:pPr>
              <a:lnSpc>
                <a:spcPct val="115000"/>
              </a:lnSpc>
              <a:spcBef>
                <a:spcPts val="1191"/>
              </a:spcBef>
              <a:spcAft>
                <a:spcPts val="992"/>
              </a:spcAft>
            </a:pPr>
            <a:r>
              <a:rPr b="0" lang="fr-FR" sz="1700" strike="noStrike" u="none">
                <a:solidFill>
                  <a:srgbClr val="f5f8fc"/>
                </a:solidFill>
                <a:effectLst/>
                <a:uFillTx/>
                <a:latin typeface="DejaVu Sans"/>
                <a:ea typeface="DejaVu Sans"/>
              </a:rPr>
              <a:t>TNC packet-size limit enforced</a:t>
            </a:r>
            <a:endParaRPr b="0" lang="fr-FR" sz="1700" strike="noStrike" u="none">
              <a:solidFill>
                <a:srgbClr val="ffffff"/>
              </a:solidFill>
              <a:effectLst/>
              <a:uFillTx/>
              <a:latin typeface="Arial"/>
            </a:endParaRPr>
          </a:p>
        </p:txBody>
      </p:sp>
      <p:sp>
        <p:nvSpPr>
          <p:cNvPr id="269" name=""/>
          <p:cNvSpPr/>
          <p:nvPr/>
        </p:nvSpPr>
        <p:spPr>
          <a:xfrm>
            <a:off x="756000" y="3780000"/>
            <a:ext cx="8567280" cy="755280"/>
          </a:xfrm>
          <a:prstGeom prst="roundRect">
            <a:avLst>
              <a:gd name="adj" fmla="val 16667"/>
            </a:avLst>
          </a:prstGeom>
          <a:solidFill>
            <a:srgbClr val="ffd18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70" name=""/>
          <p:cNvSpPr/>
          <p:nvPr/>
        </p:nvSpPr>
        <p:spPr>
          <a:xfrm>
            <a:off x="900000" y="3805200"/>
            <a:ext cx="8279280" cy="667800"/>
          </a:xfrm>
          <a:prstGeom prst="rect">
            <a:avLst/>
          </a:prstGeom>
          <a:noFill/>
          <a:ln w="0">
            <a:noFill/>
          </a:ln>
        </p:spPr>
        <p:style>
          <a:lnRef idx="0"/>
          <a:fillRef idx="0"/>
          <a:effectRef idx="0"/>
          <a:fontRef idx="minor"/>
        </p:style>
        <p:txBody>
          <a:bodyPr lIns="90000" rIns="90000" tIns="45000" bIns="45000" anchor="t">
            <a:spAutoFit/>
          </a:bodyPr>
          <a:p>
            <a:pPr algn="ctr">
              <a:lnSpc>
                <a:spcPct val="115000"/>
              </a:lnSpc>
              <a:spcAft>
                <a:spcPts val="283"/>
              </a:spcAft>
            </a:pPr>
            <a:r>
              <a:rPr b="1" lang="fr-FR" sz="1700" strike="noStrike" u="none">
                <a:solidFill>
                  <a:srgbClr val="102033"/>
                </a:solidFill>
                <a:effectLst/>
                <a:uFillTx/>
                <a:latin typeface="DejaVu Sans"/>
                <a:ea typeface="DejaVu Sans"/>
              </a:rPr>
              <a:t>Messages + retries + beacons now share the authorized TNC2 channel.</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271"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72"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EXTENDED TNC2 / RXT</a:t>
            </a:r>
            <a:endParaRPr b="0" lang="fr-FR" sz="1200" strike="noStrike" u="none">
              <a:solidFill>
                <a:srgbClr val="ffffff"/>
              </a:solidFill>
              <a:effectLst/>
              <a:uFillTx/>
              <a:latin typeface="Arial"/>
            </a:endParaRPr>
          </a:p>
        </p:txBody>
      </p:sp>
      <p:sp>
        <p:nvSpPr>
          <p:cNvPr id="273"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17</a:t>
            </a:r>
            <a:endParaRPr b="0" lang="fr-FR" sz="1200" strike="noStrike" u="none">
              <a:solidFill>
                <a:srgbClr val="ffffff"/>
              </a:solidFill>
              <a:effectLst/>
              <a:uFillTx/>
              <a:latin typeface="Arial"/>
            </a:endParaRPr>
          </a:p>
        </p:txBody>
      </p:sp>
      <p:sp>
        <p:nvSpPr>
          <p:cNvPr id="274" name=""/>
          <p:cNvSpPr/>
          <p:nvPr/>
        </p:nvSpPr>
        <p:spPr>
          <a:xfrm>
            <a:off x="324000" y="388800"/>
            <a:ext cx="9323280" cy="651240"/>
          </a:xfrm>
          <a:prstGeom prst="rect">
            <a:avLst/>
          </a:prstGeom>
          <a:noFill/>
          <a:ln w="0">
            <a:no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1" lang="fr-FR" sz="3200" strike="noStrike" u="none">
                <a:solidFill>
                  <a:srgbClr val="f5f8fc"/>
                </a:solidFill>
                <a:effectLst/>
                <a:uFillTx/>
                <a:latin typeface="DejaVu Sans"/>
                <a:ea typeface="DejaVu Sans"/>
              </a:rPr>
              <a:t>The LoRa path is bidirectional</a:t>
            </a:r>
            <a:endParaRPr b="0" lang="fr-FR" sz="3200" strike="noStrike" u="none">
              <a:solidFill>
                <a:srgbClr val="ffffff"/>
              </a:solidFill>
              <a:effectLst/>
              <a:uFillTx/>
              <a:latin typeface="Arial"/>
            </a:endParaRPr>
          </a:p>
        </p:txBody>
      </p:sp>
      <p:sp>
        <p:nvSpPr>
          <p:cNvPr id="275" name=""/>
          <p:cNvSpPr/>
          <p:nvPr/>
        </p:nvSpPr>
        <p:spPr>
          <a:xfrm>
            <a:off x="324000" y="882000"/>
            <a:ext cx="9323280" cy="441000"/>
          </a:xfrm>
          <a:prstGeom prst="rect">
            <a:avLst/>
          </a:prstGeom>
          <a:noFill/>
          <a:ln w="0">
            <a:no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0" lang="fr-FR" sz="2000" strike="noStrike" u="none">
                <a:solidFill>
                  <a:srgbClr val="b8c9d5"/>
                </a:solidFill>
                <a:effectLst/>
                <a:uFillTx/>
                <a:latin typeface="DejaVu Sans"/>
                <a:ea typeface="DejaVu Sans"/>
              </a:rPr>
              <a:t>Native TNC2 for exchanges; JSON/RXT for reception measurements.</a:t>
            </a:r>
            <a:endParaRPr b="0" lang="fr-FR" sz="2000" strike="noStrike" u="none">
              <a:solidFill>
                <a:srgbClr val="ffffff"/>
              </a:solidFill>
              <a:effectLst/>
              <a:uFillTx/>
              <a:latin typeface="Arial"/>
            </a:endParaRPr>
          </a:p>
        </p:txBody>
      </p:sp>
      <p:sp>
        <p:nvSpPr>
          <p:cNvPr id="276"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Sources: Graywolf TNC2 release notes 546556a6; CA2RXU iGate TNC documentation</a:t>
            </a:r>
            <a:endParaRPr b="0" lang="fr-FR" sz="1000" strike="noStrike" u="none">
              <a:solidFill>
                <a:srgbClr val="ffffff"/>
              </a:solidFill>
              <a:effectLst/>
              <a:uFillTx/>
              <a:latin typeface="Arial"/>
            </a:endParaRPr>
          </a:p>
        </p:txBody>
      </p:sp>
      <p:sp>
        <p:nvSpPr>
          <p:cNvPr id="277" name=""/>
          <p:cNvSpPr/>
          <p:nvPr/>
        </p:nvSpPr>
        <p:spPr>
          <a:xfrm>
            <a:off x="360360" y="1620000"/>
            <a:ext cx="2699280" cy="125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78" name=""/>
          <p:cNvSpPr/>
          <p:nvPr/>
        </p:nvSpPr>
        <p:spPr>
          <a:xfrm>
            <a:off x="504000" y="1674000"/>
            <a:ext cx="2411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GRAYWOLF</a:t>
            </a:r>
            <a:endParaRPr b="0" lang="fr-FR" sz="2200" strike="noStrike" u="none">
              <a:solidFill>
                <a:srgbClr val="ffffff"/>
              </a:solidFill>
              <a:effectLst/>
              <a:uFillTx/>
              <a:latin typeface="Arial"/>
            </a:endParaRPr>
          </a:p>
        </p:txBody>
      </p:sp>
      <p:sp>
        <p:nvSpPr>
          <p:cNvPr id="279" name=""/>
          <p:cNvSpPr/>
          <p:nvPr/>
        </p:nvSpPr>
        <p:spPr>
          <a:xfrm>
            <a:off x="504000" y="2106000"/>
            <a:ext cx="2411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messages + retries</a:t>
            </a:r>
            <a:endParaRPr b="0" lang="fr-FR" sz="1700" strike="noStrike" u="none">
              <a:solidFill>
                <a:srgbClr val="ffffff"/>
              </a:solidFill>
              <a:effectLst/>
              <a:uFillTx/>
              <a:latin typeface="Arial"/>
            </a:endParaRPr>
          </a:p>
        </p:txBody>
      </p:sp>
      <p:sp>
        <p:nvSpPr>
          <p:cNvPr id="280" name=""/>
          <p:cNvSpPr/>
          <p:nvPr/>
        </p:nvSpPr>
        <p:spPr>
          <a:xfrm>
            <a:off x="3690000" y="1620000"/>
            <a:ext cx="2699280" cy="125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81" name=""/>
          <p:cNvSpPr/>
          <p:nvPr/>
        </p:nvSpPr>
        <p:spPr>
          <a:xfrm>
            <a:off x="3834000" y="1674000"/>
            <a:ext cx="2411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LILYGO T3</a:t>
            </a:r>
            <a:endParaRPr b="0" lang="fr-FR" sz="2200" strike="noStrike" u="none">
              <a:solidFill>
                <a:srgbClr val="ffffff"/>
              </a:solidFill>
              <a:effectLst/>
              <a:uFillTx/>
              <a:latin typeface="Arial"/>
            </a:endParaRPr>
          </a:p>
        </p:txBody>
      </p:sp>
      <p:sp>
        <p:nvSpPr>
          <p:cNvPr id="282" name=""/>
          <p:cNvSpPr/>
          <p:nvPr/>
        </p:nvSpPr>
        <p:spPr>
          <a:xfrm>
            <a:off x="3834000" y="2106000"/>
            <a:ext cx="2411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iGate / TNC2 transceiver</a:t>
            </a:r>
            <a:endParaRPr b="0" lang="fr-FR" sz="1700" strike="noStrike" u="none">
              <a:solidFill>
                <a:srgbClr val="ffffff"/>
              </a:solidFill>
              <a:effectLst/>
              <a:uFillTx/>
              <a:latin typeface="Arial"/>
            </a:endParaRPr>
          </a:p>
        </p:txBody>
      </p:sp>
      <p:sp>
        <p:nvSpPr>
          <p:cNvPr id="283" name=""/>
          <p:cNvSpPr/>
          <p:nvPr/>
        </p:nvSpPr>
        <p:spPr>
          <a:xfrm>
            <a:off x="7020360" y="1620000"/>
            <a:ext cx="2699280" cy="1259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84" name=""/>
          <p:cNvSpPr/>
          <p:nvPr/>
        </p:nvSpPr>
        <p:spPr>
          <a:xfrm>
            <a:off x="7164000" y="1674000"/>
            <a:ext cx="2411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LoRa RF</a:t>
            </a:r>
            <a:endParaRPr b="0" lang="fr-FR" sz="2200" strike="noStrike" u="none">
              <a:solidFill>
                <a:srgbClr val="ffffff"/>
              </a:solidFill>
              <a:effectLst/>
              <a:uFillTx/>
              <a:latin typeface="Arial"/>
            </a:endParaRPr>
          </a:p>
        </p:txBody>
      </p:sp>
      <p:sp>
        <p:nvSpPr>
          <p:cNvPr id="285" name=""/>
          <p:cNvSpPr/>
          <p:nvPr/>
        </p:nvSpPr>
        <p:spPr>
          <a:xfrm>
            <a:off x="7164000" y="2106000"/>
            <a:ext cx="2411280" cy="3787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stations + digis</a:t>
            </a:r>
            <a:endParaRPr b="0" lang="fr-FR" sz="1700" strike="noStrike" u="none">
              <a:solidFill>
                <a:srgbClr val="ffffff"/>
              </a:solidFill>
              <a:effectLst/>
              <a:uFillTx/>
              <a:latin typeface="Arial"/>
            </a:endParaRPr>
          </a:p>
        </p:txBody>
      </p:sp>
      <p:sp>
        <p:nvSpPr>
          <p:cNvPr id="286" name=""/>
          <p:cNvSpPr/>
          <p:nvPr/>
        </p:nvSpPr>
        <p:spPr>
          <a:xfrm>
            <a:off x="3096000" y="1980000"/>
            <a:ext cx="575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a:t>
            </a:r>
            <a:endParaRPr b="0" lang="fr-FR" sz="2800" strike="noStrike" u="none">
              <a:solidFill>
                <a:srgbClr val="ffffff"/>
              </a:solidFill>
              <a:effectLst/>
              <a:uFillTx/>
              <a:latin typeface="Arial"/>
            </a:endParaRPr>
          </a:p>
        </p:txBody>
      </p:sp>
      <p:sp>
        <p:nvSpPr>
          <p:cNvPr id="287" name=""/>
          <p:cNvSpPr/>
          <p:nvPr/>
        </p:nvSpPr>
        <p:spPr>
          <a:xfrm>
            <a:off x="6426000" y="1955160"/>
            <a:ext cx="575280" cy="564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283"/>
              </a:spcAft>
            </a:pPr>
            <a:r>
              <a:rPr b="1" lang="fr-FR" sz="2800" strike="noStrike" u="none">
                <a:solidFill>
                  <a:srgbClr val="ffd18a"/>
                </a:solidFill>
                <a:effectLst/>
                <a:uFillTx/>
                <a:latin typeface="DejaVu Sans"/>
                <a:ea typeface="DejaVu Sans"/>
              </a:rPr>
              <a:t>↔</a:t>
            </a:r>
            <a:endParaRPr b="0" lang="fr-FR" sz="2800" strike="noStrike" u="none">
              <a:solidFill>
                <a:srgbClr val="ffffff"/>
              </a:solidFill>
              <a:effectLst/>
              <a:uFillTx/>
              <a:latin typeface="Arial"/>
            </a:endParaRPr>
          </a:p>
        </p:txBody>
      </p:sp>
      <p:sp>
        <p:nvSpPr>
          <p:cNvPr id="288" name=""/>
          <p:cNvSpPr/>
          <p:nvPr/>
        </p:nvSpPr>
        <p:spPr>
          <a:xfrm>
            <a:off x="360000" y="3024000"/>
            <a:ext cx="9359280" cy="75564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89" name=""/>
          <p:cNvSpPr/>
          <p:nvPr/>
        </p:nvSpPr>
        <p:spPr>
          <a:xfrm>
            <a:off x="540000" y="3178800"/>
            <a:ext cx="8999280" cy="445320"/>
          </a:xfrm>
          <a:prstGeom prst="rect">
            <a:avLst/>
          </a:prstGeom>
          <a:noFill/>
          <a:ln w="0">
            <a:noFill/>
          </a:ln>
        </p:spPr>
        <p:style>
          <a:lnRef idx="0"/>
          <a:fillRef idx="0"/>
          <a:effectRef idx="0"/>
          <a:fontRef idx="minor"/>
        </p:style>
        <p:txBody>
          <a:bodyPr lIns="90000" rIns="90000" tIns="45000" bIns="45000" anchor="t">
            <a:spAutoFit/>
          </a:bodyPr>
          <a:p>
            <a:pPr algn="ctr">
              <a:lnSpc>
                <a:spcPct val="115000"/>
              </a:lnSpc>
              <a:spcAft>
                <a:spcPts val="283"/>
              </a:spcAft>
            </a:pPr>
            <a:r>
              <a:rPr b="1" lang="fr-FR" sz="2100" strike="noStrike" u="none">
                <a:solidFill>
                  <a:srgbClr val="f5f8fc"/>
                </a:solidFill>
                <a:effectLst/>
                <a:uFillTx/>
                <a:latin typeface="DejaVu Sans"/>
                <a:ea typeface="DejaVu Sans"/>
              </a:rPr>
              <a:t>iGate → JSON/RXT reception measurements → Graywolf</a:t>
            </a:r>
            <a:endParaRPr b="0" lang="fr-FR" sz="2100" strike="noStrike" u="none">
              <a:solidFill>
                <a:srgbClr val="ffffff"/>
              </a:solidFill>
              <a:effectLst/>
              <a:uFillTx/>
              <a:latin typeface="Arial"/>
            </a:endParaRPr>
          </a:p>
        </p:txBody>
      </p:sp>
      <p:sp>
        <p:nvSpPr>
          <p:cNvPr id="290" name=""/>
          <p:cNvSpPr/>
          <p:nvPr/>
        </p:nvSpPr>
        <p:spPr>
          <a:xfrm>
            <a:off x="360000" y="3996000"/>
            <a:ext cx="9359280" cy="86364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91" name=""/>
          <p:cNvSpPr/>
          <p:nvPr/>
        </p:nvSpPr>
        <p:spPr>
          <a:xfrm>
            <a:off x="540000" y="4132800"/>
            <a:ext cx="8999280" cy="445320"/>
          </a:xfrm>
          <a:prstGeom prst="rect">
            <a:avLst/>
          </a:prstGeom>
          <a:noFill/>
          <a:ln w="0">
            <a:noFill/>
          </a:ln>
        </p:spPr>
        <p:style>
          <a:lnRef idx="0"/>
          <a:fillRef idx="0"/>
          <a:effectRef idx="0"/>
          <a:fontRef idx="minor"/>
        </p:style>
        <p:txBody>
          <a:bodyPr lIns="90000" rIns="90000" tIns="45000" bIns="45000" anchor="t">
            <a:spAutoFit/>
          </a:bodyPr>
          <a:p>
            <a:pPr algn="ctr">
              <a:lnSpc>
                <a:spcPct val="115000"/>
              </a:lnSpc>
              <a:spcAft>
                <a:spcPts val="283"/>
              </a:spcAft>
            </a:pPr>
            <a:r>
              <a:rPr b="1" lang="fr-FR" sz="2100" strike="noStrike" u="none">
                <a:solidFill>
                  <a:srgbClr val="f5f8fc"/>
                </a:solidFill>
                <a:effectLst/>
                <a:uFillTx/>
                <a:latin typeface="DejaVu Sans"/>
                <a:ea typeface="DejaVu Sans"/>
              </a:rPr>
              <a:t>AX.25/KISS stays at compatibility boundaries.</a:t>
            </a:r>
            <a:endParaRPr b="0" lang="fr-FR" sz="2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292"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293"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EXTENDED TNC2 / RXT</a:t>
            </a:r>
            <a:endParaRPr b="0" lang="fr-FR" sz="1200" strike="noStrike" u="none">
              <a:solidFill>
                <a:srgbClr val="ffffff"/>
              </a:solidFill>
              <a:effectLst/>
              <a:uFillTx/>
              <a:latin typeface="Arial"/>
            </a:endParaRPr>
          </a:p>
        </p:txBody>
      </p:sp>
      <p:sp>
        <p:nvSpPr>
          <p:cNvPr id="294"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18</a:t>
            </a:r>
            <a:endParaRPr b="0" lang="fr-FR" sz="1200" strike="noStrike" u="none">
              <a:solidFill>
                <a:srgbClr val="ffffff"/>
              </a:solidFill>
              <a:effectLst/>
              <a:uFillTx/>
              <a:latin typeface="Arial"/>
            </a:endParaRPr>
          </a:p>
        </p:txBody>
      </p:sp>
      <p:sp>
        <p:nvSpPr>
          <p:cNvPr id="295"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What is now demonstrated?</a:t>
            </a:r>
            <a:endParaRPr b="0" lang="fr-FR" sz="3200" strike="noStrike" u="none">
              <a:solidFill>
                <a:srgbClr val="ffffff"/>
              </a:solidFill>
              <a:effectLst/>
              <a:uFillTx/>
              <a:latin typeface="Arial"/>
            </a:endParaRPr>
          </a:p>
        </p:txBody>
      </p:sp>
      <p:sp>
        <p:nvSpPr>
          <p:cNvPr id="296"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Field evidence after the latest Graywolf RXT updates.</a:t>
            </a:r>
            <a:endParaRPr b="0" lang="fr-FR" sz="2000" strike="noStrike" u="none">
              <a:solidFill>
                <a:srgbClr val="ffffff"/>
              </a:solidFill>
              <a:effectLst/>
              <a:uFillTx/>
              <a:latin typeface="Arial"/>
            </a:endParaRPr>
          </a:p>
        </p:txBody>
      </p:sp>
      <p:sp>
        <p:nvSpPr>
          <p:cNvPr id="297"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Sources: Graywolf TNC2 and RXT guides; field validation recorded 2026-09-24/25</a:t>
            </a:r>
            <a:endParaRPr b="0" lang="fr-FR" sz="1000" strike="noStrike" u="none">
              <a:solidFill>
                <a:srgbClr val="ffffff"/>
              </a:solidFill>
              <a:effectLst/>
              <a:uFillTx/>
              <a:latin typeface="Arial"/>
            </a:endParaRPr>
          </a:p>
        </p:txBody>
      </p:sp>
      <p:sp>
        <p:nvSpPr>
          <p:cNvPr id="298" name=""/>
          <p:cNvSpPr/>
          <p:nvPr/>
        </p:nvSpPr>
        <p:spPr>
          <a:xfrm>
            <a:off x="360000" y="1368000"/>
            <a:ext cx="9359280" cy="863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299" name=""/>
          <p:cNvSpPr/>
          <p:nvPr/>
        </p:nvSpPr>
        <p:spPr>
          <a:xfrm>
            <a:off x="540000" y="1494000"/>
            <a:ext cx="251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RX + LINKS</a:t>
            </a:r>
            <a:endParaRPr b="0" lang="fr-FR" sz="2200" strike="noStrike" u="none">
              <a:solidFill>
                <a:srgbClr val="ffffff"/>
              </a:solidFill>
              <a:effectLst/>
              <a:uFillTx/>
              <a:latin typeface="Arial"/>
            </a:endParaRPr>
          </a:p>
        </p:txBody>
      </p:sp>
      <p:sp>
        <p:nvSpPr>
          <p:cNvPr id="300" name=""/>
          <p:cNvSpPr/>
          <p:nvPr/>
        </p:nvSpPr>
        <p:spPr>
          <a:xfrm>
            <a:off x="3096000" y="1512000"/>
            <a:ext cx="6371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Mic-E RF → iGate JSON → Graywolf packet and measured link.</a:t>
            </a:r>
            <a:endParaRPr b="0" lang="fr-FR" sz="1700" strike="noStrike" u="none">
              <a:solidFill>
                <a:srgbClr val="ffffff"/>
              </a:solidFill>
              <a:effectLst/>
              <a:uFillTx/>
              <a:latin typeface="Arial"/>
            </a:endParaRPr>
          </a:p>
        </p:txBody>
      </p:sp>
      <p:sp>
        <p:nvSpPr>
          <p:cNvPr id="301" name=""/>
          <p:cNvSpPr/>
          <p:nvPr/>
        </p:nvSpPr>
        <p:spPr>
          <a:xfrm>
            <a:off x="360000" y="2448000"/>
            <a:ext cx="9359280" cy="863280"/>
          </a:xfrm>
          <a:prstGeom prst="roundRect">
            <a:avLst>
              <a:gd name="adj" fmla="val 16667"/>
            </a:avLst>
          </a:prstGeom>
          <a:solidFill>
            <a:srgbClr val="23445a"/>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02" name=""/>
          <p:cNvSpPr/>
          <p:nvPr/>
        </p:nvSpPr>
        <p:spPr>
          <a:xfrm>
            <a:off x="540000" y="2574000"/>
            <a:ext cx="251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TX + BEACON</a:t>
            </a:r>
            <a:endParaRPr b="0" lang="fr-FR" sz="2200" strike="noStrike" u="none">
              <a:solidFill>
                <a:srgbClr val="ffffff"/>
              </a:solidFill>
              <a:effectLst/>
              <a:uFillTx/>
              <a:latin typeface="Arial"/>
            </a:endParaRPr>
          </a:p>
        </p:txBody>
      </p:sp>
      <p:sp>
        <p:nvSpPr>
          <p:cNvPr id="303" name=""/>
          <p:cNvSpPr/>
          <p:nvPr/>
        </p:nvSpPr>
        <p:spPr>
          <a:xfrm>
            <a:off x="3096000" y="2592000"/>
            <a:ext cx="6371280" cy="66780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Messages + ACK on TCP/serial; position beacon observed over RF.</a:t>
            </a:r>
            <a:endParaRPr b="0" lang="fr-FR" sz="1700" strike="noStrike" u="none">
              <a:solidFill>
                <a:srgbClr val="ffffff"/>
              </a:solidFill>
              <a:effectLst/>
              <a:uFillTx/>
              <a:latin typeface="Arial"/>
            </a:endParaRPr>
          </a:p>
        </p:txBody>
      </p:sp>
      <p:sp>
        <p:nvSpPr>
          <p:cNvPr id="304" name=""/>
          <p:cNvSpPr/>
          <p:nvPr/>
        </p:nvSpPr>
        <p:spPr>
          <a:xfrm>
            <a:off x="360000" y="3528000"/>
            <a:ext cx="9359280" cy="863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05" name=""/>
          <p:cNvSpPr/>
          <p:nvPr/>
        </p:nvSpPr>
        <p:spPr>
          <a:xfrm>
            <a:off x="540000" y="3654000"/>
            <a:ext cx="2519280" cy="462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2200" strike="noStrike" u="none">
                <a:solidFill>
                  <a:srgbClr val="f1a948"/>
                </a:solidFill>
                <a:effectLst/>
                <a:uFillTx/>
                <a:latin typeface="DejaVu Sans"/>
                <a:ea typeface="DejaVu Sans"/>
              </a:rPr>
              <a:t>EXTENDED ID</a:t>
            </a:r>
            <a:endParaRPr b="0" lang="fr-FR" sz="2200" strike="noStrike" u="none">
              <a:solidFill>
                <a:srgbClr val="ffffff"/>
              </a:solidFill>
              <a:effectLst/>
              <a:uFillTx/>
              <a:latin typeface="Arial"/>
            </a:endParaRPr>
          </a:p>
        </p:txBody>
      </p:sp>
      <p:sp>
        <p:nvSpPr>
          <p:cNvPr id="306" name=""/>
          <p:cNvSpPr/>
          <p:nvPr/>
        </p:nvSpPr>
        <p:spPr>
          <a:xfrm>
            <a:off x="3096000" y="3672000"/>
            <a:ext cx="6371280" cy="685080"/>
          </a:xfrm>
          <a:prstGeom prst="rect">
            <a:avLst/>
          </a:prstGeom>
          <a:noFill/>
          <a:ln w="0">
            <a:no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0" lang="fr-FR" sz="1700" strike="noStrike" u="none">
                <a:solidFill>
                  <a:srgbClr val="f5f8fc"/>
                </a:solidFill>
                <a:effectLst/>
                <a:uFillTx/>
                <a:latin typeface="DejaVu Sans"/>
                <a:ea typeface="DejaVu Sans"/>
              </a:rPr>
              <a:t>F4MLV-MC preserved through native TNC2, JSON/RXT and identified RF link.</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307"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308"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EXTENDED TNC2 / RXT</a:t>
            </a:r>
            <a:endParaRPr b="0" lang="fr-FR" sz="1200" strike="noStrike" u="none">
              <a:solidFill>
                <a:srgbClr val="ffffff"/>
              </a:solidFill>
              <a:effectLst/>
              <a:uFillTx/>
              <a:latin typeface="Arial"/>
            </a:endParaRPr>
          </a:p>
        </p:txBody>
      </p:sp>
      <p:sp>
        <p:nvSpPr>
          <p:cNvPr id="309"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19</a:t>
            </a:r>
            <a:endParaRPr b="0" lang="fr-FR" sz="1200" strike="noStrike" u="none">
              <a:solidFill>
                <a:srgbClr val="ffffff"/>
              </a:solidFill>
              <a:effectLst/>
              <a:uFillTx/>
              <a:latin typeface="Arial"/>
            </a:endParaRPr>
          </a:p>
        </p:txBody>
      </p:sp>
      <p:sp>
        <p:nvSpPr>
          <p:cNvPr id="310"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Jon’s Arizona network</a:t>
            </a:r>
            <a:endParaRPr b="0" lang="fr-FR" sz="3200" strike="noStrike" u="none">
              <a:solidFill>
                <a:srgbClr val="ffffff"/>
              </a:solidFill>
              <a:effectLst/>
              <a:uFillTx/>
              <a:latin typeface="Arial"/>
            </a:endParaRPr>
          </a:p>
        </p:txBody>
      </p:sp>
      <p:sp>
        <p:nvSpPr>
          <p:cNvPr id="311" name=""/>
          <p:cNvSpPr/>
          <p:nvPr/>
        </p:nvSpPr>
        <p:spPr>
          <a:xfrm>
            <a:off x="324000" y="882000"/>
            <a:ext cx="9323280" cy="790920"/>
          </a:xfrm>
          <a:prstGeom prst="rect">
            <a:avLst/>
          </a:prstGeom>
          <a:noFill/>
          <a:ln w="0">
            <a:noFill/>
          </a:ln>
        </p:spPr>
        <p:style>
          <a:lnRef idx="0"/>
          <a:fillRef idx="0"/>
          <a:effectRef idx="0"/>
          <a:fontRef idx="minor"/>
        </p:style>
        <p:txBody>
          <a:bodyPr lIns="90000" rIns="90000" tIns="45000" bIns="45000" anchor="t">
            <a:spAutoFit/>
          </a:bodyPr>
          <a:p>
            <a:pPr>
              <a:lnSpc>
                <a:spcPct val="115000"/>
              </a:lnSpc>
              <a:spcBef>
                <a:spcPts val="1191"/>
              </a:spcBef>
              <a:spcAft>
                <a:spcPts val="992"/>
              </a:spcAft>
            </a:pPr>
            <a:r>
              <a:rPr b="0" lang="fr-FR" sz="2000" strike="noStrike" u="none">
                <a:solidFill>
                  <a:srgbClr val="b8c9d5"/>
                </a:solidFill>
                <a:effectLst/>
                <a:uFillTx/>
                <a:latin typeface="DejaVu Sans"/>
                <a:ea typeface="DejaVu Sans"/>
              </a:rPr>
              <a:t>The software must meet the needs of real radio sites and their operators.</a:t>
            </a:r>
            <a:endParaRPr b="0" lang="fr-FR" sz="2000" strike="noStrike" u="none">
              <a:solidFill>
                <a:srgbClr val="ffffff"/>
              </a:solidFill>
              <a:effectLst/>
              <a:uFillTx/>
              <a:latin typeface="Arial"/>
            </a:endParaRPr>
          </a:p>
        </p:txBody>
      </p:sp>
      <p:sp>
        <p:nvSpPr>
          <p:cNvPr id="312"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Source: Jon Adams (N7UV), field notes supplied for this review; public CA2RXU discussion #287</a:t>
            </a:r>
            <a:endParaRPr b="0" lang="fr-FR" sz="1000" strike="noStrike" u="none">
              <a:solidFill>
                <a:srgbClr val="ffffff"/>
              </a:solidFill>
              <a:effectLst/>
              <a:uFillTx/>
              <a:latin typeface="Arial"/>
            </a:endParaRPr>
          </a:p>
        </p:txBody>
      </p:sp>
      <p:sp>
        <p:nvSpPr>
          <p:cNvPr id="313" name=""/>
          <p:cNvSpPr/>
          <p:nvPr/>
        </p:nvSpPr>
        <p:spPr>
          <a:xfrm>
            <a:off x="360000" y="1800000"/>
            <a:ext cx="9359280" cy="306000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14" name=""/>
          <p:cNvSpPr/>
          <p:nvPr/>
        </p:nvSpPr>
        <p:spPr>
          <a:xfrm>
            <a:off x="648000" y="2160000"/>
            <a:ext cx="8711280" cy="124596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400" strike="noStrike" u="none">
                <a:solidFill>
                  <a:srgbClr val="f5f8fc"/>
                </a:solidFill>
                <a:effectLst/>
                <a:uFillTx/>
                <a:latin typeface="DejaVu Sans"/>
                <a:ea typeface="DejaVu Sans"/>
              </a:rPr>
              <a:t>433.775 MHz • BW125 • SF7 • CR4:6</a:t>
            </a:r>
            <a:endParaRPr b="0" lang="fr-FR" sz="3400" strike="noStrike" u="none">
              <a:solidFill>
                <a:srgbClr val="ffffff"/>
              </a:solidFill>
              <a:effectLst/>
              <a:uFillTx/>
              <a:latin typeface="Arial"/>
            </a:endParaRPr>
          </a:p>
        </p:txBody>
      </p:sp>
      <p:sp>
        <p:nvSpPr>
          <p:cNvPr id="315" name=""/>
          <p:cNvSpPr/>
          <p:nvPr/>
        </p:nvSpPr>
        <p:spPr>
          <a:xfrm>
            <a:off x="648000" y="3600000"/>
            <a:ext cx="8603280" cy="971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Jon reports about 4.56 kbps on this regional network.</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High sites and RF filtering make the coverage useful.</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316"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317"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EXTENDED TNC2 / RXT</a:t>
            </a:r>
            <a:endParaRPr b="0" lang="fr-FR" sz="1200" strike="noStrike" u="none">
              <a:solidFill>
                <a:srgbClr val="ffffff"/>
              </a:solidFill>
              <a:effectLst/>
              <a:uFillTx/>
              <a:latin typeface="Arial"/>
            </a:endParaRPr>
          </a:p>
        </p:txBody>
      </p:sp>
      <p:sp>
        <p:nvSpPr>
          <p:cNvPr id="318"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20</a:t>
            </a:r>
            <a:endParaRPr b="0" lang="fr-FR" sz="1200" strike="noStrike" u="none">
              <a:solidFill>
                <a:srgbClr val="ffffff"/>
              </a:solidFill>
              <a:effectLst/>
              <a:uFillTx/>
              <a:latin typeface="Arial"/>
            </a:endParaRPr>
          </a:p>
        </p:txBody>
      </p:sp>
      <p:sp>
        <p:nvSpPr>
          <p:cNvPr id="319"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Where should we test next?</a:t>
            </a:r>
            <a:endParaRPr b="0" lang="fr-FR" sz="3200" strike="noStrike" u="none">
              <a:solidFill>
                <a:srgbClr val="ffffff"/>
              </a:solidFill>
              <a:effectLst/>
              <a:uFillTx/>
              <a:latin typeface="Arial"/>
            </a:endParaRPr>
          </a:p>
        </p:txBody>
      </p:sp>
      <p:sp>
        <p:nvSpPr>
          <p:cNvPr id="320"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Questions for operators and network builders.</a:t>
            </a:r>
            <a:endParaRPr b="0" lang="fr-FR" sz="2000" strike="noStrike" u="none">
              <a:solidFill>
                <a:srgbClr val="ffffff"/>
              </a:solidFill>
              <a:effectLst/>
              <a:uFillTx/>
              <a:latin typeface="Arial"/>
            </a:endParaRPr>
          </a:p>
        </p:txBody>
      </p:sp>
      <p:sp>
        <p:nvSpPr>
          <p:cNvPr id="321"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Technical review invited from Jon Adams, N7UV | September 2026</a:t>
            </a:r>
            <a:endParaRPr b="0" lang="fr-FR" sz="1000" strike="noStrike" u="none">
              <a:solidFill>
                <a:srgbClr val="ffffff"/>
              </a:solidFill>
              <a:effectLst/>
              <a:uFillTx/>
              <a:latin typeface="Arial"/>
            </a:endParaRPr>
          </a:p>
        </p:txBody>
      </p:sp>
      <p:sp>
        <p:nvSpPr>
          <p:cNvPr id="322" name=""/>
          <p:cNvSpPr/>
          <p:nvPr/>
        </p:nvSpPr>
        <p:spPr>
          <a:xfrm>
            <a:off x="360000" y="1368000"/>
            <a:ext cx="9359280" cy="79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23" name=""/>
          <p:cNvSpPr/>
          <p:nvPr/>
        </p:nvSpPr>
        <p:spPr>
          <a:xfrm>
            <a:off x="576000" y="1530000"/>
            <a:ext cx="8819280" cy="4453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94"/>
              </a:spcAft>
            </a:pPr>
            <a:r>
              <a:rPr b="0" lang="fr-FR" sz="2100" strike="noStrike" u="none">
                <a:solidFill>
                  <a:srgbClr val="f5f8fc"/>
                </a:solidFill>
                <a:effectLst/>
                <a:uFillTx/>
                <a:latin typeface="DejaVu Sans"/>
                <a:ea typeface="DejaVu Sans"/>
              </a:rPr>
              <a:t>Which other suffix forms and applications should we validate?</a:t>
            </a:r>
            <a:endParaRPr b="0" lang="fr-FR" sz="2100" strike="noStrike" u="none">
              <a:solidFill>
                <a:srgbClr val="ffffff"/>
              </a:solidFill>
              <a:effectLst/>
              <a:uFillTx/>
              <a:latin typeface="Arial"/>
            </a:endParaRPr>
          </a:p>
        </p:txBody>
      </p:sp>
      <p:sp>
        <p:nvSpPr>
          <p:cNvPr id="324" name=""/>
          <p:cNvSpPr/>
          <p:nvPr/>
        </p:nvSpPr>
        <p:spPr>
          <a:xfrm>
            <a:off x="360000" y="2340000"/>
            <a:ext cx="9359280" cy="79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25" name=""/>
          <p:cNvSpPr/>
          <p:nvPr/>
        </p:nvSpPr>
        <p:spPr>
          <a:xfrm>
            <a:off x="576000" y="2502000"/>
            <a:ext cx="8819280" cy="4453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94"/>
              </a:spcAft>
            </a:pPr>
            <a:r>
              <a:rPr b="0" lang="fr-FR" sz="2100" strike="noStrike" u="none">
                <a:solidFill>
                  <a:srgbClr val="f5f8fc"/>
                </a:solidFill>
                <a:effectLst/>
                <a:uFillTx/>
                <a:latin typeface="DejaVu Sans"/>
                <a:ea typeface="DejaVu Sans"/>
              </a:rPr>
              <a:t>Does the RXT display answer the questions operators ask?</a:t>
            </a:r>
            <a:endParaRPr b="0" lang="fr-FR" sz="2100" strike="noStrike" u="none">
              <a:solidFill>
                <a:srgbClr val="ffffff"/>
              </a:solidFill>
              <a:effectLst/>
              <a:uFillTx/>
              <a:latin typeface="Arial"/>
            </a:endParaRPr>
          </a:p>
        </p:txBody>
      </p:sp>
      <p:sp>
        <p:nvSpPr>
          <p:cNvPr id="326" name=""/>
          <p:cNvSpPr/>
          <p:nvPr/>
        </p:nvSpPr>
        <p:spPr>
          <a:xfrm>
            <a:off x="360000" y="3312000"/>
            <a:ext cx="9359280" cy="79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27" name=""/>
          <p:cNvSpPr/>
          <p:nvPr/>
        </p:nvSpPr>
        <p:spPr>
          <a:xfrm>
            <a:off x="576000" y="3474000"/>
            <a:ext cx="8819280" cy="44532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94"/>
              </a:spcAft>
            </a:pPr>
            <a:r>
              <a:rPr b="0" lang="fr-FR" sz="2100" strike="noStrike" u="none">
                <a:solidFill>
                  <a:srgbClr val="f5f8fc"/>
                </a:solidFill>
                <a:effectLst/>
                <a:uFillTx/>
                <a:latin typeface="DejaVu Sans"/>
                <a:ea typeface="DejaVu Sans"/>
              </a:rPr>
              <a:t>Which sites and multi-hop radio paths should we test next?</a:t>
            </a:r>
            <a:endParaRPr b="0" lang="fr-FR" sz="2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02033"/>
        </a:solidFill>
      </p:bgPr>
    </p:bg>
    <p:spTree>
      <p:nvGrpSpPr>
        <p:cNvPr id="1" name=""/>
        <p:cNvGrpSpPr/>
        <p:nvPr/>
      </p:nvGrpSpPr>
      <p:grpSpPr>
        <a:xfrm>
          <a:off x="0" y="0"/>
          <a:ext cx="0" cy="0"/>
          <a:chOff x="0" y="0"/>
          <a:chExt cx="0" cy="0"/>
        </a:xfrm>
      </p:grpSpPr>
      <p:sp>
        <p:nvSpPr>
          <p:cNvPr id="328" name=""/>
          <p:cNvSpPr/>
          <p:nvPr/>
        </p:nvSpPr>
        <p:spPr>
          <a:xfrm>
            <a:off x="0" y="0"/>
            <a:ext cx="64080" cy="5669280"/>
          </a:xfrm>
          <a:prstGeom prst="rect">
            <a:avLst/>
          </a:prstGeom>
          <a:solidFill>
            <a:srgbClr val="f1a948"/>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DejaVu Sans"/>
            </a:endParaRPr>
          </a:p>
        </p:txBody>
      </p:sp>
      <p:sp>
        <p:nvSpPr>
          <p:cNvPr id="329" name=""/>
          <p:cNvSpPr/>
          <p:nvPr/>
        </p:nvSpPr>
        <p:spPr>
          <a:xfrm>
            <a:off x="324000" y="151200"/>
            <a:ext cx="7919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LORA APRS / EXTENDED TNC2 / RXT</a:t>
            </a:r>
            <a:endParaRPr b="0" lang="fr-FR" sz="1200" strike="noStrike" u="none">
              <a:solidFill>
                <a:srgbClr val="ffffff"/>
              </a:solidFill>
              <a:effectLst/>
              <a:uFillTx/>
              <a:latin typeface="Arial"/>
            </a:endParaRPr>
          </a:p>
        </p:txBody>
      </p:sp>
      <p:sp>
        <p:nvSpPr>
          <p:cNvPr id="330" name=""/>
          <p:cNvSpPr/>
          <p:nvPr/>
        </p:nvSpPr>
        <p:spPr>
          <a:xfrm>
            <a:off x="9252000" y="151200"/>
            <a:ext cx="503280" cy="29484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1" lang="fr-FR" sz="1200" strike="noStrike" u="none">
                <a:solidFill>
                  <a:srgbClr val="f1a948"/>
                </a:solidFill>
                <a:effectLst/>
                <a:uFillTx/>
                <a:latin typeface="DejaVu Sans"/>
                <a:ea typeface="DejaVu Sans"/>
              </a:rPr>
              <a:t>21</a:t>
            </a:r>
            <a:endParaRPr b="0" lang="fr-FR" sz="1200" strike="noStrike" u="none">
              <a:solidFill>
                <a:srgbClr val="ffffff"/>
              </a:solidFill>
              <a:effectLst/>
              <a:uFillTx/>
              <a:latin typeface="Arial"/>
            </a:endParaRPr>
          </a:p>
        </p:txBody>
      </p:sp>
      <p:sp>
        <p:nvSpPr>
          <p:cNvPr id="331" name=""/>
          <p:cNvSpPr/>
          <p:nvPr/>
        </p:nvSpPr>
        <p:spPr>
          <a:xfrm>
            <a:off x="324000" y="388800"/>
            <a:ext cx="9323280" cy="6346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1" lang="fr-FR" sz="3200" strike="noStrike" u="none">
                <a:solidFill>
                  <a:srgbClr val="f5f8fc"/>
                </a:solidFill>
                <a:effectLst/>
                <a:uFillTx/>
                <a:latin typeface="DejaVu Sans"/>
                <a:ea typeface="DejaVu Sans"/>
              </a:rPr>
              <a:t>Sources and acknowledgements</a:t>
            </a:r>
            <a:endParaRPr b="0" lang="fr-FR" sz="3200" strike="noStrike" u="none">
              <a:solidFill>
                <a:srgbClr val="ffffff"/>
              </a:solidFill>
              <a:effectLst/>
              <a:uFillTx/>
              <a:latin typeface="Arial"/>
            </a:endParaRPr>
          </a:p>
        </p:txBody>
      </p:sp>
      <p:sp>
        <p:nvSpPr>
          <p:cNvPr id="332" name=""/>
          <p:cNvSpPr/>
          <p:nvPr/>
        </p:nvSpPr>
        <p:spPr>
          <a:xfrm>
            <a:off x="324000" y="882000"/>
            <a:ext cx="9323280" cy="4294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567"/>
              </a:spcAft>
            </a:pPr>
            <a:r>
              <a:rPr b="0" lang="fr-FR" sz="2000" strike="noStrike" u="none">
                <a:solidFill>
                  <a:srgbClr val="b8c9d5"/>
                </a:solidFill>
                <a:effectLst/>
                <a:uFillTx/>
                <a:latin typeface="DejaVu Sans"/>
                <a:ea typeface="DejaVu Sans"/>
              </a:rPr>
              <a:t>Project documents and field evidence used in this preview.</a:t>
            </a:r>
            <a:endParaRPr b="0" lang="fr-FR" sz="2000" strike="noStrike" u="none">
              <a:solidFill>
                <a:srgbClr val="ffffff"/>
              </a:solidFill>
              <a:effectLst/>
              <a:uFillTx/>
              <a:latin typeface="Arial"/>
            </a:endParaRPr>
          </a:p>
        </p:txBody>
      </p:sp>
      <p:sp>
        <p:nvSpPr>
          <p:cNvPr id="333" name=""/>
          <p:cNvSpPr/>
          <p:nvPr/>
        </p:nvSpPr>
        <p:spPr>
          <a:xfrm>
            <a:off x="324000" y="5418000"/>
            <a:ext cx="9323280" cy="259560"/>
          </a:xfrm>
          <a:prstGeom prst="rect">
            <a:avLst/>
          </a:prstGeom>
          <a:noFill/>
          <a:ln w="0">
            <a:noFill/>
          </a:ln>
        </p:spPr>
        <p:style>
          <a:lnRef idx="0"/>
          <a:fillRef idx="0"/>
          <a:effectRef idx="0"/>
          <a:fontRef idx="minor"/>
        </p:style>
        <p:txBody>
          <a:bodyPr lIns="90000" rIns="90000" tIns="45000" bIns="45000" anchor="t">
            <a:spAutoFit/>
          </a:bodyPr>
          <a:p>
            <a:pPr>
              <a:lnSpc>
                <a:spcPct val="115000"/>
              </a:lnSpc>
            </a:pPr>
            <a:r>
              <a:rPr b="0" lang="fr-FR" sz="1000" strike="noStrike" u="none">
                <a:solidFill>
                  <a:srgbClr val="b8c9d5"/>
                </a:solidFill>
                <a:effectLst/>
                <a:uFillTx/>
                <a:latin typeface="DejaVu Sans"/>
                <a:ea typeface="DejaVu Sans"/>
              </a:rPr>
              <a:t>Jon Adams (N7UV): RXT concept and field feedback • Ricardo Guzman (CA2RXU): iGate firmware</a:t>
            </a:r>
            <a:endParaRPr b="0" lang="fr-FR" sz="1000" strike="noStrike" u="none">
              <a:solidFill>
                <a:srgbClr val="ffffff"/>
              </a:solidFill>
              <a:effectLst/>
              <a:uFillTx/>
              <a:latin typeface="Arial"/>
            </a:endParaRPr>
          </a:p>
        </p:txBody>
      </p:sp>
      <p:sp>
        <p:nvSpPr>
          <p:cNvPr id="334" name=""/>
          <p:cNvSpPr/>
          <p:nvPr/>
        </p:nvSpPr>
        <p:spPr>
          <a:xfrm>
            <a:off x="360000" y="1332000"/>
            <a:ext cx="9359280" cy="3491280"/>
          </a:xfrm>
          <a:prstGeom prst="roundRect">
            <a:avLst>
              <a:gd name="adj" fmla="val 16667"/>
            </a:avLst>
          </a:prstGeom>
          <a:solidFill>
            <a:srgbClr val="193149"/>
          </a:solidFill>
          <a:ln w="72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a typeface="DejaVu Sans"/>
            </a:endParaRPr>
          </a:p>
        </p:txBody>
      </p:sp>
      <p:sp>
        <p:nvSpPr>
          <p:cNvPr id="335" name=""/>
          <p:cNvSpPr/>
          <p:nvPr/>
        </p:nvSpPr>
        <p:spPr>
          <a:xfrm>
            <a:off x="558000" y="1512000"/>
            <a:ext cx="8963280" cy="3059280"/>
          </a:xfrm>
          <a:prstGeom prst="rect">
            <a:avLst/>
          </a:prstGeom>
          <a:noFill/>
          <a:ln w="0">
            <a:noFill/>
          </a:ln>
        </p:spPr>
        <p:style>
          <a:lnRef idx="0"/>
          <a:fillRef idx="0"/>
          <a:effectRef idx="0"/>
          <a:fontRef idx="minor"/>
        </p:style>
        <p:txBody>
          <a:bodyPr lIns="90000" rIns="90000" tIns="45000" bIns="45000" anchor="t">
            <a:spAutoFit/>
          </a:bodyPr>
          <a:p>
            <a:pPr>
              <a:lnSpc>
                <a:spcPct val="115000"/>
              </a:lnSpc>
              <a:spcAft>
                <a:spcPts val="709"/>
              </a:spcAft>
            </a:pPr>
            <a:r>
              <a:rPr b="0" lang="fr-FR" sz="1700" strike="noStrike" u="none">
                <a:solidFill>
                  <a:srgbClr val="f5f8fc"/>
                </a:solidFill>
                <a:effectLst/>
                <a:uFillTx/>
                <a:latin typeface="DejaVu Sans"/>
                <a:ea typeface="DejaVu Sans"/>
              </a:rPr>
              <a:t>Jon N7UV field account and CA2RXU public discussion #287</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github.com/richonguzman/LoRa_APRS_iGate/discussions/287</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LoRa APRS JSON Event Protocol draft 1.0</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github.com/moricef/LoRa_APRS_JSON_Protocol</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CA2RXU iGate RXT implementation and documentation</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github.com/moricef/LoRa_APRS_iGate</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Graywolf extended TNC2 / RXT implementation</a:t>
            </a:r>
            <a:endParaRPr b="0" lang="fr-FR" sz="1700" strike="noStrike" u="none">
              <a:solidFill>
                <a:srgbClr val="ffffff"/>
              </a:solidFill>
              <a:effectLst/>
              <a:uFillTx/>
              <a:latin typeface="Arial"/>
            </a:endParaRPr>
          </a:p>
          <a:p>
            <a:pPr>
              <a:lnSpc>
                <a:spcPct val="115000"/>
              </a:lnSpc>
              <a:spcAft>
                <a:spcPts val="709"/>
              </a:spcAft>
            </a:pPr>
            <a:r>
              <a:rPr b="0" lang="fr-FR" sz="1700" strike="noStrike" u="none">
                <a:solidFill>
                  <a:srgbClr val="f5f8fc"/>
                </a:solidFill>
                <a:effectLst/>
                <a:uFillTx/>
                <a:latin typeface="DejaVu Sans"/>
                <a:ea typeface="DejaVu Sans"/>
              </a:rPr>
              <a:t>github.com/moricef/graywolf/tree/feature/rxt-telemetry</a:t>
            </a:r>
            <a:endParaRPr b="0" lang="fr-FR" sz="1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23</TotalTime>
  <Application>LibreOffice/25.2.3.2$Linux_X86_64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fr-FR</dc:language>
  <cp:lastModifiedBy/>
  <dcterms:modified xsi:type="dcterms:W3CDTF">2026-09-25T15:43:29Z</dcterms:modified>
  <cp:revision>7</cp:revision>
  <dc:subject/>
  <dc:title/>
</cp:coreProperties>
</file>

<file path=docProps/custom.xml><?xml version="1.0" encoding="utf-8"?>
<Properties xmlns="http://schemas.openxmlformats.org/officeDocument/2006/custom-properties" xmlns:vt="http://schemas.openxmlformats.org/officeDocument/2006/docPropsVTypes"/>
</file>